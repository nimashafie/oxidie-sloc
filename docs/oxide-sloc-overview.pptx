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28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B85C1A"/>
                </a:solidFill>
                <a:latin typeface="Segoe UI"/>
              </a:rPr>
              <a:t>oxide-sloc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AF8F5"/>
                </a:solidFill>
                <a:latin typeface="Segoe UI"/>
              </a:rPr>
              <a:t>Source-Line Metrics for Engineering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8866"/>
                </a:solidFill>
                <a:latin typeface="Segoe UI"/>
              </a:rPr>
              <a:t>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7766"/>
                </a:solidFill>
                <a:latin typeface="Segoe UI"/>
              </a:rPr>
              <a:t>What is SLOC?  ·  Who benefits?  ·  How often to run?  ·  Getting started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17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5C1A"/>
                </a:solidFill>
                <a:latin typeface="Segoe UI"/>
              </a:rPr>
              <a:t>github.com/oxide-sloc/oxide-sloc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What is SLOC?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744"/>
                </a:solidFill>
                <a:latin typeface="Segoe UI"/>
              </a:rPr>
              <a:t>Understanding the fundamental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SLOC = Source Lines of Code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A count of meaningful lines in a software project's source files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Excludes blank lines and comment-only lines (by default)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Widely used in industry for project sizing, estimation, and tracking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Standardised by IEEE 1045-1992 for consistent, reproducible measurement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3A0D"/>
                </a:solidFill>
                <a:latin typeface="Segoe UI"/>
              </a:rPr>
              <a:t>Note: SLOC is not a measure of productivity — it is a measure of codebase size and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8229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Why Measure SLOC?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2131" y="1005840"/>
            <a:ext cx="27432" cy="5394960"/>
          </a:xfrm>
          <a:prstGeom prst="rect">
            <a:avLst/>
          </a:prstGeom>
          <a:solidFill>
            <a:srgbClr val="D4C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5501487" cy="402336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42415"/>
            <a:ext cx="536432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8F5"/>
                </a:solidFill>
                <a:latin typeface="Segoe UI"/>
              </a:rPr>
              <a:t>For Teams &amp;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08760"/>
            <a:ext cx="536432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Understand project scope at a glance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Track codebase growth sprint-over-sprint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Identify languages and components growing fastest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Support project estimation and resourcing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Provide evidence for technical-debt discussions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5887" y="1005840"/>
            <a:ext cx="5501487" cy="402336"/>
          </a:xfrm>
          <a:prstGeom prst="rect">
            <a:avLst/>
          </a:prstGeom>
          <a:solidFill>
            <a:srgbClr val="7A3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1042415"/>
            <a:ext cx="536432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8F5"/>
                </a:solidFill>
                <a:latin typeface="Segoe UI"/>
              </a:rPr>
              <a:t>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1508760"/>
            <a:ext cx="536432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Monitor the effect of refactors and cleanup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Ensure test code grows alongside production code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Set and enforce code-size budgets in CI pipelines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Detect unexpectedly large files or modules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Generate auditable metrics for compliance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7766"/>
                </a:solidFill>
                <a:latin typeface="Segoe UI"/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B85C1A"/>
                </a:solidFill>
                <a:latin typeface="Segoe UI"/>
              </a:rPr>
              <a:t>Introducing oxide-sloc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BBAA"/>
                </a:solidFill>
                <a:latin typeface="Segoe UI"/>
              </a:rPr>
              <a:t>A fast, air-gapped-capable SLOC workbench built for enterprise teams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377440" cy="82296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819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5"/>
                </a:solidFill>
                <a:latin typeface="Segoe UI"/>
              </a:rPr>
              <a:t>41 Languages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417320"/>
            <a:ext cx="8961120" cy="82296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600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4C4"/>
                </a:solidFill>
                <a:latin typeface="Segoe UI"/>
              </a:rPr>
              <a:t>Rust, Python, Java, C/C++, TypeScript, SQL, and 35 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50008"/>
            <a:ext cx="2377440" cy="82296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5"/>
                </a:solidFill>
                <a:latin typeface="Segoe UI"/>
              </a:rPr>
              <a:t>Zero Dependencies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350008"/>
            <a:ext cx="8961120" cy="82296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53288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4C4"/>
                </a:solidFill>
                <a:latin typeface="Segoe UI"/>
              </a:rPr>
              <a:t>Runs entirely offline — no internet, no pre-installed Rust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82696"/>
            <a:ext cx="2377440" cy="82296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4728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5"/>
                </a:solidFill>
                <a:latin typeface="Segoe UI"/>
              </a:rPr>
              <a:t>Multiple Surfaces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282696"/>
            <a:ext cx="8961120" cy="82296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465576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4C4"/>
                </a:solidFill>
                <a:latin typeface="Segoe UI"/>
              </a:rPr>
              <a:t>CLI for scripts · Web UI for ad-hoc use · REST API for automation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15384"/>
            <a:ext cx="2377440" cy="82296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79976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5"/>
                </a:solidFill>
                <a:latin typeface="Segoe UI"/>
              </a:rPr>
              <a:t>Rich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4215384"/>
            <a:ext cx="8961120" cy="82296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398264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4C4"/>
                </a:solidFill>
                <a:latin typeface="Segoe UI"/>
              </a:rPr>
              <a:t>HTML, PDF, CSV, Excel — beautiful charts included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48072"/>
            <a:ext cx="2377440" cy="82296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12664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5"/>
                </a:solidFill>
                <a:latin typeface="Segoe UI"/>
              </a:rPr>
              <a:t>CI-Native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5148072"/>
            <a:ext cx="8961120" cy="82296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53309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4C4"/>
                </a:solidFill>
                <a:latin typeface="Segoe UI"/>
              </a:rPr>
              <a:t>GitHub Actions, Jenkins, GitLab CI — drop-in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8229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Feature Highlights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09728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09728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1430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50876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Point at any folder — results in seconds, no config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09728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09728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1430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150876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Side-by-side diff of any two past scans with per-file deltas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09728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09728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1430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Trend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150876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SLOC growth charts over time for watched directories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06324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306324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108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Test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7472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Test file detection, test/code ratio, and LCOV coverage attach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306324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33672" y="306324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3108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CI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347472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--fail-below, --fail-on-budget, --fail-above-baseline for pipelines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306324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2" y="306324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2" y="3108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7472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HTML · PDF · CSV · Excel · JSON — all from a single command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Localhost Web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744"/>
                </a:solidFill>
                <a:latin typeface="Segoe UI"/>
              </a:rPr>
              <a:t>No installation required — open your browser and start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Launch with a single command: bash scripts/run.sh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Browse and select any directory using a native folder picker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Results appear instantly with interactive charts and a per-file table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Compare two past scans side-by-side to see what changed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Trend charts show SLOC growth over multiple weeks or sprints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Test Metrics page tracks unit test files and test-to-code ratio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Dark mode, 5 colour themes, and light/dark toggle built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3A0D"/>
                </a:solidFill>
                <a:latin typeface="Segoe UI"/>
              </a:rPr>
              <a:t>Note: The web UI binds to 127.0.0.1 by default — only your machine can reach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8229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Who Benefits?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2651760" cy="64008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0642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Engineering
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830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Track scope creep sprint-over-sprint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Inform staffing and estimation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Provide metrics for exec reporting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51560"/>
            <a:ext cx="2651760" cy="640080"/>
          </a:xfrm>
          <a:prstGeom prst="rect">
            <a:avLst/>
          </a:prstGeom>
          <a:solidFill>
            <a:srgbClr val="7A3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110642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Software
Engineers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17830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Validate refactors reduced complexity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Monitor test coverage growth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Enforce code-size budgets in 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1051560"/>
            <a:ext cx="2651760" cy="640080"/>
          </a:xfrm>
          <a:prstGeom prst="rect">
            <a:avLst/>
          </a:prstGeom>
          <a:solidFill>
            <a:srgbClr val="1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10642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Security &amp;
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7830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Auditable metrics for compliance reviews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Detect large unexplained code growth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Produce signed JSON artifacts for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88552" y="1051560"/>
            <a:ext cx="2651760" cy="640080"/>
          </a:xfrm>
          <a:prstGeom prst="rect">
            <a:avLst/>
          </a:prstGeom>
          <a:solidFill>
            <a:srgbClr val="2A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10642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DevOps /
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7830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CI gates prevent runaway growth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Webhook-driven automated scans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Docker-deployable for shared team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8229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How Often Should You Run 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51560"/>
            <a:ext cx="2651760" cy="68580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10642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On Every
Pull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2651760" cy="3291839"/>
          </a:xfrm>
          <a:prstGeom prst="rect">
            <a:avLst/>
          </a:prstGeom>
          <a:solidFill>
            <a:srgbClr val="FBF5EC"/>
          </a:solidFill>
          <a:ln w="1270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24231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Automated via CI. Catches scope creep early, before merge. Use --fail-above-baseline to block PRs that grow the codebase beyond agreed limits.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051560"/>
            <a:ext cx="2651760" cy="685800"/>
          </a:xfrm>
          <a:prstGeom prst="rect">
            <a:avLst/>
          </a:prstGeom>
          <a:solidFill>
            <a:srgbClr val="3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10642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Every Sprint
(Recommended)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737360"/>
            <a:ext cx="2651760" cy="3291839"/>
          </a:xfrm>
          <a:prstGeom prst="rect">
            <a:avLst/>
          </a:prstGeom>
          <a:solidFill>
            <a:srgbClr val="FBF5EC"/>
          </a:solidFill>
          <a:ln w="1270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828800"/>
            <a:ext cx="24231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A sprint-level snapshot gives managers a consistent view of how the codebase is evolving. Store each JSON result to power trend charts.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51560"/>
            <a:ext cx="2651760" cy="685800"/>
          </a:xfrm>
          <a:prstGeom prst="rect">
            <a:avLst/>
          </a:prstGeom>
          <a:solidFill>
            <a:srgbClr val="7A3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10642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On Every
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737360"/>
            <a:ext cx="2651760" cy="3291839"/>
          </a:xfrm>
          <a:prstGeom prst="rect">
            <a:avLst/>
          </a:prstGeom>
          <a:solidFill>
            <a:srgbClr val="FBF5EC"/>
          </a:solidFill>
          <a:ln w="1270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828800"/>
            <a:ext cx="24231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Capture a permanent baseline at each release tag. Enables precise before/after comparisons when planning the next cycle.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051560"/>
            <a:ext cx="2651760" cy="685800"/>
          </a:xfrm>
          <a:prstGeom prst="rect">
            <a:avLst/>
          </a:prstGeom>
          <a:solidFill>
            <a:srgbClr val="1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10642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On-Demand
(Ad-hoc)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737360"/>
            <a:ext cx="2651760" cy="3291839"/>
          </a:xfrm>
          <a:prstGeom prst="rect">
            <a:avLst/>
          </a:prstGeom>
          <a:solidFill>
            <a:srgbClr val="FBF5EC"/>
          </a:solidFill>
          <a:ln w="1270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828800"/>
            <a:ext cx="24231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Useful for audits, due-diligence reviews, vendor handoffs, or whenever a stakeholder asks 'how big is the codebase?'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Integrations &amp;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744"/>
                </a:solidFill>
                <a:latin typeface="Segoe UI"/>
              </a:rPr>
              <a:t>Get SLOC data wherever your team already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GitHub / GitLab:  auto-comment SLOC diffs on every pull request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Jenkins / CI:  fail builds if codebase exceeds size budgets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Microsoft Teams:  Adaptive Card summary posted to any channel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Email (SMTP):  scheduled HTML report delivered to a distribution list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Confluence:  SLOC page created or updated automatically after each scan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REST API:  /api/metrics/latest for dashboards, Grafana, Power BI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Webhook:  POST JSON to any HTTPS endpoint for custom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Built for Secure Environments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744"/>
                </a:solidFill>
                <a:latin typeface="Segoe UI"/>
              </a:rPr>
              <a:t>Full functionality with no internet access and no pre-installed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All ~328 Rust dependencies are committed to the repository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Bundled Rust toolchain (Windows, Linux x64, Linux arm64) — no rustup needed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git clone → bash scripts/run.sh is the only step required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Supports RHEL 8/9, Windows 10/11 (Git Bash), Ubuntu, Debian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Optional native TLS and API-key authentication for server deployments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Docker image available for persistent server installations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IP rate limiting and security headers enabled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3A0D"/>
                </a:solidFill>
                <a:latin typeface="Segoe UI"/>
              </a:rPr>
              <a:t>Note: Designed for classified networks, air-gapped labs, and corporate environments with strict egress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7766"/>
                </a:solidFill>
                <a:latin typeface="Segoe U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B85C1A"/>
                </a:solidFill>
                <a:latin typeface="Segoe UI"/>
              </a:rPr>
              <a:t>Getting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BBAA"/>
                </a:solidFill>
                <a:latin typeface="Segoe UI"/>
              </a:rPr>
              <a:t>From zero to your first report in under 2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02920" cy="77724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819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F8F5"/>
                </a:solidFill>
                <a:latin typeface="Segoe U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417320"/>
            <a:ext cx="10789920" cy="77724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721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C1A"/>
                </a:solidFill>
                <a:latin typeface="Segoe UI"/>
              </a:rPr>
              <a:t>Clone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481328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8C0"/>
                </a:solidFill>
                <a:latin typeface="Segoe UI"/>
              </a:rPr>
              <a:t>git clone https://github.com/oxide-sloc/oxide-sloc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04288"/>
            <a:ext cx="502920" cy="77724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F8F5"/>
                </a:solidFill>
                <a:latin typeface="Segoe U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304288"/>
            <a:ext cx="10789920" cy="77724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3591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C1A"/>
                </a:solidFill>
                <a:latin typeface="Segoe UI"/>
              </a:rPr>
              <a:t>Launch the web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368296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8C0"/>
                </a:solidFill>
                <a:latin typeface="Segoe UI"/>
              </a:rPr>
              <a:t>bash scripts/run.sh   →  installs on first run, opens http://127.0.0.1:4317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91256"/>
            <a:ext cx="502920" cy="77724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55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F8F5"/>
                </a:solidFill>
                <a:latin typeface="Segoe U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191256"/>
            <a:ext cx="10789920" cy="77724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246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C1A"/>
                </a:solidFill>
                <a:latin typeface="Segoe UI"/>
              </a:rPr>
              <a:t>Point at your codebase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55264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8C0"/>
                </a:solidFill>
                <a:latin typeface="Segoe UI"/>
              </a:rPr>
              <a:t>Enter the path to your project and click Analyze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78224"/>
            <a:ext cx="502920" cy="77724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428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F8F5"/>
                </a:solidFill>
                <a:latin typeface="Segoe U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078224"/>
            <a:ext cx="10789920" cy="77724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1330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C1A"/>
                </a:solidFill>
                <a:latin typeface="Segoe UI"/>
              </a:rPr>
              <a:t>Review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142232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8C0"/>
                </a:solidFill>
                <a:latin typeface="Segoe UI"/>
              </a:rPr>
              <a:t>Charts, language breakdown, and per-file table appear instantly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85C1A"/>
                </a:solidFill>
                <a:latin typeface="Segoe UI"/>
              </a:rPr>
              <a:t>oxide-sloc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AF8F5"/>
                </a:solidFill>
                <a:latin typeface="Segoe U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85C1A"/>
                </a:solidFill>
                <a:latin typeface="Segoe UI"/>
              </a:rPr>
              <a:t>github.com/oxide-sloc/oxide-sloc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7766"/>
                </a:solidFill>
                <a:latin typeface="Segoe UI"/>
              </a:rPr>
              <a:t>AGPL-3.0-or-later  ·  Author: Nima Shafie  ·  nimzshafie@gmail.com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