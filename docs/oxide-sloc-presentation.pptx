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OxideSLOC is a fast, self-contained local code analysis tool. This guide covers the web UI: what every menu button does and how to run a scan whether you write the code or just need the numbers. The app is already running at 127.0.0.1:4317.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 the audience. It's a local, offline tool. Open it in a browser at port 4317. The four pillars: count physical SLOC to the IEEE standard, surface deeper metrics like COCOMO cost and complexity, track tests and coverage, and export everything as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bar is the same on every page. Five navigation buttons on the left, three utility controls on the right. Home is your launch pad; View Reports holds history and trends; Compare Scans diffs two runs; Test Metrics is the coverage view; Git Browser scans any branch or commit. On the right: the Local/Server toggle, Settings, and the light/dark theme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Home page groups every launch card into three lanes. Analysis is where you start a scan or jump to test metrics. Reports &amp; Insights holds View Reports, Compare Scans, and Trend Report. Developer Tools has the Git Browser and webhook Integrations. The Scan Project card also offers re-run last scan, load from config, and browse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running a scan. We'll cover the guided four-step flow, the one-click Quick Scan, and the two ways people approach it depending on whether they own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Home page, click Start scanning. The guided flow has four steps: pick the project folder, confirm counting rules, choose outputs, then review and run. Quick Scan submits straight from step one with every default applied — the fastest path for anyone who just wants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tool, two mindsets. A developer scans their own repo on disk to get SLOC for their work; they may tune counting rules and export plain output for CI. A business user is scanning someone else's code and may not have it built locally. They point at the folder they were handed, or use the Git Browser to pull any branch with no local setup, run Quick Scan, read the summary, and export a PDF to circulate. Both end up reading the exact same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Browser is how you scan code you don't have built locally — the business-user path. Paste any GitHub, GitLab, or Bitbucket URL and it fetches the branches, tags, and releases. Pick any ref and run a point-in-time scan on demand, or diff two refs side by side. No clone, no build, no local setup. The first fetch clones the repo; after that it's cached and instant.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once a scan finishes, what do you do with it? Read the report, check test coverage, compare against a baseline, watch the trend, and export to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View Reports lists every saved scan with code, comment and blank lines, plus branch and commit. Open any one as HTML or PDF, or export the whole list to CSV or Excel. It's your scan history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any run and this is the report page. Up top, headline counts: physical lines, code, comments, blanks, functions, classes, variables, imports — plus tests, code density, complexity, and DRYness. One click opens or downloads the HTML, PDF, or JSON, or re-runs the exact scan. This is the same report both personas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Metrics page detects test functions lexically across 60 languages and shows test-to-code density, most-tested language, and how many languages have tests. Drop in a coverage file — LCOV, Cobertura XML, JaCoCo, coverage.py JSON, or Istanbul — and it adds line coverage per language. Great for spotting under-tested areas without running the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Scans diffs a baseline against a current run. Pick two scans and it shows code-line, file, and comment deltas, churn rate, and a per-language breakdown of what grew or shrank. Use it for sprint-over-sprint change, or to see exactly what a vendor delivered between two drops.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Trend Reports plot any SLOC metric over time from your saved scans. Choose the project root, the Y metric, and whether the X axis is by time or by commit. It's how you spot regressions, watch a refactor land, or show steady growth to stakeholders. Each point links back to its full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scan exports four ways: a styled HTML report, a print-ready PDF, raw CSV, and a four-sheet Excel workbook. Engineers can also expose a live SVG badge or the JSON metrics API for dashboards and CI gates. Business users typically just grab the PDF to attach to an email or a status doc.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Open the app at port 4317. Use the five menu buttons to navigate. To scan: Home, Start scanning or Quick Scan. Developers tune and export for CI; business users point or use Git Browser, Quick Scan, and export a PDF. Everything else — reports, tests, compare, trends — reads from the scans you've already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43000" y="914400"/>
            <a:ext cx="495300" cy="495300"/>
          </a:xfrm>
          <a:prstGeom prst="roundRect">
            <a:avLst>
              <a:gd name="adj" fmla="val 23077"/>
            </a:avLst>
          </a:prstGeom>
          <a:gradFill rotWithShape="1">
            <a:gsLst>
              <a:gs pos="0">
                <a:srgbClr val="B4480F">
                  <a:alpha val="100000"/>
                </a:srgbClr>
              </a:gs>
              <a:gs pos="100000">
                <a:srgbClr val="D2691E">
                  <a:alpha val="100000"/>
                </a:srgbClr>
              </a:gs>
            </a:gsLst>
            <a:lin ang="2700000" scaled="0"/>
          </a:gradFill>
          <a:ln/>
        </p:spPr>
      </p:sp>
      <p:sp>
        <p:nvSpPr>
          <p:cNvPr id="3" name="Text 1"/>
          <p:cNvSpPr/>
          <p:nvPr/>
        </p:nvSpPr>
        <p:spPr>
          <a:xfrm>
            <a:off x="1104900" y="914400"/>
            <a:ext cx="571500" cy="5334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&lt;/&gt;</a:t>
            </a:r>
            <a:endParaRPr lang="en-US" sz="1800" dirty="0"/>
          </a:p>
        </p:txBody>
      </p:sp>
      <p:sp>
        <p:nvSpPr>
          <p:cNvPr id="4" name="Text 2"/>
          <p:cNvSpPr/>
          <p:nvPr/>
        </p:nvSpPr>
        <p:spPr>
          <a:xfrm>
            <a:off x="1790700" y="1028700"/>
            <a:ext cx="1565404" cy="304800"/>
          </a:xfrm>
          <a:prstGeom prst="rect">
            <a:avLst/>
          </a:prstGeom>
          <a:noFill/>
          <a:ln/>
        </p:spPr>
        <p:txBody>
          <a:bodyPr wrap="square" lIns="25400" tIns="25400" rIns="25400" bIns="25400" rtlCol="0" anchor="t">
            <a:normAutofit/>
          </a:bodyPr>
          <a:lstStyle/>
          <a:p>
            <a:pPr algn="l" indent="0" marL="0">
              <a:buNone/>
            </a:pPr>
            <a:r>
              <a:rPr lang="en-US" sz="1575" spc="300" kern="0" dirty="0">
                <a:solidFill>
                  <a:srgbClr val="1C2530"/>
                </a:solidFill>
                <a:latin typeface="Courier New" pitchFamily="34" charset="0"/>
                <a:ea typeface="Courier New" pitchFamily="34" charset="-122"/>
                <a:cs typeface="Courier New" pitchFamily="34" charset="-120"/>
              </a:rPr>
              <a:t>OXIDESLOC</a:t>
            </a:r>
            <a:endParaRPr lang="en-US" sz="1575" dirty="0"/>
          </a:p>
        </p:txBody>
      </p:sp>
      <p:sp>
        <p:nvSpPr>
          <p:cNvPr id="5" name="Shape 3"/>
          <p:cNvSpPr/>
          <p:nvPr/>
        </p:nvSpPr>
        <p:spPr>
          <a:xfrm>
            <a:off x="1143000" y="3202484"/>
            <a:ext cx="400050" cy="28575"/>
          </a:xfrm>
          <a:prstGeom prst="rect">
            <a:avLst/>
          </a:prstGeom>
          <a:solidFill>
            <a:srgbClr val="C2541F"/>
          </a:solidFill>
          <a:ln/>
        </p:spPr>
      </p:sp>
      <p:sp>
        <p:nvSpPr>
          <p:cNvPr id="6" name="Text 4"/>
          <p:cNvSpPr/>
          <p:nvPr/>
        </p:nvSpPr>
        <p:spPr>
          <a:xfrm>
            <a:off x="1676400" y="3078659"/>
            <a:ext cx="3243932" cy="314325"/>
          </a:xfrm>
          <a:prstGeom prst="rect">
            <a:avLst/>
          </a:prstGeom>
          <a:noFill/>
          <a:ln/>
        </p:spPr>
        <p:txBody>
          <a:bodyPr wrap="square" lIns="25400" tIns="25400" rIns="25400" bIns="25400" rtlCol="0" anchor="t">
            <a:normAutofit/>
          </a:bodyPr>
          <a:lstStyle/>
          <a:p>
            <a:pPr algn="l" indent="0" marL="0">
              <a:buNone/>
            </a:pPr>
            <a:r>
              <a:rPr lang="en-US" sz="1650" spc="300" kern="0" dirty="0">
                <a:solidFill>
                  <a:srgbClr val="8A93A0"/>
                </a:solidFill>
                <a:latin typeface="Courier New" pitchFamily="34" charset="0"/>
                <a:ea typeface="Courier New" pitchFamily="34" charset="-122"/>
                <a:cs typeface="Courier New" pitchFamily="34" charset="-120"/>
              </a:rPr>
              <a:t>WEB UI WALKTHROUGH</a:t>
            </a:r>
            <a:endParaRPr lang="en-US" sz="1650" dirty="0"/>
          </a:p>
        </p:txBody>
      </p:sp>
      <p:sp>
        <p:nvSpPr>
          <p:cNvPr id="7" name="Text 5"/>
          <p:cNvSpPr/>
          <p:nvPr/>
        </p:nvSpPr>
        <p:spPr>
          <a:xfrm>
            <a:off x="1143000" y="3621584"/>
            <a:ext cx="16364331" cy="2464891"/>
          </a:xfrm>
          <a:prstGeom prst="rect">
            <a:avLst/>
          </a:prstGeom>
          <a:noFill/>
          <a:ln/>
        </p:spPr>
        <p:txBody>
          <a:bodyPr wrap="square" lIns="25400" tIns="25400" rIns="25400" bIns="25400" rtlCol="0" anchor="t">
            <a:normAutofit/>
          </a:bodyPr>
          <a:lstStyle/>
          <a:p>
            <a:pPr algn="l" indent="0" marL="0">
              <a:lnSpc>
                <a:spcPct val="98000"/>
              </a:lnSpc>
              <a:buNone/>
            </a:pPr>
            <a:r>
              <a:rPr lang="en-US" sz="9750" b="1" spc="-150" kern="0" dirty="0">
                <a:solidFill>
                  <a:srgbClr val="1C2530"/>
                </a:solidFill>
                <a:latin typeface="Arial" pitchFamily="34" charset="0"/>
                <a:ea typeface="Arial" pitchFamily="34" charset="-122"/>
                <a:cs typeface="Arial" pitchFamily="34" charset="-120"/>
              </a:rPr>
              <a:t>The Application Guide</a:t>
            </a:r>
            <a:endParaRPr lang="en-US" sz="9750" dirty="0"/>
          </a:p>
        </p:txBody>
      </p:sp>
      <p:sp>
        <p:nvSpPr>
          <p:cNvPr id="8" name="Text 6"/>
          <p:cNvSpPr/>
          <p:nvPr/>
        </p:nvSpPr>
        <p:spPr>
          <a:xfrm>
            <a:off x="1143000" y="6372225"/>
            <a:ext cx="9810750" cy="998041"/>
          </a:xfrm>
          <a:prstGeom prst="rect">
            <a:avLst/>
          </a:prstGeom>
          <a:noFill/>
          <a:ln/>
        </p:spPr>
        <p:txBody>
          <a:bodyPr wrap="square" lIns="25400" tIns="25400" rIns="25400" bIns="25400" rtlCol="0" anchor="t">
            <a:normAutofit/>
          </a:bodyPr>
          <a:lstStyle/>
          <a:p>
            <a:pPr algn="l" indent="0" marL="0">
              <a:lnSpc>
                <a:spcPct val="140000"/>
              </a:lnSpc>
              <a:buNone/>
            </a:pPr>
            <a:r>
              <a:rPr lang="en-US" sz="2700" dirty="0">
                <a:solidFill>
                  <a:srgbClr val="5A6675"/>
                </a:solidFill>
                <a:latin typeface="Arial" pitchFamily="34" charset="0"/>
                <a:ea typeface="Arial" pitchFamily="34" charset="-122"/>
                <a:cs typeface="Arial" pitchFamily="34" charset="-120"/>
              </a:rPr>
              <a:t>Measure, compare, and share code metrics — whether you wrote the code or just need the numbers.</a:t>
            </a:r>
            <a:endParaRPr lang="en-US" sz="2700" dirty="0"/>
          </a:p>
        </p:txBody>
      </p:sp>
      <p:sp>
        <p:nvSpPr>
          <p:cNvPr id="9" name="Shape 7"/>
          <p:cNvSpPr/>
          <p:nvPr/>
        </p:nvSpPr>
        <p:spPr>
          <a:xfrm>
            <a:off x="1143000" y="9001125"/>
            <a:ext cx="1973610" cy="485775"/>
          </a:xfrm>
          <a:prstGeom prst="roundRect">
            <a:avLst>
              <a:gd name="adj" fmla="val 50000"/>
            </a:avLst>
          </a:prstGeom>
          <a:solidFill>
            <a:srgbClr val="EEF6EE"/>
          </a:solidFill>
          <a:ln w="9525">
            <a:solidFill>
              <a:srgbClr val="CFE6CF"/>
            </a:solidFill>
            <a:prstDash val="solid"/>
          </a:ln>
        </p:spPr>
      </p:sp>
      <p:sp>
        <p:nvSpPr>
          <p:cNvPr id="10" name="Shape 8"/>
          <p:cNvSpPr/>
          <p:nvPr/>
        </p:nvSpPr>
        <p:spPr>
          <a:xfrm>
            <a:off x="1343025" y="9201150"/>
            <a:ext cx="85725" cy="85725"/>
          </a:xfrm>
          <a:prstGeom prst="ellipse">
            <a:avLst/>
          </a:prstGeom>
          <a:solidFill>
            <a:srgbClr val="4F9A3F"/>
          </a:solidFill>
          <a:ln/>
        </p:spPr>
      </p:sp>
      <p:sp>
        <p:nvSpPr>
          <p:cNvPr id="11" name="Text 9"/>
          <p:cNvSpPr/>
          <p:nvPr/>
        </p:nvSpPr>
        <p:spPr>
          <a:xfrm>
            <a:off x="1533525" y="9105900"/>
            <a:ext cx="1459260" cy="314325"/>
          </a:xfrm>
          <a:prstGeom prst="rect">
            <a:avLst/>
          </a:prstGeom>
          <a:noFill/>
          <a:ln/>
        </p:spPr>
        <p:txBody>
          <a:bodyPr wrap="square" lIns="0" tIns="0" rIns="0" bIns="0" rtlCol="0" anchor="t">
            <a:normAutofit/>
          </a:bodyPr>
          <a:lstStyle/>
          <a:p>
            <a:pPr algn="l" indent="0" marL="0">
              <a:buNone/>
            </a:pPr>
            <a:r>
              <a:rPr lang="en-US" sz="1650" dirty="0">
                <a:solidFill>
                  <a:srgbClr val="3F7A33"/>
                </a:solidFill>
                <a:latin typeface="Courier New" pitchFamily="34" charset="0"/>
                <a:ea typeface="Courier New" pitchFamily="34" charset="-122"/>
                <a:cs typeface="Courier New" pitchFamily="34" charset="-120"/>
              </a:rPr>
              <a:t>App running</a:t>
            </a:r>
            <a:endParaRPr lang="en-US" sz="1650" dirty="0"/>
          </a:p>
        </p:txBody>
      </p:sp>
      <p:sp>
        <p:nvSpPr>
          <p:cNvPr id="12" name="Text 10"/>
          <p:cNvSpPr/>
          <p:nvPr/>
        </p:nvSpPr>
        <p:spPr>
          <a:xfrm>
            <a:off x="3249960" y="9105900"/>
            <a:ext cx="2904396" cy="314325"/>
          </a:xfrm>
          <a:prstGeom prst="rect">
            <a:avLst/>
          </a:prstGeom>
          <a:noFill/>
          <a:ln/>
        </p:spPr>
        <p:txBody>
          <a:bodyPr wrap="square" lIns="25400" tIns="25400" rIns="25400" bIns="25400" rtlCol="0" anchor="t">
            <a:normAutofit/>
          </a:bodyPr>
          <a:lstStyle/>
          <a:p>
            <a:pPr algn="l" indent="0" marL="0">
              <a:buNone/>
            </a:pPr>
            <a:r>
              <a:rPr lang="en-US" sz="1650" dirty="0">
                <a:solidFill>
                  <a:srgbClr val="C2541F"/>
                </a:solidFill>
                <a:latin typeface="Courier New" pitchFamily="34" charset="0"/>
                <a:ea typeface="Courier New" pitchFamily="34" charset="-122"/>
                <a:cs typeface="Courier New" pitchFamily="34" charset="-120"/>
              </a:rPr>
              <a:t>http://127.0.0.1:4317</a:t>
            </a:r>
            <a:endParaRPr lang="en-US" sz="1650" dirty="0"/>
          </a:p>
        </p:txBody>
      </p:sp>
      <p:sp>
        <p:nvSpPr>
          <p:cNvPr id="13" name="Shape 11"/>
          <p:cNvSpPr/>
          <p:nvPr/>
        </p:nvSpPr>
        <p:spPr>
          <a:xfrm>
            <a:off x="17030700" y="0"/>
            <a:ext cx="1257300" cy="10287000"/>
          </a:xfrm>
          <a:prstGeom prst="rect">
            <a:avLst/>
          </a:prstGeom>
          <a:gradFill rotWithShape="1">
            <a:gsLst>
              <a:gs pos="0">
                <a:srgbClr val="B4480F">
                  <a:alpha val="100000"/>
                </a:srgbClr>
              </a:gs>
              <a:gs pos="100000">
                <a:srgbClr val="D2691E">
                  <a:alpha val="100000"/>
                </a:srgbClr>
              </a:gs>
            </a:gsLst>
            <a:lin ang="4200000" scaled="0"/>
          </a:gradFill>
          <a:ln/>
        </p:spPr>
      </p:sp>
      <p:sp>
        <p:nvSpPr>
          <p:cNvPr id="14" name="Text 12"/>
          <p:cNvSpPr/>
          <p:nvPr/>
        </p:nvSpPr>
        <p:spPr>
          <a:xfrm>
            <a:off x="17549813" y="2994571"/>
            <a:ext cx="295275" cy="4335810"/>
          </a:xfrm>
          <a:prstGeom prst="rect">
            <a:avLst/>
          </a:prstGeom>
          <a:noFill/>
          <a:ln/>
        </p:spPr>
        <p:txBody>
          <a:bodyPr wrap="square" lIns="25400" tIns="25400" rIns="25400" bIns="25400" rtlCol="0" anchor="t" vert="eaVert">
            <a:normAutofit/>
          </a:bodyPr>
          <a:lstStyle/>
          <a:p>
            <a:pPr algn="l" indent="0" marL="0">
              <a:buNone/>
            </a:pPr>
            <a:r>
              <a:rPr lang="en-US" sz="1350" spc="600" kern="0" dirty="0">
                <a:solidFill>
                  <a:srgbClr val="FFFFFF">
                    <a:alpha val="55000"/>
                  </a:srgbClr>
                </a:solidFill>
                <a:latin typeface="Courier New" pitchFamily="34" charset="0"/>
                <a:ea typeface="Courier New" pitchFamily="34" charset="-122"/>
                <a:cs typeface="Courier New" pitchFamily="34" charset="-120"/>
              </a:rPr>
              <a:t>IEEE 1045 · 60 LANGUAGES</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1143000" y="952500"/>
            <a:ext cx="323850" cy="28575"/>
          </a:xfrm>
          <a:prstGeom prst="rect">
            <a:avLst/>
          </a:prstGeom>
          <a:solidFill>
            <a:srgbClr val="C2541F"/>
          </a:solidFill>
          <a:ln/>
        </p:spPr>
      </p:sp>
      <p:sp>
        <p:nvSpPr>
          <p:cNvPr id="3" name="Text 1"/>
          <p:cNvSpPr/>
          <p:nvPr/>
        </p:nvSpPr>
        <p:spPr>
          <a:xfrm>
            <a:off x="1600200" y="838200"/>
            <a:ext cx="1728788" cy="295275"/>
          </a:xfrm>
          <a:prstGeom prst="rect">
            <a:avLst/>
          </a:prstGeom>
          <a:noFill/>
          <a:ln/>
        </p:spPr>
        <p:txBody>
          <a:bodyPr wrap="square" lIns="25400" tIns="25400" rIns="25400" bIns="25400" rtlCol="0" anchor="t">
            <a:normAutofit/>
          </a:bodyPr>
          <a:lstStyle/>
          <a:p>
            <a:pPr algn="l" indent="0" marL="0">
              <a:buNone/>
            </a:pPr>
            <a:r>
              <a:rPr lang="en-US" sz="1500" spc="225" kern="0" dirty="0">
                <a:solidFill>
                  <a:srgbClr val="C2541F"/>
                </a:solidFill>
                <a:latin typeface="Courier New" pitchFamily="34" charset="0"/>
                <a:ea typeface="Courier New" pitchFamily="34" charset="-122"/>
                <a:cs typeface="Courier New" pitchFamily="34" charset="-120"/>
              </a:rPr>
              <a:t>ORIENTATION</a:t>
            </a:r>
            <a:endParaRPr lang="en-US" sz="1500" dirty="0"/>
          </a:p>
        </p:txBody>
      </p:sp>
      <p:sp>
        <p:nvSpPr>
          <p:cNvPr id="4" name="Text 2"/>
          <p:cNvSpPr/>
          <p:nvPr/>
        </p:nvSpPr>
        <p:spPr>
          <a:xfrm>
            <a:off x="1143000" y="1247775"/>
            <a:ext cx="17602200" cy="714375"/>
          </a:xfrm>
          <a:prstGeom prst="rect">
            <a:avLst/>
          </a:prstGeom>
          <a:noFill/>
          <a:ln/>
        </p:spPr>
        <p:txBody>
          <a:bodyPr wrap="square" lIns="25400" tIns="25400" rIns="25400" bIns="25400" rtlCol="0" anchor="t">
            <a:normAutofit/>
          </a:bodyPr>
          <a:lstStyle/>
          <a:p>
            <a:pPr algn="l" indent="0" marL="0">
              <a:buNone/>
            </a:pPr>
            <a:r>
              <a:rPr lang="en-US" sz="4650" b="1" spc="-75" kern="0" dirty="0">
                <a:solidFill>
                  <a:srgbClr val="1C2530"/>
                </a:solidFill>
                <a:latin typeface="Arial" pitchFamily="34" charset="0"/>
                <a:ea typeface="Arial" pitchFamily="34" charset="-122"/>
                <a:cs typeface="Arial" pitchFamily="34" charset="-120"/>
              </a:rPr>
              <a:t>What OxideSLOC Does</a:t>
            </a:r>
            <a:endParaRPr lang="en-US" sz="4650" dirty="0"/>
          </a:p>
        </p:txBody>
      </p:sp>
      <p:sp>
        <p:nvSpPr>
          <p:cNvPr id="5" name="Text 3"/>
          <p:cNvSpPr/>
          <p:nvPr/>
        </p:nvSpPr>
        <p:spPr>
          <a:xfrm>
            <a:off x="1143000" y="2057400"/>
            <a:ext cx="13538835"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5A6675"/>
                </a:solidFill>
                <a:latin typeface="Arial" pitchFamily="34" charset="0"/>
                <a:ea typeface="Arial" pitchFamily="34" charset="-122"/>
                <a:cs typeface="Arial" pitchFamily="34" charset="-120"/>
              </a:rPr>
              <a:t>A self-contained, offline code-analysis tool that runs entirely on your machine. Point it at a folder, get the metrics — no cloud, no setup, no account.</a:t>
            </a:r>
            <a:endParaRPr lang="en-US" sz="2250" dirty="0"/>
          </a:p>
        </p:txBody>
      </p:sp>
      <p:sp>
        <p:nvSpPr>
          <p:cNvPr id="6" name="Shape 4"/>
          <p:cNvSpPr/>
          <p:nvPr/>
        </p:nvSpPr>
        <p:spPr>
          <a:xfrm>
            <a:off x="1143000" y="3295650"/>
            <a:ext cx="3829050" cy="6229350"/>
          </a:xfrm>
          <a:prstGeom prst="roundRect">
            <a:avLst>
              <a:gd name="adj" fmla="val 3980"/>
            </a:avLst>
          </a:prstGeom>
          <a:solidFill>
            <a:srgbClr val="FFFFFF"/>
          </a:solidFill>
          <a:ln w="9525">
            <a:solidFill>
              <a:srgbClr val="E3E8ED"/>
            </a:solidFill>
            <a:prstDash val="solid"/>
          </a:ln>
          <a:effectLst>
            <a:outerShdw sx="100000" sy="100000" kx="0" ky="0" algn="bl" rotWithShape="0" blurRad="28575" dist="9525" dir="5400000">
              <a:srgbClr val="1C2530">
                <a:alpha val="4000"/>
              </a:srgbClr>
            </a:outerShdw>
          </a:effectLst>
        </p:spPr>
      </p:sp>
      <p:sp>
        <p:nvSpPr>
          <p:cNvPr id="7" name="Shape 5"/>
          <p:cNvSpPr/>
          <p:nvPr/>
        </p:nvSpPr>
        <p:spPr>
          <a:xfrm>
            <a:off x="1457325" y="3686175"/>
            <a:ext cx="514350" cy="514350"/>
          </a:xfrm>
          <a:prstGeom prst="roundRect">
            <a:avLst>
              <a:gd name="adj" fmla="val 22222"/>
            </a:avLst>
          </a:prstGeom>
          <a:solidFill>
            <a:srgbClr val="FBEEE4"/>
          </a:solidFill>
          <a:ln/>
        </p:spPr>
      </p:sp>
      <p:sp>
        <p:nvSpPr>
          <p:cNvPr id="8" name="Text 6"/>
          <p:cNvSpPr/>
          <p:nvPr/>
        </p:nvSpPr>
        <p:spPr>
          <a:xfrm>
            <a:off x="1419225" y="3686175"/>
            <a:ext cx="590550" cy="552450"/>
          </a:xfrm>
          <a:prstGeom prst="rect">
            <a:avLst/>
          </a:prstGeom>
          <a:noFill/>
          <a:ln/>
        </p:spPr>
        <p:txBody>
          <a:bodyPr wrap="square" lIns="25400" tIns="25400" rIns="25400" bIns="25400" rtlCol="0" anchor="ctr">
            <a:normAutofit/>
          </a:bodyPr>
          <a:lstStyle/>
          <a:p>
            <a:pPr algn="ctr" indent="0" marL="0">
              <a:buNone/>
            </a:pPr>
            <a:r>
              <a:rPr lang="en-US" sz="1800" b="1" dirty="0">
                <a:solidFill>
                  <a:srgbClr val="C2541F"/>
                </a:solidFill>
                <a:latin typeface="Courier New" pitchFamily="34" charset="0"/>
                <a:ea typeface="Courier New" pitchFamily="34" charset="-122"/>
                <a:cs typeface="Courier New" pitchFamily="34" charset="-120"/>
              </a:rPr>
              <a:t>01</a:t>
            </a:r>
            <a:endParaRPr lang="en-US" sz="1800" dirty="0"/>
          </a:p>
        </p:txBody>
      </p:sp>
      <p:sp>
        <p:nvSpPr>
          <p:cNvPr id="9" name="Text 7"/>
          <p:cNvSpPr/>
          <p:nvPr/>
        </p:nvSpPr>
        <p:spPr>
          <a:xfrm>
            <a:off x="1457325" y="4448175"/>
            <a:ext cx="3520440" cy="409575"/>
          </a:xfrm>
          <a:prstGeom prst="rect">
            <a:avLst/>
          </a:prstGeom>
          <a:noFill/>
          <a:ln/>
        </p:spPr>
        <p:txBody>
          <a:bodyPr wrap="square" lIns="25400" tIns="25400" rIns="25400" bIns="25400" rtlCol="0" anchor="t">
            <a:normAutofit/>
          </a:bodyPr>
          <a:lstStyle/>
          <a:p>
            <a:pPr algn="l" indent="0" marL="0">
              <a:buNone/>
            </a:pPr>
            <a:r>
              <a:rPr lang="en-US" sz="2250" b="1" dirty="0">
                <a:solidFill>
                  <a:srgbClr val="1C2530"/>
                </a:solidFill>
                <a:latin typeface="Arial" pitchFamily="34" charset="0"/>
                <a:ea typeface="Arial" pitchFamily="34" charset="-122"/>
                <a:cs typeface="Arial" pitchFamily="34" charset="-120"/>
              </a:rPr>
              <a:t>Counts SLOC</a:t>
            </a:r>
            <a:endParaRPr lang="en-US" sz="2250" dirty="0"/>
          </a:p>
        </p:txBody>
      </p:sp>
      <p:sp>
        <p:nvSpPr>
          <p:cNvPr id="10" name="Text 8"/>
          <p:cNvSpPr/>
          <p:nvPr/>
        </p:nvSpPr>
        <p:spPr>
          <a:xfrm>
            <a:off x="1457325" y="4953000"/>
            <a:ext cx="3296412" cy="1011882"/>
          </a:xfrm>
          <a:prstGeom prst="rect">
            <a:avLst/>
          </a:prstGeom>
          <a:noFill/>
          <a:ln/>
        </p:spPr>
        <p:txBody>
          <a:bodyPr wrap="square" lIns="25400" tIns="25400" rIns="25400" bIns="25400" rtlCol="0" anchor="t">
            <a:normAutofit/>
          </a:bodyPr>
          <a:lstStyle/>
          <a:p>
            <a:pPr algn="l" indent="0" marL="0">
              <a:lnSpc>
                <a:spcPct val="142000"/>
              </a:lnSpc>
              <a:buNone/>
            </a:pPr>
            <a:r>
              <a:rPr lang="en-US" sz="1800" dirty="0">
                <a:solidFill>
                  <a:srgbClr val="5A6675"/>
                </a:solidFill>
                <a:latin typeface="Arial" pitchFamily="34" charset="0"/>
                <a:ea typeface="Arial" pitchFamily="34" charset="-122"/>
                <a:cs typeface="Arial" pitchFamily="34" charset="-120"/>
              </a:rPr>
              <a:t>Physical lines to the IEEE 1045-1992 standard, across 60 languages.</a:t>
            </a:r>
            <a:endParaRPr lang="en-US" sz="1800" dirty="0"/>
          </a:p>
        </p:txBody>
      </p:sp>
      <p:sp>
        <p:nvSpPr>
          <p:cNvPr id="11" name="Shape 9"/>
          <p:cNvSpPr/>
          <p:nvPr/>
        </p:nvSpPr>
        <p:spPr>
          <a:xfrm>
            <a:off x="5200650" y="3295650"/>
            <a:ext cx="3829050" cy="6229350"/>
          </a:xfrm>
          <a:prstGeom prst="roundRect">
            <a:avLst>
              <a:gd name="adj" fmla="val 3980"/>
            </a:avLst>
          </a:prstGeom>
          <a:solidFill>
            <a:srgbClr val="FFFFFF"/>
          </a:solidFill>
          <a:ln w="9525">
            <a:solidFill>
              <a:srgbClr val="E3E8ED"/>
            </a:solidFill>
            <a:prstDash val="solid"/>
          </a:ln>
          <a:effectLst>
            <a:outerShdw sx="100000" sy="100000" kx="0" ky="0" algn="bl" rotWithShape="0" blurRad="28575" dist="9525" dir="5400000">
              <a:srgbClr val="1C2530">
                <a:alpha val="4000"/>
              </a:srgbClr>
            </a:outerShdw>
          </a:effectLst>
        </p:spPr>
      </p:sp>
      <p:sp>
        <p:nvSpPr>
          <p:cNvPr id="12" name="Shape 10"/>
          <p:cNvSpPr/>
          <p:nvPr/>
        </p:nvSpPr>
        <p:spPr>
          <a:xfrm>
            <a:off x="5514975" y="3686175"/>
            <a:ext cx="514350" cy="514350"/>
          </a:xfrm>
          <a:prstGeom prst="roundRect">
            <a:avLst>
              <a:gd name="adj" fmla="val 22222"/>
            </a:avLst>
          </a:prstGeom>
          <a:solidFill>
            <a:srgbClr val="FBEEE4"/>
          </a:solidFill>
          <a:ln/>
        </p:spPr>
      </p:sp>
      <p:sp>
        <p:nvSpPr>
          <p:cNvPr id="13" name="Text 11"/>
          <p:cNvSpPr/>
          <p:nvPr/>
        </p:nvSpPr>
        <p:spPr>
          <a:xfrm>
            <a:off x="5476875" y="3686175"/>
            <a:ext cx="590550" cy="552450"/>
          </a:xfrm>
          <a:prstGeom prst="rect">
            <a:avLst/>
          </a:prstGeom>
          <a:noFill/>
          <a:ln/>
        </p:spPr>
        <p:txBody>
          <a:bodyPr wrap="square" lIns="25400" tIns="25400" rIns="25400" bIns="25400" rtlCol="0" anchor="ctr">
            <a:normAutofit/>
          </a:bodyPr>
          <a:lstStyle/>
          <a:p>
            <a:pPr algn="ctr" indent="0" marL="0">
              <a:buNone/>
            </a:pPr>
            <a:r>
              <a:rPr lang="en-US" sz="1800" b="1" dirty="0">
                <a:solidFill>
                  <a:srgbClr val="C2541F"/>
                </a:solidFill>
                <a:latin typeface="Courier New" pitchFamily="34" charset="0"/>
                <a:ea typeface="Courier New" pitchFamily="34" charset="-122"/>
                <a:cs typeface="Courier New" pitchFamily="34" charset="-120"/>
              </a:rPr>
              <a:t>02</a:t>
            </a:r>
            <a:endParaRPr lang="en-US" sz="1800" dirty="0"/>
          </a:p>
        </p:txBody>
      </p:sp>
      <p:sp>
        <p:nvSpPr>
          <p:cNvPr id="14" name="Text 12"/>
          <p:cNvSpPr/>
          <p:nvPr/>
        </p:nvSpPr>
        <p:spPr>
          <a:xfrm>
            <a:off x="5514975" y="4448175"/>
            <a:ext cx="3520440" cy="409575"/>
          </a:xfrm>
          <a:prstGeom prst="rect">
            <a:avLst/>
          </a:prstGeom>
          <a:noFill/>
          <a:ln/>
        </p:spPr>
        <p:txBody>
          <a:bodyPr wrap="square" lIns="25400" tIns="25400" rIns="25400" bIns="25400" rtlCol="0" anchor="t">
            <a:normAutofit/>
          </a:bodyPr>
          <a:lstStyle/>
          <a:p>
            <a:pPr algn="l" indent="0" marL="0">
              <a:buNone/>
            </a:pPr>
            <a:r>
              <a:rPr lang="en-US" sz="2250" b="1" dirty="0">
                <a:solidFill>
                  <a:srgbClr val="1C2530"/>
                </a:solidFill>
                <a:latin typeface="Arial" pitchFamily="34" charset="0"/>
                <a:ea typeface="Arial" pitchFamily="34" charset="-122"/>
                <a:cs typeface="Arial" pitchFamily="34" charset="-120"/>
              </a:rPr>
              <a:t>Estimates Effort</a:t>
            </a:r>
            <a:endParaRPr lang="en-US" sz="2250" dirty="0"/>
          </a:p>
        </p:txBody>
      </p:sp>
      <p:sp>
        <p:nvSpPr>
          <p:cNvPr id="15" name="Text 13"/>
          <p:cNvSpPr/>
          <p:nvPr/>
        </p:nvSpPr>
        <p:spPr>
          <a:xfrm>
            <a:off x="5514975" y="4953000"/>
            <a:ext cx="3296412" cy="1011882"/>
          </a:xfrm>
          <a:prstGeom prst="rect">
            <a:avLst/>
          </a:prstGeom>
          <a:noFill/>
          <a:ln/>
        </p:spPr>
        <p:txBody>
          <a:bodyPr wrap="square" lIns="25400" tIns="25400" rIns="25400" bIns="25400" rtlCol="0" anchor="t">
            <a:normAutofit/>
          </a:bodyPr>
          <a:lstStyle/>
          <a:p>
            <a:pPr algn="l" indent="0" marL="0">
              <a:lnSpc>
                <a:spcPct val="142000"/>
              </a:lnSpc>
              <a:buNone/>
            </a:pPr>
            <a:r>
              <a:rPr lang="en-US" sz="1800" dirty="0">
                <a:solidFill>
                  <a:srgbClr val="5A6675"/>
                </a:solidFill>
                <a:latin typeface="Arial" pitchFamily="34" charset="0"/>
                <a:ea typeface="Arial" pitchFamily="34" charset="-122"/>
                <a:cs typeface="Arial" pitchFamily="34" charset="-120"/>
              </a:rPr>
              <a:t>COCOMO cost &amp; schedule, approximate complexity, and DRYness every run.</a:t>
            </a:r>
            <a:endParaRPr lang="en-US" sz="1800" dirty="0"/>
          </a:p>
        </p:txBody>
      </p:sp>
      <p:sp>
        <p:nvSpPr>
          <p:cNvPr id="16" name="Shape 14"/>
          <p:cNvSpPr/>
          <p:nvPr/>
        </p:nvSpPr>
        <p:spPr>
          <a:xfrm>
            <a:off x="9258300" y="3295650"/>
            <a:ext cx="3829050" cy="6229350"/>
          </a:xfrm>
          <a:prstGeom prst="roundRect">
            <a:avLst>
              <a:gd name="adj" fmla="val 3980"/>
            </a:avLst>
          </a:prstGeom>
          <a:solidFill>
            <a:srgbClr val="FFFFFF"/>
          </a:solidFill>
          <a:ln w="9525">
            <a:solidFill>
              <a:srgbClr val="E3E8ED"/>
            </a:solidFill>
            <a:prstDash val="solid"/>
          </a:ln>
          <a:effectLst>
            <a:outerShdw sx="100000" sy="100000" kx="0" ky="0" algn="bl" rotWithShape="0" blurRad="28575" dist="9525" dir="5400000">
              <a:srgbClr val="1C2530">
                <a:alpha val="4000"/>
              </a:srgbClr>
            </a:outerShdw>
          </a:effectLst>
        </p:spPr>
      </p:sp>
      <p:sp>
        <p:nvSpPr>
          <p:cNvPr id="17" name="Shape 15"/>
          <p:cNvSpPr/>
          <p:nvPr/>
        </p:nvSpPr>
        <p:spPr>
          <a:xfrm>
            <a:off x="9572625" y="3686175"/>
            <a:ext cx="514350" cy="514350"/>
          </a:xfrm>
          <a:prstGeom prst="roundRect">
            <a:avLst>
              <a:gd name="adj" fmla="val 22222"/>
            </a:avLst>
          </a:prstGeom>
          <a:solidFill>
            <a:srgbClr val="FBEEE4"/>
          </a:solidFill>
          <a:ln/>
        </p:spPr>
      </p:sp>
      <p:sp>
        <p:nvSpPr>
          <p:cNvPr id="18" name="Text 16"/>
          <p:cNvSpPr/>
          <p:nvPr/>
        </p:nvSpPr>
        <p:spPr>
          <a:xfrm>
            <a:off x="9534525" y="3686175"/>
            <a:ext cx="590550" cy="552450"/>
          </a:xfrm>
          <a:prstGeom prst="rect">
            <a:avLst/>
          </a:prstGeom>
          <a:noFill/>
          <a:ln/>
        </p:spPr>
        <p:txBody>
          <a:bodyPr wrap="square" lIns="25400" tIns="25400" rIns="25400" bIns="25400" rtlCol="0" anchor="ctr">
            <a:normAutofit/>
          </a:bodyPr>
          <a:lstStyle/>
          <a:p>
            <a:pPr algn="ctr" indent="0" marL="0">
              <a:buNone/>
            </a:pPr>
            <a:r>
              <a:rPr lang="en-US" sz="1800" b="1" dirty="0">
                <a:solidFill>
                  <a:srgbClr val="C2541F"/>
                </a:solidFill>
                <a:latin typeface="Courier New" pitchFamily="34" charset="0"/>
                <a:ea typeface="Courier New" pitchFamily="34" charset="-122"/>
                <a:cs typeface="Courier New" pitchFamily="34" charset="-120"/>
              </a:rPr>
              <a:t>03</a:t>
            </a:r>
            <a:endParaRPr lang="en-US" sz="1800" dirty="0"/>
          </a:p>
        </p:txBody>
      </p:sp>
      <p:sp>
        <p:nvSpPr>
          <p:cNvPr id="19" name="Text 17"/>
          <p:cNvSpPr/>
          <p:nvPr/>
        </p:nvSpPr>
        <p:spPr>
          <a:xfrm>
            <a:off x="9572625" y="4448175"/>
            <a:ext cx="3520440" cy="409575"/>
          </a:xfrm>
          <a:prstGeom prst="rect">
            <a:avLst/>
          </a:prstGeom>
          <a:noFill/>
          <a:ln/>
        </p:spPr>
        <p:txBody>
          <a:bodyPr wrap="square" lIns="25400" tIns="25400" rIns="25400" bIns="25400" rtlCol="0" anchor="t">
            <a:normAutofit/>
          </a:bodyPr>
          <a:lstStyle/>
          <a:p>
            <a:pPr algn="l" indent="0" marL="0">
              <a:buNone/>
            </a:pPr>
            <a:r>
              <a:rPr lang="en-US" sz="2250" b="1" dirty="0">
                <a:solidFill>
                  <a:srgbClr val="1C2530"/>
                </a:solidFill>
                <a:latin typeface="Arial" pitchFamily="34" charset="0"/>
                <a:ea typeface="Arial" pitchFamily="34" charset="-122"/>
                <a:cs typeface="Arial" pitchFamily="34" charset="-120"/>
              </a:rPr>
              <a:t>Tracks Tests</a:t>
            </a:r>
            <a:endParaRPr lang="en-US" sz="2250" dirty="0"/>
          </a:p>
        </p:txBody>
      </p:sp>
      <p:sp>
        <p:nvSpPr>
          <p:cNvPr id="20" name="Text 18"/>
          <p:cNvSpPr/>
          <p:nvPr/>
        </p:nvSpPr>
        <p:spPr>
          <a:xfrm>
            <a:off x="9572625" y="4953000"/>
            <a:ext cx="3296412" cy="1011882"/>
          </a:xfrm>
          <a:prstGeom prst="rect">
            <a:avLst/>
          </a:prstGeom>
          <a:noFill/>
          <a:ln/>
        </p:spPr>
        <p:txBody>
          <a:bodyPr wrap="square" lIns="25400" tIns="25400" rIns="25400" bIns="25400" rtlCol="0" anchor="t">
            <a:normAutofit/>
          </a:bodyPr>
          <a:lstStyle/>
          <a:p>
            <a:pPr algn="l" indent="0" marL="0">
              <a:lnSpc>
                <a:spcPct val="142000"/>
              </a:lnSpc>
              <a:buNone/>
            </a:pPr>
            <a:r>
              <a:rPr lang="en-US" sz="1800" dirty="0">
                <a:solidFill>
                  <a:srgbClr val="5A6675"/>
                </a:solidFill>
                <a:latin typeface="Arial" pitchFamily="34" charset="0"/>
                <a:ea typeface="Arial" pitchFamily="34" charset="-122"/>
                <a:cs typeface="Arial" pitchFamily="34" charset="-120"/>
              </a:rPr>
              <a:t>Test-to-code density and coverage import from LCOV, Cobertura, JaCoCo &amp; more.</a:t>
            </a:r>
            <a:endParaRPr lang="en-US" sz="1800" dirty="0"/>
          </a:p>
        </p:txBody>
      </p:sp>
      <p:sp>
        <p:nvSpPr>
          <p:cNvPr id="21" name="Shape 19"/>
          <p:cNvSpPr/>
          <p:nvPr/>
        </p:nvSpPr>
        <p:spPr>
          <a:xfrm>
            <a:off x="13315950" y="3295650"/>
            <a:ext cx="3829050" cy="6229350"/>
          </a:xfrm>
          <a:prstGeom prst="roundRect">
            <a:avLst>
              <a:gd name="adj" fmla="val 3980"/>
            </a:avLst>
          </a:prstGeom>
          <a:solidFill>
            <a:srgbClr val="FFFFFF"/>
          </a:solidFill>
          <a:ln w="9525">
            <a:solidFill>
              <a:srgbClr val="E3E8ED"/>
            </a:solidFill>
            <a:prstDash val="solid"/>
          </a:ln>
          <a:effectLst>
            <a:outerShdw sx="100000" sy="100000" kx="0" ky="0" algn="bl" rotWithShape="0" blurRad="28575" dist="9525" dir="5400000">
              <a:srgbClr val="1C2530">
                <a:alpha val="4000"/>
              </a:srgbClr>
            </a:outerShdw>
          </a:effectLst>
        </p:spPr>
      </p:sp>
      <p:sp>
        <p:nvSpPr>
          <p:cNvPr id="22" name="Shape 20"/>
          <p:cNvSpPr/>
          <p:nvPr/>
        </p:nvSpPr>
        <p:spPr>
          <a:xfrm>
            <a:off x="13630275" y="3686175"/>
            <a:ext cx="514350" cy="514350"/>
          </a:xfrm>
          <a:prstGeom prst="roundRect">
            <a:avLst>
              <a:gd name="adj" fmla="val 22222"/>
            </a:avLst>
          </a:prstGeom>
          <a:solidFill>
            <a:srgbClr val="FBEEE4"/>
          </a:solidFill>
          <a:ln/>
        </p:spPr>
      </p:sp>
      <p:sp>
        <p:nvSpPr>
          <p:cNvPr id="23" name="Text 21"/>
          <p:cNvSpPr/>
          <p:nvPr/>
        </p:nvSpPr>
        <p:spPr>
          <a:xfrm>
            <a:off x="13592175" y="3686175"/>
            <a:ext cx="590550" cy="552450"/>
          </a:xfrm>
          <a:prstGeom prst="rect">
            <a:avLst/>
          </a:prstGeom>
          <a:noFill/>
          <a:ln/>
        </p:spPr>
        <p:txBody>
          <a:bodyPr wrap="square" lIns="25400" tIns="25400" rIns="25400" bIns="25400" rtlCol="0" anchor="ctr">
            <a:normAutofit/>
          </a:bodyPr>
          <a:lstStyle/>
          <a:p>
            <a:pPr algn="ctr" indent="0" marL="0">
              <a:buNone/>
            </a:pPr>
            <a:r>
              <a:rPr lang="en-US" sz="1800" b="1" dirty="0">
                <a:solidFill>
                  <a:srgbClr val="C2541F"/>
                </a:solidFill>
                <a:latin typeface="Courier New" pitchFamily="34" charset="0"/>
                <a:ea typeface="Courier New" pitchFamily="34" charset="-122"/>
                <a:cs typeface="Courier New" pitchFamily="34" charset="-120"/>
              </a:rPr>
              <a:t>04</a:t>
            </a:r>
            <a:endParaRPr lang="en-US" sz="1800" dirty="0"/>
          </a:p>
        </p:txBody>
      </p:sp>
      <p:sp>
        <p:nvSpPr>
          <p:cNvPr id="24" name="Text 22"/>
          <p:cNvSpPr/>
          <p:nvPr/>
        </p:nvSpPr>
        <p:spPr>
          <a:xfrm>
            <a:off x="13630275" y="4448175"/>
            <a:ext cx="3520440" cy="409575"/>
          </a:xfrm>
          <a:prstGeom prst="rect">
            <a:avLst/>
          </a:prstGeom>
          <a:noFill/>
          <a:ln/>
        </p:spPr>
        <p:txBody>
          <a:bodyPr wrap="square" lIns="25400" tIns="25400" rIns="25400" bIns="25400" rtlCol="0" anchor="t">
            <a:normAutofit/>
          </a:bodyPr>
          <a:lstStyle/>
          <a:p>
            <a:pPr algn="l" indent="0" marL="0">
              <a:buNone/>
            </a:pPr>
            <a:r>
              <a:rPr lang="en-US" sz="2250" b="1" dirty="0">
                <a:solidFill>
                  <a:srgbClr val="1C2530"/>
                </a:solidFill>
                <a:latin typeface="Arial" pitchFamily="34" charset="0"/>
                <a:ea typeface="Arial" pitchFamily="34" charset="-122"/>
                <a:cs typeface="Arial" pitchFamily="34" charset="-120"/>
              </a:rPr>
              <a:t>Shares Results</a:t>
            </a:r>
            <a:endParaRPr lang="en-US" sz="2250" dirty="0"/>
          </a:p>
        </p:txBody>
      </p:sp>
      <p:sp>
        <p:nvSpPr>
          <p:cNvPr id="25" name="Text 23"/>
          <p:cNvSpPr/>
          <p:nvPr/>
        </p:nvSpPr>
        <p:spPr>
          <a:xfrm>
            <a:off x="13630275" y="4953000"/>
            <a:ext cx="3296412" cy="1011882"/>
          </a:xfrm>
          <a:prstGeom prst="rect">
            <a:avLst/>
          </a:prstGeom>
          <a:noFill/>
          <a:ln/>
        </p:spPr>
        <p:txBody>
          <a:bodyPr wrap="square" lIns="25400" tIns="25400" rIns="25400" bIns="25400" rtlCol="0" anchor="t">
            <a:normAutofit/>
          </a:bodyPr>
          <a:lstStyle/>
          <a:p>
            <a:pPr algn="l" indent="0" marL="0">
              <a:lnSpc>
                <a:spcPct val="142000"/>
              </a:lnSpc>
              <a:buNone/>
            </a:pPr>
            <a:r>
              <a:rPr lang="en-US" sz="1800" dirty="0">
                <a:solidFill>
                  <a:srgbClr val="5A6675"/>
                </a:solidFill>
                <a:latin typeface="Arial" pitchFamily="34" charset="0"/>
                <a:ea typeface="Arial" pitchFamily="34" charset="-122"/>
                <a:cs typeface="Arial" pitchFamily="34" charset="-120"/>
              </a:rPr>
              <a:t>HTML, PDF, CSV and Excel reports — plus trends and side-by-side compares.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43000" y="952500"/>
            <a:ext cx="323850" cy="28575"/>
          </a:xfrm>
          <a:prstGeom prst="rect">
            <a:avLst/>
          </a:prstGeom>
          <a:solidFill>
            <a:srgbClr val="C2541F"/>
          </a:solidFill>
          <a:ln/>
        </p:spPr>
      </p:sp>
      <p:sp>
        <p:nvSpPr>
          <p:cNvPr id="3" name="Text 1"/>
          <p:cNvSpPr/>
          <p:nvPr/>
        </p:nvSpPr>
        <p:spPr>
          <a:xfrm>
            <a:off x="1600200" y="838200"/>
            <a:ext cx="2828925" cy="295275"/>
          </a:xfrm>
          <a:prstGeom prst="rect">
            <a:avLst/>
          </a:prstGeom>
          <a:noFill/>
          <a:ln/>
        </p:spPr>
        <p:txBody>
          <a:bodyPr wrap="square" lIns="25400" tIns="25400" rIns="25400" bIns="25400" rtlCol="0" anchor="t">
            <a:normAutofit/>
          </a:bodyPr>
          <a:lstStyle/>
          <a:p>
            <a:pPr algn="l" indent="0" marL="0">
              <a:buNone/>
            </a:pPr>
            <a:r>
              <a:rPr lang="en-US" sz="1500" spc="225" kern="0" dirty="0">
                <a:solidFill>
                  <a:srgbClr val="C2541F"/>
                </a:solidFill>
                <a:latin typeface="Courier New" pitchFamily="34" charset="0"/>
                <a:ea typeface="Courier New" pitchFamily="34" charset="-122"/>
                <a:cs typeface="Courier New" pitchFamily="34" charset="-120"/>
              </a:rPr>
              <a:t>THE NAVIGATION BAR</a:t>
            </a:r>
            <a:endParaRPr lang="en-US" sz="1500" dirty="0"/>
          </a:p>
        </p:txBody>
      </p:sp>
      <p:sp>
        <p:nvSpPr>
          <p:cNvPr id="4" name="Text 2"/>
          <p:cNvSpPr/>
          <p:nvPr/>
        </p:nvSpPr>
        <p:spPr>
          <a:xfrm>
            <a:off x="1143000" y="1247775"/>
            <a:ext cx="17602200" cy="714375"/>
          </a:xfrm>
          <a:prstGeom prst="rect">
            <a:avLst/>
          </a:prstGeom>
          <a:noFill/>
          <a:ln/>
        </p:spPr>
        <p:txBody>
          <a:bodyPr wrap="square" lIns="25400" tIns="25400" rIns="25400" bIns="25400" rtlCol="0" anchor="t">
            <a:normAutofit/>
          </a:bodyPr>
          <a:lstStyle/>
          <a:p>
            <a:pPr algn="l" indent="0" marL="0">
              <a:buNone/>
            </a:pPr>
            <a:r>
              <a:rPr lang="en-US" sz="4650" b="1" spc="-75" kern="0" dirty="0">
                <a:solidFill>
                  <a:srgbClr val="1C2530"/>
                </a:solidFill>
                <a:latin typeface="Arial" pitchFamily="34" charset="0"/>
                <a:ea typeface="Arial" pitchFamily="34" charset="-122"/>
                <a:cs typeface="Arial" pitchFamily="34" charset="-120"/>
              </a:rPr>
              <a:t>The Top Menu</a:t>
            </a:r>
            <a:endParaRPr lang="en-US" sz="4650" dirty="0"/>
          </a:p>
        </p:txBody>
      </p:sp>
      <p:sp>
        <p:nvSpPr>
          <p:cNvPr id="5" name="Shape 3"/>
          <p:cNvSpPr/>
          <p:nvPr/>
        </p:nvSpPr>
        <p:spPr>
          <a:xfrm>
            <a:off x="1143000" y="2247900"/>
            <a:ext cx="16002000" cy="742950"/>
          </a:xfrm>
          <a:prstGeom prst="roundRect">
            <a:avLst>
              <a:gd name="adj" fmla="val 17949"/>
            </a:avLst>
          </a:prstGeom>
          <a:solidFill>
            <a:srgbClr val="1C2530"/>
          </a:solidFill>
          <a:ln/>
          <a:effectLst>
            <a:outerShdw sx="100000" sy="100000" kx="0" ky="0" algn="bl" rotWithShape="0" blurRad="285750" dist="114300" dir="5400000">
              <a:srgbClr val="1C2530">
                <a:alpha val="18000"/>
              </a:srgbClr>
            </a:outerShdw>
          </a:effectLst>
        </p:spPr>
      </p:sp>
      <p:sp>
        <p:nvSpPr>
          <p:cNvPr id="6" name="Shape 4"/>
          <p:cNvSpPr/>
          <p:nvPr/>
        </p:nvSpPr>
        <p:spPr>
          <a:xfrm>
            <a:off x="1409700" y="2447925"/>
            <a:ext cx="342900" cy="342900"/>
          </a:xfrm>
          <a:prstGeom prst="roundRect">
            <a:avLst>
              <a:gd name="adj" fmla="val 25000"/>
            </a:avLst>
          </a:prstGeom>
          <a:gradFill rotWithShape="1">
            <a:gsLst>
              <a:gs pos="0">
                <a:srgbClr val="B4480F">
                  <a:alpha val="100000"/>
                </a:srgbClr>
              </a:gs>
              <a:gs pos="100000">
                <a:srgbClr val="D2691E">
                  <a:alpha val="100000"/>
                </a:srgbClr>
              </a:gs>
            </a:gsLst>
            <a:lin ang="2700000" scaled="0"/>
          </a:gradFill>
          <a:ln/>
        </p:spPr>
      </p:sp>
      <p:sp>
        <p:nvSpPr>
          <p:cNvPr id="7" name="Text 5"/>
          <p:cNvSpPr/>
          <p:nvPr/>
        </p:nvSpPr>
        <p:spPr>
          <a:xfrm>
            <a:off x="1371600" y="2447925"/>
            <a:ext cx="419100" cy="381000"/>
          </a:xfrm>
          <a:prstGeom prst="rect">
            <a:avLst/>
          </a:prstGeom>
          <a:noFill/>
          <a:ln/>
        </p:spPr>
        <p:txBody>
          <a:bodyPr wrap="square" lIns="25400" tIns="25400" rIns="25400" bIns="25400" rtlCol="0" anchor="ctr">
            <a:normAutofit/>
          </a:bodyPr>
          <a:lstStyle/>
          <a:p>
            <a:pPr algn="ctr" indent="0" marL="0">
              <a:buNone/>
            </a:pPr>
            <a:r>
              <a:rPr lang="en-US" sz="1200" dirty="0">
                <a:solidFill>
                  <a:srgbClr val="FFFFFF"/>
                </a:solidFill>
                <a:latin typeface="Courier New" pitchFamily="34" charset="0"/>
                <a:ea typeface="Courier New" pitchFamily="34" charset="-122"/>
                <a:cs typeface="Courier New" pitchFamily="34" charset="-120"/>
              </a:rPr>
              <a:t>&lt;/&gt;</a:t>
            </a:r>
            <a:endParaRPr lang="en-US" sz="1200" dirty="0"/>
          </a:p>
        </p:txBody>
      </p:sp>
      <p:sp>
        <p:nvSpPr>
          <p:cNvPr id="8" name="Text 6"/>
          <p:cNvSpPr/>
          <p:nvPr/>
        </p:nvSpPr>
        <p:spPr>
          <a:xfrm>
            <a:off x="1876425" y="2486025"/>
            <a:ext cx="1164282" cy="304800"/>
          </a:xfrm>
          <a:prstGeom prst="rect">
            <a:avLst/>
          </a:prstGeom>
          <a:noFill/>
          <a:ln/>
        </p:spPr>
        <p:txBody>
          <a:bodyPr wrap="none" lIns="25400" tIns="25400" rIns="25400" bIns="25400" rtlCol="0" anchor="t">
            <a:normAutofit/>
          </a:bodyPr>
          <a:lstStyle/>
          <a:p>
            <a:pPr algn="l" indent="0" marL="0">
              <a:buNone/>
            </a:pPr>
            <a:r>
              <a:rPr lang="en-US" sz="1650" b="1" dirty="0">
                <a:solidFill>
                  <a:srgbClr val="FFFFFF"/>
                </a:solidFill>
                <a:latin typeface="Arial" pitchFamily="34" charset="0"/>
                <a:ea typeface="Arial" pitchFamily="34" charset="-122"/>
                <a:cs typeface="Arial" pitchFamily="34" charset="-120"/>
              </a:rPr>
              <a:t>OxideSLOC</a:t>
            </a:r>
            <a:endParaRPr lang="en-US" sz="1650" dirty="0"/>
          </a:p>
        </p:txBody>
      </p:sp>
      <p:sp>
        <p:nvSpPr>
          <p:cNvPr id="9" name="Shape 7"/>
          <p:cNvSpPr/>
          <p:nvPr/>
        </p:nvSpPr>
        <p:spPr>
          <a:xfrm>
            <a:off x="5359003" y="2409825"/>
            <a:ext cx="952798" cy="419100"/>
          </a:xfrm>
          <a:prstGeom prst="roundRect">
            <a:avLst>
              <a:gd name="adj" fmla="val 47727"/>
            </a:avLst>
          </a:prstGeom>
          <a:solidFill>
            <a:srgbClr val="C2541F"/>
          </a:solidFill>
          <a:ln/>
        </p:spPr>
      </p:sp>
      <p:sp>
        <p:nvSpPr>
          <p:cNvPr id="10" name="Text 8"/>
          <p:cNvSpPr/>
          <p:nvPr/>
        </p:nvSpPr>
        <p:spPr>
          <a:xfrm>
            <a:off x="5568553" y="2505075"/>
            <a:ext cx="609898" cy="266700"/>
          </a:xfrm>
          <a:prstGeom prst="rect">
            <a:avLst/>
          </a:prstGeom>
          <a:noFill/>
          <a:ln/>
        </p:spPr>
        <p:txBody>
          <a:bodyPr wrap="square" lIns="25400" tIns="25400" rIns="25400" bIns="25400" rtlCol="0" anchor="t">
            <a:normAutofit/>
          </a:bodyPr>
          <a:lstStyle/>
          <a:p>
            <a:pPr algn="l" indent="0" marL="0">
              <a:buNone/>
            </a:pPr>
            <a:r>
              <a:rPr lang="en-US" sz="1575" b="1" dirty="0">
                <a:solidFill>
                  <a:srgbClr val="FFFFFF"/>
                </a:solidFill>
                <a:latin typeface="Arial" pitchFamily="34" charset="0"/>
                <a:ea typeface="Arial" pitchFamily="34" charset="-122"/>
                <a:cs typeface="Arial" pitchFamily="34" charset="-120"/>
              </a:rPr>
              <a:t>Home</a:t>
            </a:r>
            <a:endParaRPr lang="en-US" sz="1575" dirty="0"/>
          </a:p>
        </p:txBody>
      </p:sp>
      <p:sp>
        <p:nvSpPr>
          <p:cNvPr id="11" name="Text 9"/>
          <p:cNvSpPr/>
          <p:nvPr/>
        </p:nvSpPr>
        <p:spPr>
          <a:xfrm>
            <a:off x="6540401" y="2481263"/>
            <a:ext cx="1476673" cy="314325"/>
          </a:xfrm>
          <a:prstGeom prst="rect">
            <a:avLst/>
          </a:prstGeom>
          <a:noFill/>
          <a:ln/>
        </p:spPr>
        <p:txBody>
          <a:bodyPr wrap="square" lIns="25400" tIns="25400" rIns="25400" bIns="25400" rtlCol="0" anchor="t">
            <a:normAutofit/>
          </a:bodyPr>
          <a:lstStyle/>
          <a:p>
            <a:pPr algn="l" indent="0" marL="0">
              <a:buNone/>
            </a:pPr>
            <a:r>
              <a:rPr lang="en-US" sz="1575" dirty="0">
                <a:solidFill>
                  <a:srgbClr val="AEB6C0"/>
                </a:solidFill>
                <a:latin typeface="Arial" pitchFamily="34" charset="0"/>
                <a:ea typeface="Arial" pitchFamily="34" charset="-122"/>
                <a:cs typeface="Arial" pitchFamily="34" charset="-120"/>
              </a:rPr>
              <a:t>View Reports ▾</a:t>
            </a:r>
            <a:endParaRPr lang="en-US" sz="1575" dirty="0"/>
          </a:p>
        </p:txBody>
      </p:sp>
      <p:sp>
        <p:nvSpPr>
          <p:cNvPr id="12" name="Text 10"/>
          <p:cNvSpPr/>
          <p:nvPr/>
        </p:nvSpPr>
        <p:spPr>
          <a:xfrm>
            <a:off x="8340923" y="2486025"/>
            <a:ext cx="1473994" cy="304800"/>
          </a:xfrm>
          <a:prstGeom prst="rect">
            <a:avLst/>
          </a:prstGeom>
          <a:noFill/>
          <a:ln/>
        </p:spPr>
        <p:txBody>
          <a:bodyPr wrap="square" lIns="25400" tIns="25400" rIns="25400" bIns="25400" rtlCol="0" anchor="t">
            <a:normAutofit/>
          </a:bodyPr>
          <a:lstStyle/>
          <a:p>
            <a:pPr algn="l" indent="0" marL="0">
              <a:buNone/>
            </a:pPr>
            <a:r>
              <a:rPr lang="en-US" sz="1575" dirty="0">
                <a:solidFill>
                  <a:srgbClr val="AEB6C0"/>
                </a:solidFill>
                <a:latin typeface="Arial" pitchFamily="34" charset="0"/>
                <a:ea typeface="Arial" pitchFamily="34" charset="-122"/>
                <a:cs typeface="Arial" pitchFamily="34" charset="-120"/>
              </a:rPr>
              <a:t>Compare Scans</a:t>
            </a:r>
            <a:endParaRPr lang="en-US" sz="1575" dirty="0"/>
          </a:p>
        </p:txBody>
      </p:sp>
      <p:sp>
        <p:nvSpPr>
          <p:cNvPr id="13" name="Text 11"/>
          <p:cNvSpPr/>
          <p:nvPr/>
        </p:nvSpPr>
        <p:spPr>
          <a:xfrm>
            <a:off x="10138767" y="2486025"/>
            <a:ext cx="1164878" cy="304800"/>
          </a:xfrm>
          <a:prstGeom prst="rect">
            <a:avLst/>
          </a:prstGeom>
          <a:noFill/>
          <a:ln/>
        </p:spPr>
        <p:txBody>
          <a:bodyPr wrap="square" lIns="25400" tIns="25400" rIns="25400" bIns="25400" rtlCol="0" anchor="t">
            <a:normAutofit/>
          </a:bodyPr>
          <a:lstStyle/>
          <a:p>
            <a:pPr algn="l" indent="0" marL="0">
              <a:buNone/>
            </a:pPr>
            <a:r>
              <a:rPr lang="en-US" sz="1575" dirty="0">
                <a:solidFill>
                  <a:srgbClr val="AEB6C0"/>
                </a:solidFill>
                <a:latin typeface="Arial" pitchFamily="34" charset="0"/>
                <a:ea typeface="Arial" pitchFamily="34" charset="-122"/>
                <a:cs typeface="Arial" pitchFamily="34" charset="-120"/>
              </a:rPr>
              <a:t>Test Metrics</a:t>
            </a:r>
            <a:endParaRPr lang="en-US" sz="1575" dirty="0"/>
          </a:p>
        </p:txBody>
      </p:sp>
      <p:sp>
        <p:nvSpPr>
          <p:cNvPr id="14" name="Text 12"/>
          <p:cNvSpPr/>
          <p:nvPr/>
        </p:nvSpPr>
        <p:spPr>
          <a:xfrm>
            <a:off x="11627495" y="2481263"/>
            <a:ext cx="1344960" cy="314325"/>
          </a:xfrm>
          <a:prstGeom prst="rect">
            <a:avLst/>
          </a:prstGeom>
          <a:noFill/>
          <a:ln/>
        </p:spPr>
        <p:txBody>
          <a:bodyPr wrap="square" lIns="25400" tIns="25400" rIns="25400" bIns="25400" rtlCol="0" anchor="t">
            <a:normAutofit/>
          </a:bodyPr>
          <a:lstStyle/>
          <a:p>
            <a:pPr algn="l" indent="0" marL="0">
              <a:buNone/>
            </a:pPr>
            <a:r>
              <a:rPr lang="en-US" sz="1575" dirty="0">
                <a:solidFill>
                  <a:srgbClr val="AEB6C0"/>
                </a:solidFill>
                <a:latin typeface="Arial" pitchFamily="34" charset="0"/>
                <a:ea typeface="Arial" pitchFamily="34" charset="-122"/>
                <a:cs typeface="Arial" pitchFamily="34" charset="-120"/>
              </a:rPr>
              <a:t>Git Browser ▾</a:t>
            </a:r>
            <a:endParaRPr lang="en-US" sz="1575" dirty="0"/>
          </a:p>
        </p:txBody>
      </p:sp>
      <p:sp>
        <p:nvSpPr>
          <p:cNvPr id="15" name="Shape 13"/>
          <p:cNvSpPr/>
          <p:nvPr/>
        </p:nvSpPr>
        <p:spPr>
          <a:xfrm>
            <a:off x="15462052" y="2457450"/>
            <a:ext cx="899220" cy="323850"/>
          </a:xfrm>
          <a:prstGeom prst="roundRect">
            <a:avLst>
              <a:gd name="adj" fmla="val 50000"/>
            </a:avLst>
          </a:prstGeom>
          <a:solidFill>
            <a:srgbClr val="4F9A3F">
              <a:alpha val="18000"/>
            </a:srgbClr>
          </a:solidFill>
          <a:ln/>
        </p:spPr>
      </p:sp>
      <p:sp>
        <p:nvSpPr>
          <p:cNvPr id="16" name="Text 14"/>
          <p:cNvSpPr/>
          <p:nvPr/>
        </p:nvSpPr>
        <p:spPr>
          <a:xfrm>
            <a:off x="15595402" y="2524125"/>
            <a:ext cx="708720" cy="228600"/>
          </a:xfrm>
          <a:prstGeom prst="rect">
            <a:avLst/>
          </a:prstGeom>
          <a:noFill/>
          <a:ln/>
        </p:spPr>
        <p:txBody>
          <a:bodyPr wrap="square" lIns="25400" tIns="25400" rIns="25400" bIns="25400" rtlCol="0" anchor="t">
            <a:normAutofit/>
          </a:bodyPr>
          <a:lstStyle/>
          <a:p>
            <a:pPr algn="l" indent="0" marL="0">
              <a:buNone/>
            </a:pPr>
            <a:r>
              <a:rPr lang="en-US" sz="1200" dirty="0">
                <a:solidFill>
                  <a:srgbClr val="8FD08F"/>
                </a:solidFill>
                <a:latin typeface="Courier New" pitchFamily="34" charset="0"/>
                <a:ea typeface="Courier New" pitchFamily="34" charset="-122"/>
                <a:cs typeface="Courier New" pitchFamily="34" charset="-120"/>
              </a:rPr>
              <a:t>● Local</a:t>
            </a:r>
            <a:endParaRPr lang="en-US" sz="1200" dirty="0"/>
          </a:p>
        </p:txBody>
      </p:sp>
      <p:sp>
        <p:nvSpPr>
          <p:cNvPr id="17" name="Text 15"/>
          <p:cNvSpPr/>
          <p:nvPr/>
        </p:nvSpPr>
        <p:spPr>
          <a:xfrm>
            <a:off x="16485096" y="2486025"/>
            <a:ext cx="236786" cy="304800"/>
          </a:xfrm>
          <a:prstGeom prst="rect">
            <a:avLst/>
          </a:prstGeom>
          <a:noFill/>
          <a:ln/>
        </p:spPr>
        <p:txBody>
          <a:bodyPr wrap="square" lIns="25400" tIns="25400" rIns="25400" bIns="25400" rtlCol="0" anchor="t">
            <a:normAutofit/>
          </a:bodyPr>
          <a:lstStyle/>
          <a:p>
            <a:pPr algn="l" indent="0" marL="0">
              <a:buNone/>
            </a:pPr>
            <a:r>
              <a:rPr lang="en-US" sz="1500" dirty="0">
                <a:solidFill>
                  <a:srgbClr val="AEB6C0"/>
                </a:solidFill>
                <a:latin typeface="Arial" pitchFamily="34" charset="0"/>
                <a:ea typeface="Arial" pitchFamily="34" charset="-122"/>
                <a:cs typeface="Arial" pitchFamily="34" charset="-120"/>
              </a:rPr>
              <a:t>⚙</a:t>
            </a:r>
            <a:endParaRPr lang="en-US" sz="1500" dirty="0"/>
          </a:p>
        </p:txBody>
      </p:sp>
      <p:sp>
        <p:nvSpPr>
          <p:cNvPr id="18" name="Text 16"/>
          <p:cNvSpPr/>
          <p:nvPr/>
        </p:nvSpPr>
        <p:spPr>
          <a:xfrm>
            <a:off x="16769507" y="2486025"/>
            <a:ext cx="184993" cy="304800"/>
          </a:xfrm>
          <a:prstGeom prst="rect">
            <a:avLst/>
          </a:prstGeom>
          <a:noFill/>
          <a:ln/>
        </p:spPr>
        <p:txBody>
          <a:bodyPr wrap="square" lIns="25400" tIns="25400" rIns="25400" bIns="25400" rtlCol="0" anchor="t">
            <a:normAutofit/>
          </a:bodyPr>
          <a:lstStyle/>
          <a:p>
            <a:pPr algn="l" indent="0" marL="0">
              <a:buNone/>
            </a:pPr>
            <a:r>
              <a:rPr lang="en-US" sz="1500" dirty="0">
                <a:solidFill>
                  <a:srgbClr val="AEB6C0"/>
                </a:solidFill>
                <a:latin typeface="Arial" pitchFamily="34" charset="0"/>
                <a:ea typeface="Arial" pitchFamily="34" charset="-122"/>
                <a:cs typeface="Arial" pitchFamily="34" charset="-120"/>
              </a:rPr>
              <a:t>☾</a:t>
            </a:r>
            <a:endParaRPr lang="en-US" sz="1500" dirty="0"/>
          </a:p>
        </p:txBody>
      </p:sp>
      <p:sp>
        <p:nvSpPr>
          <p:cNvPr id="19" name="Shape 17"/>
          <p:cNvSpPr/>
          <p:nvPr/>
        </p:nvSpPr>
        <p:spPr>
          <a:xfrm>
            <a:off x="1143000" y="3390900"/>
            <a:ext cx="3048000" cy="5600700"/>
          </a:xfrm>
          <a:prstGeom prst="roundRect">
            <a:avLst>
              <a:gd name="adj" fmla="val 4375"/>
            </a:avLst>
          </a:prstGeom>
          <a:solidFill>
            <a:srgbClr val="F4F6F8"/>
          </a:solidFill>
          <a:ln w="9525">
            <a:solidFill>
              <a:srgbClr val="E3E8ED"/>
            </a:solidFill>
            <a:prstDash val="solid"/>
          </a:ln>
        </p:spPr>
      </p:sp>
      <p:sp>
        <p:nvSpPr>
          <p:cNvPr id="20" name="Shape 18"/>
          <p:cNvSpPr/>
          <p:nvPr/>
        </p:nvSpPr>
        <p:spPr>
          <a:xfrm>
            <a:off x="1381125" y="3400425"/>
            <a:ext cx="2571750" cy="28575"/>
          </a:xfrm>
          <a:prstGeom prst="rect">
            <a:avLst/>
          </a:prstGeom>
          <a:solidFill>
            <a:srgbClr val="C2541F"/>
          </a:solidFill>
          <a:ln/>
        </p:spPr>
      </p:sp>
      <p:sp>
        <p:nvSpPr>
          <p:cNvPr id="21" name="Text 19"/>
          <p:cNvSpPr/>
          <p:nvPr/>
        </p:nvSpPr>
        <p:spPr>
          <a:xfrm>
            <a:off x="1381125" y="3762375"/>
            <a:ext cx="2828925" cy="342900"/>
          </a:xfrm>
          <a:prstGeom prst="rect">
            <a:avLst/>
          </a:prstGeom>
          <a:noFill/>
          <a:ln/>
        </p:spPr>
        <p:txBody>
          <a:bodyPr wrap="square" lIns="25400" tIns="25400" rIns="25400" bIns="25400" rtlCol="0" anchor="t">
            <a:normAutofit/>
          </a:bodyPr>
          <a:lstStyle/>
          <a:p>
            <a:pPr algn="l" indent="0" marL="0">
              <a:buNone/>
            </a:pPr>
            <a:r>
              <a:rPr lang="en-US" sz="1875" b="1" dirty="0">
                <a:solidFill>
                  <a:srgbClr val="1C2530"/>
                </a:solidFill>
                <a:latin typeface="Arial" pitchFamily="34" charset="0"/>
                <a:ea typeface="Arial" pitchFamily="34" charset="-122"/>
                <a:cs typeface="Arial" pitchFamily="34" charset="-120"/>
              </a:rPr>
              <a:t>Home</a:t>
            </a:r>
            <a:endParaRPr lang="en-US" sz="1875" dirty="0"/>
          </a:p>
        </p:txBody>
      </p:sp>
      <p:sp>
        <p:nvSpPr>
          <p:cNvPr id="22" name="Text 20"/>
          <p:cNvSpPr/>
          <p:nvPr/>
        </p:nvSpPr>
        <p:spPr>
          <a:xfrm>
            <a:off x="1381125" y="4181475"/>
            <a:ext cx="2648903" cy="62478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5A6675"/>
                </a:solidFill>
                <a:latin typeface="Arial" pitchFamily="34" charset="0"/>
                <a:ea typeface="Arial" pitchFamily="34" charset="-122"/>
                <a:cs typeface="Arial" pitchFamily="34" charset="-120"/>
              </a:rPr>
              <a:t>Your launch pad — start a scan, reach every feature.</a:t>
            </a:r>
            <a:endParaRPr lang="en-US" sz="1650" dirty="0"/>
          </a:p>
        </p:txBody>
      </p:sp>
      <p:sp>
        <p:nvSpPr>
          <p:cNvPr id="23" name="Shape 21"/>
          <p:cNvSpPr/>
          <p:nvPr/>
        </p:nvSpPr>
        <p:spPr>
          <a:xfrm>
            <a:off x="4381500" y="3390900"/>
            <a:ext cx="3048000" cy="5600700"/>
          </a:xfrm>
          <a:prstGeom prst="roundRect">
            <a:avLst>
              <a:gd name="adj" fmla="val 4375"/>
            </a:avLst>
          </a:prstGeom>
          <a:solidFill>
            <a:srgbClr val="F4F6F8"/>
          </a:solidFill>
          <a:ln w="9525">
            <a:solidFill>
              <a:srgbClr val="E3E8ED"/>
            </a:solidFill>
            <a:prstDash val="solid"/>
          </a:ln>
        </p:spPr>
      </p:sp>
      <p:sp>
        <p:nvSpPr>
          <p:cNvPr id="24" name="Shape 22"/>
          <p:cNvSpPr/>
          <p:nvPr/>
        </p:nvSpPr>
        <p:spPr>
          <a:xfrm>
            <a:off x="4619625" y="3400425"/>
            <a:ext cx="2571750" cy="28575"/>
          </a:xfrm>
          <a:prstGeom prst="rect">
            <a:avLst/>
          </a:prstGeom>
          <a:solidFill>
            <a:srgbClr val="C2541F"/>
          </a:solidFill>
          <a:ln/>
        </p:spPr>
      </p:sp>
      <p:sp>
        <p:nvSpPr>
          <p:cNvPr id="25" name="Text 23"/>
          <p:cNvSpPr/>
          <p:nvPr/>
        </p:nvSpPr>
        <p:spPr>
          <a:xfrm>
            <a:off x="4619625" y="3762375"/>
            <a:ext cx="2828925" cy="342900"/>
          </a:xfrm>
          <a:prstGeom prst="rect">
            <a:avLst/>
          </a:prstGeom>
          <a:noFill/>
          <a:ln/>
        </p:spPr>
        <p:txBody>
          <a:bodyPr wrap="square" lIns="25400" tIns="25400" rIns="25400" bIns="25400" rtlCol="0" anchor="t">
            <a:normAutofit/>
          </a:bodyPr>
          <a:lstStyle/>
          <a:p>
            <a:pPr algn="l" indent="0" marL="0">
              <a:buNone/>
            </a:pPr>
            <a:r>
              <a:rPr lang="en-US" sz="1875" b="1" dirty="0">
                <a:solidFill>
                  <a:srgbClr val="1C2530"/>
                </a:solidFill>
                <a:latin typeface="Arial" pitchFamily="34" charset="0"/>
                <a:ea typeface="Arial" pitchFamily="34" charset="-122"/>
                <a:cs typeface="Arial" pitchFamily="34" charset="-120"/>
              </a:rPr>
              <a:t>View Reports</a:t>
            </a:r>
            <a:endParaRPr lang="en-US" sz="1875" dirty="0"/>
          </a:p>
        </p:txBody>
      </p:sp>
      <p:sp>
        <p:nvSpPr>
          <p:cNvPr id="26" name="Text 24"/>
          <p:cNvSpPr/>
          <p:nvPr/>
        </p:nvSpPr>
        <p:spPr>
          <a:xfrm>
            <a:off x="4619625" y="4181475"/>
            <a:ext cx="2648903" cy="62478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5A6675"/>
                </a:solidFill>
                <a:latin typeface="Arial" pitchFamily="34" charset="0"/>
                <a:ea typeface="Arial" pitchFamily="34" charset="-122"/>
                <a:cs typeface="Arial" pitchFamily="34" charset="-120"/>
              </a:rPr>
              <a:t>Browse saved scans, open reports, see Trend Reports.</a:t>
            </a:r>
            <a:endParaRPr lang="en-US" sz="1650" dirty="0"/>
          </a:p>
        </p:txBody>
      </p:sp>
      <p:sp>
        <p:nvSpPr>
          <p:cNvPr id="27" name="Shape 25"/>
          <p:cNvSpPr/>
          <p:nvPr/>
        </p:nvSpPr>
        <p:spPr>
          <a:xfrm>
            <a:off x="7620000" y="3390900"/>
            <a:ext cx="3048000" cy="5600700"/>
          </a:xfrm>
          <a:prstGeom prst="roundRect">
            <a:avLst>
              <a:gd name="adj" fmla="val 4375"/>
            </a:avLst>
          </a:prstGeom>
          <a:solidFill>
            <a:srgbClr val="F4F6F8"/>
          </a:solidFill>
          <a:ln w="9525">
            <a:solidFill>
              <a:srgbClr val="E3E8ED"/>
            </a:solidFill>
            <a:prstDash val="solid"/>
          </a:ln>
        </p:spPr>
      </p:sp>
      <p:sp>
        <p:nvSpPr>
          <p:cNvPr id="28" name="Shape 26"/>
          <p:cNvSpPr/>
          <p:nvPr/>
        </p:nvSpPr>
        <p:spPr>
          <a:xfrm>
            <a:off x="7858125" y="3400425"/>
            <a:ext cx="2571750" cy="28575"/>
          </a:xfrm>
          <a:prstGeom prst="rect">
            <a:avLst/>
          </a:prstGeom>
          <a:solidFill>
            <a:srgbClr val="C2541F"/>
          </a:solidFill>
          <a:ln/>
        </p:spPr>
      </p:sp>
      <p:sp>
        <p:nvSpPr>
          <p:cNvPr id="29" name="Text 27"/>
          <p:cNvSpPr/>
          <p:nvPr/>
        </p:nvSpPr>
        <p:spPr>
          <a:xfrm>
            <a:off x="7858125" y="3762375"/>
            <a:ext cx="2828925" cy="342900"/>
          </a:xfrm>
          <a:prstGeom prst="rect">
            <a:avLst/>
          </a:prstGeom>
          <a:noFill/>
          <a:ln/>
        </p:spPr>
        <p:txBody>
          <a:bodyPr wrap="square" lIns="25400" tIns="25400" rIns="25400" bIns="25400" rtlCol="0" anchor="t">
            <a:normAutofit/>
          </a:bodyPr>
          <a:lstStyle/>
          <a:p>
            <a:pPr algn="l" indent="0" marL="0">
              <a:buNone/>
            </a:pPr>
            <a:r>
              <a:rPr lang="en-US" sz="1875" b="1" dirty="0">
                <a:solidFill>
                  <a:srgbClr val="1C2530"/>
                </a:solidFill>
                <a:latin typeface="Arial" pitchFamily="34" charset="0"/>
                <a:ea typeface="Arial" pitchFamily="34" charset="-122"/>
                <a:cs typeface="Arial" pitchFamily="34" charset="-120"/>
              </a:rPr>
              <a:t>Compare Scans</a:t>
            </a:r>
            <a:endParaRPr lang="en-US" sz="1875" dirty="0"/>
          </a:p>
        </p:txBody>
      </p:sp>
      <p:sp>
        <p:nvSpPr>
          <p:cNvPr id="30" name="Text 28"/>
          <p:cNvSpPr/>
          <p:nvPr/>
        </p:nvSpPr>
        <p:spPr>
          <a:xfrm>
            <a:off x="7858125" y="4181475"/>
            <a:ext cx="2648903" cy="62478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5A6675"/>
                </a:solidFill>
                <a:latin typeface="Arial" pitchFamily="34" charset="0"/>
                <a:ea typeface="Arial" pitchFamily="34" charset="-122"/>
                <a:cs typeface="Arial" pitchFamily="34" charset="-120"/>
              </a:rPr>
              <a:t>Diff two runs — added, removed, changed lines.</a:t>
            </a:r>
            <a:endParaRPr lang="en-US" sz="1650" dirty="0"/>
          </a:p>
        </p:txBody>
      </p:sp>
      <p:sp>
        <p:nvSpPr>
          <p:cNvPr id="31" name="Shape 29"/>
          <p:cNvSpPr/>
          <p:nvPr/>
        </p:nvSpPr>
        <p:spPr>
          <a:xfrm>
            <a:off x="10858500" y="3390900"/>
            <a:ext cx="3048000" cy="5600700"/>
          </a:xfrm>
          <a:prstGeom prst="roundRect">
            <a:avLst>
              <a:gd name="adj" fmla="val 4375"/>
            </a:avLst>
          </a:prstGeom>
          <a:solidFill>
            <a:srgbClr val="F4F6F8"/>
          </a:solidFill>
          <a:ln w="9525">
            <a:solidFill>
              <a:srgbClr val="E3E8ED"/>
            </a:solidFill>
            <a:prstDash val="solid"/>
          </a:ln>
        </p:spPr>
      </p:sp>
      <p:sp>
        <p:nvSpPr>
          <p:cNvPr id="32" name="Shape 30"/>
          <p:cNvSpPr/>
          <p:nvPr/>
        </p:nvSpPr>
        <p:spPr>
          <a:xfrm>
            <a:off x="11096625" y="3400425"/>
            <a:ext cx="2571750" cy="28575"/>
          </a:xfrm>
          <a:prstGeom prst="rect">
            <a:avLst/>
          </a:prstGeom>
          <a:solidFill>
            <a:srgbClr val="C2541F"/>
          </a:solidFill>
          <a:ln/>
        </p:spPr>
      </p:sp>
      <p:sp>
        <p:nvSpPr>
          <p:cNvPr id="33" name="Text 31"/>
          <p:cNvSpPr/>
          <p:nvPr/>
        </p:nvSpPr>
        <p:spPr>
          <a:xfrm>
            <a:off x="11096625" y="3762375"/>
            <a:ext cx="2828925" cy="342900"/>
          </a:xfrm>
          <a:prstGeom prst="rect">
            <a:avLst/>
          </a:prstGeom>
          <a:noFill/>
          <a:ln/>
        </p:spPr>
        <p:txBody>
          <a:bodyPr wrap="square" lIns="25400" tIns="25400" rIns="25400" bIns="25400" rtlCol="0" anchor="t">
            <a:normAutofit/>
          </a:bodyPr>
          <a:lstStyle/>
          <a:p>
            <a:pPr algn="l" indent="0" marL="0">
              <a:buNone/>
            </a:pPr>
            <a:r>
              <a:rPr lang="en-US" sz="1875" b="1" dirty="0">
                <a:solidFill>
                  <a:srgbClr val="1C2530"/>
                </a:solidFill>
                <a:latin typeface="Arial" pitchFamily="34" charset="0"/>
                <a:ea typeface="Arial" pitchFamily="34" charset="-122"/>
                <a:cs typeface="Arial" pitchFamily="34" charset="-120"/>
              </a:rPr>
              <a:t>Test Metrics</a:t>
            </a:r>
            <a:endParaRPr lang="en-US" sz="1875" dirty="0"/>
          </a:p>
        </p:txBody>
      </p:sp>
      <p:sp>
        <p:nvSpPr>
          <p:cNvPr id="34" name="Text 32"/>
          <p:cNvSpPr/>
          <p:nvPr/>
        </p:nvSpPr>
        <p:spPr>
          <a:xfrm>
            <a:off x="11096625" y="4181475"/>
            <a:ext cx="2648903" cy="62478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5A6675"/>
                </a:solidFill>
                <a:latin typeface="Arial" pitchFamily="34" charset="0"/>
                <a:ea typeface="Arial" pitchFamily="34" charset="-122"/>
                <a:cs typeface="Arial" pitchFamily="34" charset="-120"/>
              </a:rPr>
              <a:t>Test density and imported coverage data.</a:t>
            </a:r>
            <a:endParaRPr lang="en-US" sz="1650" dirty="0"/>
          </a:p>
        </p:txBody>
      </p:sp>
      <p:sp>
        <p:nvSpPr>
          <p:cNvPr id="35" name="Shape 33"/>
          <p:cNvSpPr/>
          <p:nvPr/>
        </p:nvSpPr>
        <p:spPr>
          <a:xfrm>
            <a:off x="14097000" y="3390900"/>
            <a:ext cx="3048000" cy="5600700"/>
          </a:xfrm>
          <a:prstGeom prst="roundRect">
            <a:avLst>
              <a:gd name="adj" fmla="val 4375"/>
            </a:avLst>
          </a:prstGeom>
          <a:solidFill>
            <a:srgbClr val="F4F6F8"/>
          </a:solidFill>
          <a:ln w="9525">
            <a:solidFill>
              <a:srgbClr val="E3E8ED"/>
            </a:solidFill>
            <a:prstDash val="solid"/>
          </a:ln>
        </p:spPr>
      </p:sp>
      <p:sp>
        <p:nvSpPr>
          <p:cNvPr id="36" name="Shape 34"/>
          <p:cNvSpPr/>
          <p:nvPr/>
        </p:nvSpPr>
        <p:spPr>
          <a:xfrm>
            <a:off x="14335125" y="3400425"/>
            <a:ext cx="2571750" cy="28575"/>
          </a:xfrm>
          <a:prstGeom prst="rect">
            <a:avLst/>
          </a:prstGeom>
          <a:solidFill>
            <a:srgbClr val="C2541F"/>
          </a:solidFill>
          <a:ln/>
        </p:spPr>
      </p:sp>
      <p:sp>
        <p:nvSpPr>
          <p:cNvPr id="37" name="Text 35"/>
          <p:cNvSpPr/>
          <p:nvPr/>
        </p:nvSpPr>
        <p:spPr>
          <a:xfrm>
            <a:off x="14335125" y="3762375"/>
            <a:ext cx="2828925" cy="342900"/>
          </a:xfrm>
          <a:prstGeom prst="rect">
            <a:avLst/>
          </a:prstGeom>
          <a:noFill/>
          <a:ln/>
        </p:spPr>
        <p:txBody>
          <a:bodyPr wrap="square" lIns="25400" tIns="25400" rIns="25400" bIns="25400" rtlCol="0" anchor="t">
            <a:normAutofit/>
          </a:bodyPr>
          <a:lstStyle/>
          <a:p>
            <a:pPr algn="l" indent="0" marL="0">
              <a:buNone/>
            </a:pPr>
            <a:r>
              <a:rPr lang="en-US" sz="1875" b="1" dirty="0">
                <a:solidFill>
                  <a:srgbClr val="1C2530"/>
                </a:solidFill>
                <a:latin typeface="Arial" pitchFamily="34" charset="0"/>
                <a:ea typeface="Arial" pitchFamily="34" charset="-122"/>
                <a:cs typeface="Arial" pitchFamily="34" charset="-120"/>
              </a:rPr>
              <a:t>Git Browser</a:t>
            </a:r>
            <a:endParaRPr lang="en-US" sz="1875" dirty="0"/>
          </a:p>
        </p:txBody>
      </p:sp>
      <p:sp>
        <p:nvSpPr>
          <p:cNvPr id="38" name="Text 36"/>
          <p:cNvSpPr/>
          <p:nvPr/>
        </p:nvSpPr>
        <p:spPr>
          <a:xfrm>
            <a:off x="14335125" y="4181475"/>
            <a:ext cx="2648903" cy="62478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5A6675"/>
                </a:solidFill>
                <a:latin typeface="Arial" pitchFamily="34" charset="0"/>
                <a:ea typeface="Arial" pitchFamily="34" charset="-122"/>
                <a:cs typeface="Arial" pitchFamily="34" charset="-120"/>
              </a:rPr>
              <a:t>Scan any branch, tag, or commit — no checkout.</a:t>
            </a:r>
            <a:endParaRPr lang="en-US" sz="1650" dirty="0"/>
          </a:p>
        </p:txBody>
      </p:sp>
      <p:sp>
        <p:nvSpPr>
          <p:cNvPr id="39" name="Text 37"/>
          <p:cNvSpPr/>
          <p:nvPr/>
        </p:nvSpPr>
        <p:spPr>
          <a:xfrm>
            <a:off x="1143000" y="9258300"/>
            <a:ext cx="17602200" cy="304800"/>
          </a:xfrm>
          <a:prstGeom prst="rect">
            <a:avLst/>
          </a:prstGeom>
          <a:noFill/>
          <a:ln/>
        </p:spPr>
        <p:txBody>
          <a:bodyPr wrap="square" lIns="25400" tIns="25400" rIns="25400" bIns="25400" rtlCol="0" anchor="t">
            <a:normAutofit/>
          </a:bodyPr>
          <a:lstStyle/>
          <a:p>
            <a:pPr algn="l" indent="0" marL="0">
              <a:buNone/>
            </a:pPr>
            <a:r>
              <a:rPr lang="en-US" sz="1500" dirty="0">
                <a:solidFill>
                  <a:srgbClr val="8A93A0"/>
                </a:solidFill>
                <a:latin typeface="Courier New" pitchFamily="34" charset="0"/>
                <a:ea typeface="Courier New" pitchFamily="34" charset="-122"/>
                <a:cs typeface="Courier New" pitchFamily="34" charset="-120"/>
              </a:rPr>
              <a:t>Right side — </a:t>
            </a:r>
            <a:pPr algn="l" indent="0" marL="0">
              <a:buNone/>
            </a:pPr>
            <a:r>
              <a:rPr lang="en-US" sz="1500" dirty="0">
                <a:solidFill>
                  <a:srgbClr val="C2541F"/>
                </a:solidFill>
                <a:latin typeface="Courier New" pitchFamily="34" charset="0"/>
                <a:ea typeface="Courier New" pitchFamily="34" charset="-122"/>
                <a:cs typeface="Courier New" pitchFamily="34" charset="-120"/>
              </a:rPr>
              <a:t>● Local/Server </a:t>
            </a:r>
            <a:pPr algn="l" indent="0" marL="0">
              <a:buNone/>
            </a:pPr>
            <a:r>
              <a:rPr lang="en-US" sz="1500" dirty="0">
                <a:solidFill>
                  <a:srgbClr val="8A93A0"/>
                </a:solidFill>
                <a:latin typeface="Courier New" pitchFamily="34" charset="0"/>
                <a:ea typeface="Courier New" pitchFamily="34" charset="-122"/>
                <a:cs typeface="Courier New" pitchFamily="34" charset="-120"/>
              </a:rPr>
              <a:t>toggle · </a:t>
            </a:r>
            <a:pPr algn="l" indent="0" marL="0">
              <a:buNone/>
            </a:pPr>
            <a:r>
              <a:rPr lang="en-US" sz="1500" dirty="0">
                <a:solidFill>
                  <a:srgbClr val="C2541F"/>
                </a:solidFill>
                <a:latin typeface="Courier New" pitchFamily="34" charset="0"/>
                <a:ea typeface="Courier New" pitchFamily="34" charset="-122"/>
                <a:cs typeface="Courier New" pitchFamily="34" charset="-120"/>
              </a:rPr>
              <a:t>⚙ </a:t>
            </a:r>
            <a:pPr algn="l" indent="0" marL="0">
              <a:buNone/>
            </a:pPr>
            <a:r>
              <a:rPr lang="en-US" sz="1500" dirty="0">
                <a:solidFill>
                  <a:srgbClr val="8A93A0"/>
                </a:solidFill>
                <a:latin typeface="Courier New" pitchFamily="34" charset="0"/>
                <a:ea typeface="Courier New" pitchFamily="34" charset="-122"/>
                <a:cs typeface="Courier New" pitchFamily="34" charset="-120"/>
              </a:rPr>
              <a:t>Settings · </a:t>
            </a:r>
            <a:pPr algn="l" indent="0" marL="0">
              <a:buNone/>
            </a:pPr>
            <a:r>
              <a:rPr lang="en-US" sz="1500" dirty="0">
                <a:solidFill>
                  <a:srgbClr val="C2541F"/>
                </a:solidFill>
                <a:latin typeface="Courier New" pitchFamily="34" charset="0"/>
                <a:ea typeface="Courier New" pitchFamily="34" charset="-122"/>
                <a:cs typeface="Courier New" pitchFamily="34" charset="-120"/>
              </a:rPr>
              <a:t>☾ </a:t>
            </a:r>
            <a:pPr algn="l" indent="0" marL="0">
              <a:buNone/>
            </a:pPr>
            <a:r>
              <a:rPr lang="en-US" sz="1500" dirty="0">
                <a:solidFill>
                  <a:srgbClr val="8A93A0"/>
                </a:solidFill>
                <a:latin typeface="Courier New" pitchFamily="34" charset="0"/>
                <a:ea typeface="Courier New" pitchFamily="34" charset="-122"/>
                <a:cs typeface="Courier New" pitchFamily="34" charset="-120"/>
              </a:rPr>
              <a:t>Light / dark theme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1143000" y="952500"/>
            <a:ext cx="323850" cy="28575"/>
          </a:xfrm>
          <a:prstGeom prst="rect">
            <a:avLst/>
          </a:prstGeom>
          <a:solidFill>
            <a:srgbClr val="C2541F"/>
          </a:solidFill>
          <a:ln/>
        </p:spPr>
      </p:sp>
      <p:sp>
        <p:nvSpPr>
          <p:cNvPr id="3" name="Text 1"/>
          <p:cNvSpPr/>
          <p:nvPr/>
        </p:nvSpPr>
        <p:spPr>
          <a:xfrm>
            <a:off x="1600200" y="838200"/>
            <a:ext cx="2357438" cy="295275"/>
          </a:xfrm>
          <a:prstGeom prst="rect">
            <a:avLst/>
          </a:prstGeom>
          <a:noFill/>
          <a:ln/>
        </p:spPr>
        <p:txBody>
          <a:bodyPr wrap="square" lIns="25400" tIns="25400" rIns="25400" bIns="25400" rtlCol="0" anchor="t">
            <a:normAutofit/>
          </a:bodyPr>
          <a:lstStyle/>
          <a:p>
            <a:pPr algn="l" indent="0" marL="0">
              <a:buNone/>
            </a:pPr>
            <a:r>
              <a:rPr lang="en-US" sz="1500" spc="225" kern="0" dirty="0">
                <a:solidFill>
                  <a:srgbClr val="C2541F"/>
                </a:solidFill>
                <a:latin typeface="Courier New" pitchFamily="34" charset="0"/>
                <a:ea typeface="Courier New" pitchFamily="34" charset="-122"/>
                <a:cs typeface="Courier New" pitchFamily="34" charset="-120"/>
              </a:rPr>
              <a:t>YOUR LAUNCH PAD</a:t>
            </a:r>
            <a:endParaRPr lang="en-US" sz="1500" dirty="0"/>
          </a:p>
        </p:txBody>
      </p:sp>
      <p:sp>
        <p:nvSpPr>
          <p:cNvPr id="4" name="Text 2"/>
          <p:cNvSpPr/>
          <p:nvPr/>
        </p:nvSpPr>
        <p:spPr>
          <a:xfrm>
            <a:off x="1143000" y="1247775"/>
            <a:ext cx="5029200" cy="676275"/>
          </a:xfrm>
          <a:prstGeom prst="rect">
            <a:avLst/>
          </a:prstGeom>
          <a:noFill/>
          <a:ln/>
        </p:spPr>
        <p:txBody>
          <a:bodyPr wrap="square" lIns="25400" tIns="25400" rIns="25400" bIns="25400" rtlCol="0" anchor="t">
            <a:normAutofit/>
          </a:bodyPr>
          <a:lstStyle/>
          <a:p>
            <a:pPr algn="l" indent="0" marL="0">
              <a:buNone/>
            </a:pPr>
            <a:r>
              <a:rPr lang="en-US" sz="4350" b="1" spc="-75" kern="0" dirty="0">
                <a:solidFill>
                  <a:srgbClr val="1C2530"/>
                </a:solidFill>
                <a:latin typeface="Arial" pitchFamily="34" charset="0"/>
                <a:ea typeface="Arial" pitchFamily="34" charset="-122"/>
                <a:cs typeface="Arial" pitchFamily="34" charset="-120"/>
              </a:rPr>
              <a:t>The Home Hub</a:t>
            </a:r>
            <a:endParaRPr lang="en-US" sz="4350" dirty="0"/>
          </a:p>
        </p:txBody>
      </p:sp>
      <p:sp>
        <p:nvSpPr>
          <p:cNvPr id="5" name="Text 3"/>
          <p:cNvSpPr/>
          <p:nvPr/>
        </p:nvSpPr>
        <p:spPr>
          <a:xfrm>
            <a:off x="1143000" y="2095500"/>
            <a:ext cx="4709160" cy="784622"/>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5A6675"/>
                </a:solidFill>
                <a:latin typeface="Arial" pitchFamily="34" charset="0"/>
                <a:ea typeface="Arial" pitchFamily="34" charset="-122"/>
                <a:cs typeface="Arial" pitchFamily="34" charset="-120"/>
              </a:rPr>
              <a:t>Every feature is one click away, grouped into three lanes.</a:t>
            </a:r>
            <a:endParaRPr lang="en-US" sz="2100" dirty="0"/>
          </a:p>
        </p:txBody>
      </p:sp>
      <p:sp>
        <p:nvSpPr>
          <p:cNvPr id="6" name="Shape 4"/>
          <p:cNvSpPr/>
          <p:nvPr/>
        </p:nvSpPr>
        <p:spPr>
          <a:xfrm>
            <a:off x="1143000" y="3242072"/>
            <a:ext cx="4572000" cy="1076325"/>
          </a:xfrm>
          <a:prstGeom prst="roundRect">
            <a:avLst>
              <a:gd name="adj" fmla="val 10619"/>
            </a:avLst>
          </a:prstGeom>
          <a:solidFill>
            <a:srgbClr val="FFFFFF"/>
          </a:solidFill>
          <a:ln/>
        </p:spPr>
      </p:sp>
      <p:sp>
        <p:nvSpPr>
          <p:cNvPr id="7" name="Shape 5"/>
          <p:cNvSpPr/>
          <p:nvPr/>
        </p:nvSpPr>
        <p:spPr>
          <a:xfrm>
            <a:off x="1143000" y="4308872"/>
            <a:ext cx="4572000" cy="9525"/>
          </a:xfrm>
          <a:prstGeom prst="rect">
            <a:avLst/>
          </a:prstGeom>
          <a:solidFill>
            <a:srgbClr val="E3E8ED"/>
          </a:solidFill>
          <a:ln/>
        </p:spPr>
      </p:sp>
      <p:sp>
        <p:nvSpPr>
          <p:cNvPr id="8" name="Shape 6"/>
          <p:cNvSpPr/>
          <p:nvPr/>
        </p:nvSpPr>
        <p:spPr>
          <a:xfrm>
            <a:off x="1143000" y="3242072"/>
            <a:ext cx="4572000" cy="9525"/>
          </a:xfrm>
          <a:prstGeom prst="rect">
            <a:avLst/>
          </a:prstGeom>
          <a:solidFill>
            <a:srgbClr val="E3E8ED"/>
          </a:solidFill>
          <a:ln/>
        </p:spPr>
      </p:sp>
      <p:sp>
        <p:nvSpPr>
          <p:cNvPr id="9" name="Shape 7"/>
          <p:cNvSpPr/>
          <p:nvPr/>
        </p:nvSpPr>
        <p:spPr>
          <a:xfrm>
            <a:off x="1143000" y="3242072"/>
            <a:ext cx="38100" cy="1076325"/>
          </a:xfrm>
          <a:prstGeom prst="rect">
            <a:avLst/>
          </a:prstGeom>
          <a:solidFill>
            <a:srgbClr val="C2541F"/>
          </a:solidFill>
          <a:ln/>
        </p:spPr>
      </p:sp>
      <p:sp>
        <p:nvSpPr>
          <p:cNvPr id="10" name="Shape 8"/>
          <p:cNvSpPr/>
          <p:nvPr/>
        </p:nvSpPr>
        <p:spPr>
          <a:xfrm>
            <a:off x="5705475" y="3242072"/>
            <a:ext cx="9525" cy="1076325"/>
          </a:xfrm>
          <a:prstGeom prst="rect">
            <a:avLst/>
          </a:prstGeom>
          <a:solidFill>
            <a:srgbClr val="E3E8ED"/>
          </a:solidFill>
          <a:ln/>
        </p:spPr>
      </p:sp>
      <p:sp>
        <p:nvSpPr>
          <p:cNvPr id="11" name="Text 9"/>
          <p:cNvSpPr/>
          <p:nvPr/>
        </p:nvSpPr>
        <p:spPr>
          <a:xfrm>
            <a:off x="1428750" y="3675459"/>
            <a:ext cx="1021259" cy="247650"/>
          </a:xfrm>
          <a:prstGeom prst="rect">
            <a:avLst/>
          </a:prstGeom>
          <a:noFill/>
          <a:ln/>
        </p:spPr>
        <p:txBody>
          <a:bodyPr wrap="none" lIns="25400" tIns="25400" rIns="25400" bIns="25400" rtlCol="0" anchor="t">
            <a:normAutofit/>
          </a:bodyPr>
          <a:lstStyle/>
          <a:p>
            <a:pPr algn="l" indent="0" marL="0">
              <a:buNone/>
            </a:pPr>
            <a:r>
              <a:rPr lang="en-US" sz="1425" b="1" spc="75" kern="0" dirty="0">
                <a:solidFill>
                  <a:srgbClr val="C2541F"/>
                </a:solidFill>
                <a:latin typeface="Courier New" pitchFamily="34" charset="0"/>
                <a:ea typeface="Courier New" pitchFamily="34" charset="-122"/>
                <a:cs typeface="Courier New" pitchFamily="34" charset="-120"/>
              </a:rPr>
              <a:t>ANALYSIS</a:t>
            </a:r>
            <a:endParaRPr lang="en-US" sz="1425" dirty="0"/>
          </a:p>
        </p:txBody>
      </p:sp>
      <p:sp>
        <p:nvSpPr>
          <p:cNvPr id="12" name="Text 10"/>
          <p:cNvSpPr/>
          <p:nvPr/>
        </p:nvSpPr>
        <p:spPr>
          <a:xfrm>
            <a:off x="2545259" y="3461147"/>
            <a:ext cx="2999943" cy="676275"/>
          </a:xfrm>
          <a:prstGeom prst="rect">
            <a:avLst/>
          </a:prstGeom>
          <a:noFill/>
          <a:ln/>
        </p:spPr>
        <p:txBody>
          <a:bodyPr wrap="square" lIns="25400" tIns="25400" rIns="25400" bIns="25400" rtlCol="0" anchor="t">
            <a:normAutofit/>
          </a:bodyPr>
          <a:lstStyle/>
          <a:p>
            <a:pPr algn="l" indent="0" marL="0">
              <a:lnSpc>
                <a:spcPct val="134000"/>
              </a:lnSpc>
              <a:buNone/>
            </a:pPr>
            <a:r>
              <a:rPr lang="en-US" sz="1875" dirty="0">
                <a:solidFill>
                  <a:srgbClr val="3A4450"/>
                </a:solidFill>
                <a:latin typeface="Arial" pitchFamily="34" charset="0"/>
                <a:ea typeface="Arial" pitchFamily="34" charset="-122"/>
                <a:cs typeface="Arial" pitchFamily="34" charset="-120"/>
              </a:rPr>
              <a:t>Start a scan · jump to Test Metrics</a:t>
            </a:r>
            <a:endParaRPr lang="en-US" sz="1875" dirty="0"/>
          </a:p>
        </p:txBody>
      </p:sp>
      <p:sp>
        <p:nvSpPr>
          <p:cNvPr id="13" name="Shape 11"/>
          <p:cNvSpPr/>
          <p:nvPr/>
        </p:nvSpPr>
        <p:spPr>
          <a:xfrm>
            <a:off x="1143000" y="4508897"/>
            <a:ext cx="4572000" cy="1076325"/>
          </a:xfrm>
          <a:prstGeom prst="roundRect">
            <a:avLst>
              <a:gd name="adj" fmla="val 10619"/>
            </a:avLst>
          </a:prstGeom>
          <a:solidFill>
            <a:srgbClr val="FFFFFF"/>
          </a:solidFill>
          <a:ln/>
        </p:spPr>
      </p:sp>
      <p:sp>
        <p:nvSpPr>
          <p:cNvPr id="14" name="Shape 12"/>
          <p:cNvSpPr/>
          <p:nvPr/>
        </p:nvSpPr>
        <p:spPr>
          <a:xfrm>
            <a:off x="1143000" y="5575697"/>
            <a:ext cx="4572000" cy="9525"/>
          </a:xfrm>
          <a:prstGeom prst="rect">
            <a:avLst/>
          </a:prstGeom>
          <a:solidFill>
            <a:srgbClr val="E3E8ED"/>
          </a:solidFill>
          <a:ln/>
        </p:spPr>
      </p:sp>
      <p:sp>
        <p:nvSpPr>
          <p:cNvPr id="15" name="Shape 13"/>
          <p:cNvSpPr/>
          <p:nvPr/>
        </p:nvSpPr>
        <p:spPr>
          <a:xfrm>
            <a:off x="1143000" y="4508897"/>
            <a:ext cx="4572000" cy="9525"/>
          </a:xfrm>
          <a:prstGeom prst="rect">
            <a:avLst/>
          </a:prstGeom>
          <a:solidFill>
            <a:srgbClr val="E3E8ED"/>
          </a:solidFill>
          <a:ln/>
        </p:spPr>
      </p:sp>
      <p:sp>
        <p:nvSpPr>
          <p:cNvPr id="16" name="Shape 14"/>
          <p:cNvSpPr/>
          <p:nvPr/>
        </p:nvSpPr>
        <p:spPr>
          <a:xfrm>
            <a:off x="1143000" y="4508897"/>
            <a:ext cx="38100" cy="1076325"/>
          </a:xfrm>
          <a:prstGeom prst="rect">
            <a:avLst/>
          </a:prstGeom>
          <a:solidFill>
            <a:srgbClr val="4A7C97"/>
          </a:solidFill>
          <a:ln/>
        </p:spPr>
      </p:sp>
      <p:sp>
        <p:nvSpPr>
          <p:cNvPr id="17" name="Shape 15"/>
          <p:cNvSpPr/>
          <p:nvPr/>
        </p:nvSpPr>
        <p:spPr>
          <a:xfrm>
            <a:off x="5705475" y="4508897"/>
            <a:ext cx="9525" cy="1076325"/>
          </a:xfrm>
          <a:prstGeom prst="rect">
            <a:avLst/>
          </a:prstGeom>
          <a:solidFill>
            <a:srgbClr val="E3E8ED"/>
          </a:solidFill>
          <a:ln/>
        </p:spPr>
      </p:sp>
      <p:sp>
        <p:nvSpPr>
          <p:cNvPr id="18" name="Text 16"/>
          <p:cNvSpPr/>
          <p:nvPr/>
        </p:nvSpPr>
        <p:spPr>
          <a:xfrm>
            <a:off x="1428750" y="4942284"/>
            <a:ext cx="907852" cy="247650"/>
          </a:xfrm>
          <a:prstGeom prst="rect">
            <a:avLst/>
          </a:prstGeom>
          <a:noFill/>
          <a:ln/>
        </p:spPr>
        <p:txBody>
          <a:bodyPr wrap="none" lIns="25400" tIns="25400" rIns="25400" bIns="25400" rtlCol="0" anchor="t">
            <a:normAutofit/>
          </a:bodyPr>
          <a:lstStyle/>
          <a:p>
            <a:pPr algn="l" indent="0" marL="0">
              <a:buNone/>
            </a:pPr>
            <a:r>
              <a:rPr lang="en-US" sz="1425" b="1" spc="75" kern="0" dirty="0">
                <a:solidFill>
                  <a:srgbClr val="4A7C97"/>
                </a:solidFill>
                <a:latin typeface="Courier New" pitchFamily="34" charset="0"/>
                <a:ea typeface="Courier New" pitchFamily="34" charset="-122"/>
                <a:cs typeface="Courier New" pitchFamily="34" charset="-120"/>
              </a:rPr>
              <a:t>REPORTS</a:t>
            </a:r>
            <a:endParaRPr lang="en-US" sz="1425" dirty="0"/>
          </a:p>
        </p:txBody>
      </p:sp>
      <p:sp>
        <p:nvSpPr>
          <p:cNvPr id="19" name="Text 17"/>
          <p:cNvSpPr/>
          <p:nvPr/>
        </p:nvSpPr>
        <p:spPr>
          <a:xfrm>
            <a:off x="2431852" y="4727972"/>
            <a:ext cx="3116753" cy="676275"/>
          </a:xfrm>
          <a:prstGeom prst="rect">
            <a:avLst/>
          </a:prstGeom>
          <a:noFill/>
          <a:ln/>
        </p:spPr>
        <p:txBody>
          <a:bodyPr wrap="square" lIns="25400" tIns="25400" rIns="25400" bIns="25400" rtlCol="0" anchor="t">
            <a:normAutofit/>
          </a:bodyPr>
          <a:lstStyle/>
          <a:p>
            <a:pPr algn="l" indent="0" marL="0">
              <a:lnSpc>
                <a:spcPct val="134000"/>
              </a:lnSpc>
              <a:buNone/>
            </a:pPr>
            <a:r>
              <a:rPr lang="en-US" sz="1875" dirty="0">
                <a:solidFill>
                  <a:srgbClr val="3A4450"/>
                </a:solidFill>
                <a:latin typeface="Arial" pitchFamily="34" charset="0"/>
                <a:ea typeface="Arial" pitchFamily="34" charset="-122"/>
                <a:cs typeface="Arial" pitchFamily="34" charset="-120"/>
              </a:rPr>
              <a:t>View Reports · Compare · Trend Report</a:t>
            </a:r>
            <a:endParaRPr lang="en-US" sz="1875" dirty="0"/>
          </a:p>
        </p:txBody>
      </p:sp>
      <p:sp>
        <p:nvSpPr>
          <p:cNvPr id="20" name="Shape 18"/>
          <p:cNvSpPr/>
          <p:nvPr/>
        </p:nvSpPr>
        <p:spPr>
          <a:xfrm>
            <a:off x="1143000" y="5775722"/>
            <a:ext cx="4572000" cy="1076325"/>
          </a:xfrm>
          <a:prstGeom prst="roundRect">
            <a:avLst>
              <a:gd name="adj" fmla="val 10619"/>
            </a:avLst>
          </a:prstGeom>
          <a:solidFill>
            <a:srgbClr val="FFFFFF"/>
          </a:solidFill>
          <a:ln/>
        </p:spPr>
      </p:sp>
      <p:sp>
        <p:nvSpPr>
          <p:cNvPr id="21" name="Shape 19"/>
          <p:cNvSpPr/>
          <p:nvPr/>
        </p:nvSpPr>
        <p:spPr>
          <a:xfrm>
            <a:off x="1143000" y="6842522"/>
            <a:ext cx="4572000" cy="9525"/>
          </a:xfrm>
          <a:prstGeom prst="rect">
            <a:avLst/>
          </a:prstGeom>
          <a:solidFill>
            <a:srgbClr val="E3E8ED"/>
          </a:solidFill>
          <a:ln/>
        </p:spPr>
      </p:sp>
      <p:sp>
        <p:nvSpPr>
          <p:cNvPr id="22" name="Shape 20"/>
          <p:cNvSpPr/>
          <p:nvPr/>
        </p:nvSpPr>
        <p:spPr>
          <a:xfrm>
            <a:off x="1143000" y="5775722"/>
            <a:ext cx="4572000" cy="9525"/>
          </a:xfrm>
          <a:prstGeom prst="rect">
            <a:avLst/>
          </a:prstGeom>
          <a:solidFill>
            <a:srgbClr val="E3E8ED"/>
          </a:solidFill>
          <a:ln/>
        </p:spPr>
      </p:sp>
      <p:sp>
        <p:nvSpPr>
          <p:cNvPr id="23" name="Shape 21"/>
          <p:cNvSpPr/>
          <p:nvPr/>
        </p:nvSpPr>
        <p:spPr>
          <a:xfrm>
            <a:off x="1143000" y="5775722"/>
            <a:ext cx="38100" cy="1076325"/>
          </a:xfrm>
          <a:prstGeom prst="rect">
            <a:avLst/>
          </a:prstGeom>
          <a:solidFill>
            <a:srgbClr val="4F9A3F"/>
          </a:solidFill>
          <a:ln/>
        </p:spPr>
      </p:sp>
      <p:sp>
        <p:nvSpPr>
          <p:cNvPr id="24" name="Shape 22"/>
          <p:cNvSpPr/>
          <p:nvPr/>
        </p:nvSpPr>
        <p:spPr>
          <a:xfrm>
            <a:off x="5705475" y="5775722"/>
            <a:ext cx="9525" cy="1076325"/>
          </a:xfrm>
          <a:prstGeom prst="rect">
            <a:avLst/>
          </a:prstGeom>
          <a:solidFill>
            <a:srgbClr val="E3E8ED"/>
          </a:solidFill>
          <a:ln/>
        </p:spPr>
      </p:sp>
      <p:sp>
        <p:nvSpPr>
          <p:cNvPr id="25" name="Text 23"/>
          <p:cNvSpPr/>
          <p:nvPr/>
        </p:nvSpPr>
        <p:spPr>
          <a:xfrm>
            <a:off x="1428750" y="6209109"/>
            <a:ext cx="1139428" cy="247650"/>
          </a:xfrm>
          <a:prstGeom prst="rect">
            <a:avLst/>
          </a:prstGeom>
          <a:noFill/>
          <a:ln/>
        </p:spPr>
        <p:txBody>
          <a:bodyPr wrap="none" lIns="25400" tIns="25400" rIns="25400" bIns="25400" rtlCol="0" anchor="t">
            <a:normAutofit/>
          </a:bodyPr>
          <a:lstStyle/>
          <a:p>
            <a:pPr algn="l" indent="0" marL="0">
              <a:buNone/>
            </a:pPr>
            <a:r>
              <a:rPr lang="en-US" sz="1425" b="1" spc="75" kern="0" dirty="0">
                <a:solidFill>
                  <a:srgbClr val="3F7A33"/>
                </a:solidFill>
                <a:latin typeface="Courier New" pitchFamily="34" charset="0"/>
                <a:ea typeface="Courier New" pitchFamily="34" charset="-122"/>
                <a:cs typeface="Courier New" pitchFamily="34" charset="-120"/>
              </a:rPr>
              <a:t>DEV TOOLS</a:t>
            </a:r>
            <a:endParaRPr lang="en-US" sz="1425" dirty="0"/>
          </a:p>
        </p:txBody>
      </p:sp>
      <p:sp>
        <p:nvSpPr>
          <p:cNvPr id="26" name="Text 24"/>
          <p:cNvSpPr/>
          <p:nvPr/>
        </p:nvSpPr>
        <p:spPr>
          <a:xfrm>
            <a:off x="2663428" y="5994797"/>
            <a:ext cx="2878229" cy="676275"/>
          </a:xfrm>
          <a:prstGeom prst="rect">
            <a:avLst/>
          </a:prstGeom>
          <a:noFill/>
          <a:ln/>
        </p:spPr>
        <p:txBody>
          <a:bodyPr wrap="square" lIns="25400" tIns="25400" rIns="25400" bIns="25400" rtlCol="0" anchor="t">
            <a:normAutofit/>
          </a:bodyPr>
          <a:lstStyle/>
          <a:p>
            <a:pPr algn="l" indent="0" marL="0">
              <a:lnSpc>
                <a:spcPct val="134000"/>
              </a:lnSpc>
              <a:buNone/>
            </a:pPr>
            <a:r>
              <a:rPr lang="en-US" sz="1875" dirty="0">
                <a:solidFill>
                  <a:srgbClr val="3A4450"/>
                </a:solidFill>
                <a:latin typeface="Arial" pitchFamily="34" charset="0"/>
                <a:ea typeface="Arial" pitchFamily="34" charset="-122"/>
                <a:cs typeface="Arial" pitchFamily="34" charset="-120"/>
              </a:rPr>
              <a:t>Git Browser · Integrations (webhooks)</a:t>
            </a:r>
            <a:endParaRPr lang="en-US" sz="1875" dirty="0"/>
          </a:p>
        </p:txBody>
      </p:sp>
      <p:sp>
        <p:nvSpPr>
          <p:cNvPr id="27" name="Text 25"/>
          <p:cNvSpPr/>
          <p:nvPr/>
        </p:nvSpPr>
        <p:spPr>
          <a:xfrm>
            <a:off x="1143000" y="8870752"/>
            <a:ext cx="4709160" cy="692348"/>
          </a:xfrm>
          <a:prstGeom prst="rect">
            <a:avLst/>
          </a:prstGeom>
          <a:noFill/>
          <a:ln/>
        </p:spPr>
        <p:txBody>
          <a:bodyPr wrap="square" lIns="25400" tIns="25400" rIns="25400" bIns="25400" rtlCol="0" anchor="t">
            <a:normAutofit/>
          </a:bodyPr>
          <a:lstStyle/>
          <a:p>
            <a:pPr algn="l" indent="0" marL="0">
              <a:lnSpc>
                <a:spcPct val="145000"/>
              </a:lnSpc>
              <a:buNone/>
            </a:pPr>
            <a:r>
              <a:rPr lang="en-US" sz="1725" dirty="0">
                <a:solidFill>
                  <a:srgbClr val="C2541F"/>
                </a:solidFill>
                <a:latin typeface="Courier New" pitchFamily="34" charset="0"/>
                <a:ea typeface="Courier New" pitchFamily="34" charset="-122"/>
                <a:cs typeface="Courier New" pitchFamily="34" charset="-120"/>
              </a:rPr>
              <a:t>Tip › </a:t>
            </a:r>
            <a:pPr algn="l" indent="0" marL="0">
              <a:lnSpc>
                <a:spcPct val="145000"/>
              </a:lnSpc>
              <a:buNone/>
            </a:pPr>
            <a:r>
              <a:rPr lang="en-US" sz="1725" dirty="0">
                <a:solidFill>
                  <a:srgbClr val="5A6675"/>
                </a:solidFill>
                <a:latin typeface="Arial" pitchFamily="34" charset="0"/>
                <a:ea typeface="Arial" pitchFamily="34" charset="-122"/>
                <a:cs typeface="Arial" pitchFamily="34" charset="-120"/>
              </a:rPr>
              <a:t>The Scan Project card also offers </a:t>
            </a:r>
            <a:pPr algn="l" indent="0" marL="0">
              <a:lnSpc>
                <a:spcPct val="145000"/>
              </a:lnSpc>
              <a:buNone/>
            </a:pPr>
            <a:r>
              <a:rPr lang="en-US" sz="1725" b="1" dirty="0">
                <a:solidFill>
                  <a:srgbClr val="1C2530"/>
                </a:solidFill>
                <a:latin typeface="Arial" pitchFamily="34" charset="0"/>
                <a:ea typeface="Arial" pitchFamily="34" charset="-122"/>
                <a:cs typeface="Arial" pitchFamily="34" charset="-120"/>
              </a:rPr>
              <a:t>Re-run last </a:t>
            </a:r>
            <a:pPr algn="l" indent="0" marL="0">
              <a:lnSpc>
                <a:spcPct val="145000"/>
              </a:lnSpc>
              <a:buNone/>
            </a:pPr>
            <a:r>
              <a:rPr lang="en-US" sz="1725" dirty="0">
                <a:solidFill>
                  <a:srgbClr val="5A6675"/>
                </a:solidFill>
                <a:latin typeface="Arial" pitchFamily="34" charset="0"/>
                <a:ea typeface="Arial" pitchFamily="34" charset="-122"/>
                <a:cs typeface="Arial" pitchFamily="34" charset="-120"/>
              </a:rPr>
              <a:t>, </a:t>
            </a:r>
            <a:pPr algn="l" indent="0" marL="0">
              <a:lnSpc>
                <a:spcPct val="145000"/>
              </a:lnSpc>
              <a:buNone/>
            </a:pPr>
            <a:r>
              <a:rPr lang="en-US" sz="1725" b="1" dirty="0">
                <a:solidFill>
                  <a:srgbClr val="1C2530"/>
                </a:solidFill>
                <a:latin typeface="Arial" pitchFamily="34" charset="0"/>
                <a:ea typeface="Arial" pitchFamily="34" charset="-122"/>
                <a:cs typeface="Arial" pitchFamily="34" charset="-120"/>
              </a:rPr>
              <a:t>Load from config</a:t>
            </a:r>
            <a:pPr algn="l" indent="0" marL="0">
              <a:lnSpc>
                <a:spcPct val="145000"/>
              </a:lnSpc>
              <a:buNone/>
            </a:pPr>
            <a:r>
              <a:rPr lang="en-US" sz="1725" dirty="0">
                <a:solidFill>
                  <a:srgbClr val="5A6675"/>
                </a:solidFill>
                <a:latin typeface="Arial" pitchFamily="34" charset="0"/>
                <a:ea typeface="Arial" pitchFamily="34" charset="-122"/>
                <a:cs typeface="Arial" pitchFamily="34" charset="-120"/>
              </a:rPr>
              <a:t>, and </a:t>
            </a:r>
            <a:pPr algn="l" indent="0" marL="0">
              <a:lnSpc>
                <a:spcPct val="145000"/>
              </a:lnSpc>
              <a:buNone/>
            </a:pPr>
            <a:r>
              <a:rPr lang="en-US" sz="1725" b="1" dirty="0">
                <a:solidFill>
                  <a:srgbClr val="1C2530"/>
                </a:solidFill>
                <a:latin typeface="Arial" pitchFamily="34" charset="0"/>
                <a:ea typeface="Arial" pitchFamily="34" charset="-122"/>
                <a:cs typeface="Arial" pitchFamily="34" charset="-120"/>
              </a:rPr>
              <a:t>Browse history</a:t>
            </a:r>
            <a:pPr algn="l" indent="0" marL="0">
              <a:lnSpc>
                <a:spcPct val="145000"/>
              </a:lnSpc>
              <a:buNone/>
            </a:pPr>
            <a:r>
              <a:rPr lang="en-US" sz="1725" dirty="0">
                <a:solidFill>
                  <a:srgbClr val="5A6675"/>
                </a:solidFill>
                <a:latin typeface="Arial" pitchFamily="34" charset="0"/>
                <a:ea typeface="Arial" pitchFamily="34" charset="-122"/>
                <a:cs typeface="Arial" pitchFamily="34" charset="-120"/>
              </a:rPr>
              <a:t>.</a:t>
            </a:r>
            <a:endParaRPr lang="en-US" sz="1725" dirty="0"/>
          </a:p>
        </p:txBody>
      </p:sp>
      <p:sp>
        <p:nvSpPr>
          <p:cNvPr id="28" name="Shape 26"/>
          <p:cNvSpPr/>
          <p:nvPr/>
        </p:nvSpPr>
        <p:spPr>
          <a:xfrm>
            <a:off x="6286500" y="753219"/>
            <a:ext cx="11334750" cy="8351937"/>
          </a:xfrm>
          <a:prstGeom prst="roundRect">
            <a:avLst>
              <a:gd name="adj" fmla="val 1597"/>
            </a:avLst>
          </a:prstGeom>
          <a:solidFill>
            <a:srgbClr val="FFFFFF"/>
          </a:solidFill>
          <a:ln w="9525">
            <a:solidFill>
              <a:srgbClr val="D9CDBB"/>
            </a:solidFill>
            <a:prstDash val="solid"/>
          </a:ln>
          <a:effectLst>
            <a:outerShdw sx="100000" sy="100000" kx="0" ky="0" algn="bl" rotWithShape="0" blurRad="476250" dist="190500" dir="5400000">
              <a:srgbClr val="1C2530">
                <a:alpha val="13000"/>
              </a:srgbClr>
            </a:outerShdw>
          </a:effectLst>
        </p:spPr>
      </p:sp>
      <p:pic>
        <p:nvPicPr>
          <p:cNvPr id="29" name="Image 0" descr="preencoded.png">    </p:cNvPr>
          <p:cNvPicPr>
            <a:picLocks noChangeAspect="1"/>
          </p:cNvPicPr>
          <p:nvPr/>
        </p:nvPicPr>
        <p:blipFill>
          <a:blip r:embed="rId1"/>
          <a:stretch>
            <a:fillRect/>
          </a:stretch>
        </p:blipFill>
        <p:spPr>
          <a:xfrm>
            <a:off x="6410325" y="877044"/>
            <a:ext cx="11087100" cy="8104287"/>
          </a:xfrm>
          <a:prstGeom prst="rect">
            <a:avLst/>
          </a:prstGeom>
        </p:spPr>
      </p:pic>
      <p:sp>
        <p:nvSpPr>
          <p:cNvPr id="30" name="Text 27"/>
          <p:cNvSpPr/>
          <p:nvPr/>
        </p:nvSpPr>
        <p:spPr>
          <a:xfrm>
            <a:off x="5719763" y="9276606"/>
            <a:ext cx="12468225" cy="295275"/>
          </a:xfrm>
          <a:prstGeom prst="rect">
            <a:avLst/>
          </a:prstGeom>
          <a:noFill/>
          <a:ln/>
        </p:spPr>
        <p:txBody>
          <a:bodyPr wrap="square" lIns="25400" tIns="25400" rIns="25400" bIns="25400" rtlCol="0" anchor="t">
            <a:normAutofit/>
          </a:bodyPr>
          <a:lstStyle/>
          <a:p>
            <a:pPr algn="ctr" indent="0" marL="0">
              <a:buNone/>
            </a:pPr>
            <a:r>
              <a:rPr lang="en-US" sz="1500" dirty="0">
                <a:solidFill>
                  <a:srgbClr val="8A93A0"/>
                </a:solidFill>
                <a:latin typeface="Courier New" pitchFamily="34" charset="0"/>
                <a:ea typeface="Courier New" pitchFamily="34" charset="-122"/>
                <a:cs typeface="Courier New" pitchFamily="34" charset="-120"/>
              </a:rPr>
              <a:t>127.0.0.1:4317 — Home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1450" cy="10287000"/>
          </a:xfrm>
          <a:prstGeom prst="rect">
            <a:avLst/>
          </a:prstGeom>
          <a:gradFill rotWithShape="1">
            <a:gsLst>
              <a:gs pos="0">
                <a:srgbClr val="B4480F">
                  <a:alpha val="100000"/>
                </a:srgbClr>
              </a:gs>
              <a:gs pos="100000">
                <a:srgbClr val="D2691E">
                  <a:alpha val="100000"/>
                </a:srgbClr>
              </a:gs>
            </a:gsLst>
            <a:lin ang="5400000" scaled="0"/>
          </a:gradFill>
          <a:ln/>
        </p:spPr>
      </p:sp>
      <p:sp>
        <p:nvSpPr>
          <p:cNvPr id="3" name="Text 1"/>
          <p:cNvSpPr/>
          <p:nvPr/>
        </p:nvSpPr>
        <p:spPr>
          <a:xfrm>
            <a:off x="10650141" y="2095500"/>
            <a:ext cx="7458670" cy="6134100"/>
          </a:xfrm>
          <a:prstGeom prst="rect">
            <a:avLst/>
          </a:prstGeom>
          <a:noFill/>
          <a:ln/>
        </p:spPr>
        <p:txBody>
          <a:bodyPr wrap="square" lIns="25400" tIns="25400" rIns="25400" bIns="25400" rtlCol="0" anchor="t">
            <a:normAutofit/>
          </a:bodyPr>
          <a:lstStyle/>
          <a:p>
            <a:pPr algn="l" indent="0" marL="0">
              <a:lnSpc>
                <a:spcPct val="120000"/>
              </a:lnSpc>
              <a:buNone/>
            </a:pPr>
            <a:r>
              <a:rPr lang="en-US" sz="40000" b="1" dirty="0">
                <a:solidFill>
                  <a:srgbClr val="F4F6F8"/>
                </a:solidFill>
                <a:latin typeface="Arial" pitchFamily="34" charset="0"/>
                <a:ea typeface="Arial" pitchFamily="34" charset="-122"/>
                <a:cs typeface="Arial" pitchFamily="34" charset="-120"/>
              </a:rPr>
              <a:t>01</a:t>
            </a:r>
            <a:endParaRPr lang="en-US" sz="40000" dirty="0"/>
          </a:p>
        </p:txBody>
      </p:sp>
      <p:sp>
        <p:nvSpPr>
          <p:cNvPr id="4" name="Shape 2"/>
          <p:cNvSpPr/>
          <p:nvPr/>
        </p:nvSpPr>
        <p:spPr>
          <a:xfrm>
            <a:off x="1143000" y="3801517"/>
            <a:ext cx="400050" cy="28575"/>
          </a:xfrm>
          <a:prstGeom prst="rect">
            <a:avLst/>
          </a:prstGeom>
          <a:solidFill>
            <a:srgbClr val="C2541F"/>
          </a:solidFill>
          <a:ln/>
        </p:spPr>
      </p:sp>
      <p:sp>
        <p:nvSpPr>
          <p:cNvPr id="5" name="Text 3"/>
          <p:cNvSpPr/>
          <p:nvPr/>
        </p:nvSpPr>
        <p:spPr>
          <a:xfrm>
            <a:off x="1676400" y="3663404"/>
            <a:ext cx="2137410" cy="342900"/>
          </a:xfrm>
          <a:prstGeom prst="rect">
            <a:avLst/>
          </a:prstGeom>
          <a:noFill/>
          <a:ln/>
        </p:spPr>
        <p:txBody>
          <a:bodyPr wrap="square" lIns="25400" tIns="25400" rIns="25400" bIns="25400" rtlCol="0" anchor="t">
            <a:normAutofit/>
          </a:bodyPr>
          <a:lstStyle/>
          <a:p>
            <a:pPr algn="l" indent="0" marL="0">
              <a:buNone/>
            </a:pPr>
            <a:r>
              <a:rPr lang="en-US" sz="1800" spc="450" kern="0" dirty="0">
                <a:solidFill>
                  <a:srgbClr val="8A93A0"/>
                </a:solidFill>
                <a:latin typeface="Courier New" pitchFamily="34" charset="0"/>
                <a:ea typeface="Courier New" pitchFamily="34" charset="-122"/>
                <a:cs typeface="Courier New" pitchFamily="34" charset="-120"/>
              </a:rPr>
              <a:t>SECTION 01</a:t>
            </a:r>
            <a:endParaRPr lang="en-US" sz="1800" dirty="0"/>
          </a:p>
        </p:txBody>
      </p:sp>
      <p:sp>
        <p:nvSpPr>
          <p:cNvPr id="6" name="Text 4"/>
          <p:cNvSpPr/>
          <p:nvPr/>
        </p:nvSpPr>
        <p:spPr>
          <a:xfrm>
            <a:off x="1143000" y="4234904"/>
            <a:ext cx="10477500" cy="1158180"/>
          </a:xfrm>
          <a:prstGeom prst="rect">
            <a:avLst/>
          </a:prstGeom>
          <a:noFill/>
          <a:ln/>
        </p:spPr>
        <p:txBody>
          <a:bodyPr wrap="square" lIns="25400" tIns="25400" rIns="25400" bIns="25400" rtlCol="0" anchor="t">
            <a:normAutofit/>
          </a:bodyPr>
          <a:lstStyle/>
          <a:p>
            <a:pPr algn="l" indent="0" marL="0">
              <a:lnSpc>
                <a:spcPct val="98000"/>
              </a:lnSpc>
              <a:buNone/>
            </a:pPr>
            <a:r>
              <a:rPr lang="en-US" sz="9000" b="1" spc="-150" kern="0" dirty="0">
                <a:solidFill>
                  <a:srgbClr val="1C2530"/>
                </a:solidFill>
                <a:latin typeface="Arial" pitchFamily="34" charset="0"/>
                <a:ea typeface="Arial" pitchFamily="34" charset="-122"/>
                <a:cs typeface="Arial" pitchFamily="34" charset="-120"/>
              </a:rPr>
              <a:t>Running a Scan</a:t>
            </a:r>
            <a:endParaRPr lang="en-US" sz="9000" dirty="0"/>
          </a:p>
        </p:txBody>
      </p:sp>
      <p:sp>
        <p:nvSpPr>
          <p:cNvPr id="7" name="Text 5"/>
          <p:cNvSpPr/>
          <p:nvPr/>
        </p:nvSpPr>
        <p:spPr>
          <a:xfrm>
            <a:off x="1143000" y="5697885"/>
            <a:ext cx="9810750" cy="963811"/>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5A6675"/>
                </a:solidFill>
                <a:latin typeface="Arial" pitchFamily="34" charset="0"/>
                <a:ea typeface="Arial" pitchFamily="34" charset="-122"/>
                <a:cs typeface="Arial" pitchFamily="34" charset="-120"/>
              </a:rPr>
              <a:t>The guided flow, the one-click Quick Scan, and the two ways people get there.</a:t>
            </a:r>
            <a:endParaRPr lang="en-US" sz="2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1143000" y="952500"/>
            <a:ext cx="323850" cy="28575"/>
          </a:xfrm>
          <a:prstGeom prst="rect">
            <a:avLst/>
          </a:prstGeom>
          <a:solidFill>
            <a:srgbClr val="C2541F"/>
          </a:solidFill>
          <a:ln/>
        </p:spPr>
      </p:sp>
      <p:sp>
        <p:nvSpPr>
          <p:cNvPr id="3" name="Text 1"/>
          <p:cNvSpPr/>
          <p:nvPr/>
        </p:nvSpPr>
        <p:spPr>
          <a:xfrm>
            <a:off x="1600200" y="838200"/>
            <a:ext cx="4086225" cy="295275"/>
          </a:xfrm>
          <a:prstGeom prst="rect">
            <a:avLst/>
          </a:prstGeom>
          <a:noFill/>
          <a:ln/>
        </p:spPr>
        <p:txBody>
          <a:bodyPr wrap="square" lIns="25400" tIns="25400" rIns="25400" bIns="25400" rtlCol="0" anchor="t">
            <a:normAutofit/>
          </a:bodyPr>
          <a:lstStyle/>
          <a:p>
            <a:pPr algn="l" indent="0" marL="0">
              <a:buNone/>
            </a:pPr>
            <a:r>
              <a:rPr lang="en-US" sz="1500" spc="225" kern="0" dirty="0">
                <a:solidFill>
                  <a:srgbClr val="C2541F"/>
                </a:solidFill>
                <a:latin typeface="Courier New" pitchFamily="34" charset="0"/>
                <a:ea typeface="Courier New" pitchFamily="34" charset="-122"/>
                <a:cs typeface="Courier New" pitchFamily="34" charset="-120"/>
              </a:rPr>
              <a:t>FROM HOME › START SCANNING</a:t>
            </a:r>
            <a:endParaRPr lang="en-US" sz="1500" dirty="0"/>
          </a:p>
        </p:txBody>
      </p:sp>
      <p:sp>
        <p:nvSpPr>
          <p:cNvPr id="4" name="Text 2"/>
          <p:cNvSpPr/>
          <p:nvPr/>
        </p:nvSpPr>
        <p:spPr>
          <a:xfrm>
            <a:off x="1143000" y="1247775"/>
            <a:ext cx="17602200" cy="714375"/>
          </a:xfrm>
          <a:prstGeom prst="rect">
            <a:avLst/>
          </a:prstGeom>
          <a:noFill/>
          <a:ln/>
        </p:spPr>
        <p:txBody>
          <a:bodyPr wrap="square" lIns="25400" tIns="25400" rIns="25400" bIns="25400" rtlCol="0" anchor="t">
            <a:normAutofit/>
          </a:bodyPr>
          <a:lstStyle/>
          <a:p>
            <a:pPr algn="l" indent="0" marL="0">
              <a:buNone/>
            </a:pPr>
            <a:r>
              <a:rPr lang="en-US" sz="4650" b="1" spc="-75" kern="0" dirty="0">
                <a:solidFill>
                  <a:srgbClr val="1C2530"/>
                </a:solidFill>
                <a:latin typeface="Arial" pitchFamily="34" charset="0"/>
                <a:ea typeface="Arial" pitchFamily="34" charset="-122"/>
                <a:cs typeface="Arial" pitchFamily="34" charset="-120"/>
              </a:rPr>
              <a:t>The Guided Scan Flow</a:t>
            </a:r>
            <a:endParaRPr lang="en-US" sz="4650" dirty="0"/>
          </a:p>
        </p:txBody>
      </p:sp>
      <p:sp>
        <p:nvSpPr>
          <p:cNvPr id="5" name="Shape 3"/>
          <p:cNvSpPr/>
          <p:nvPr/>
        </p:nvSpPr>
        <p:spPr>
          <a:xfrm>
            <a:off x="1143000" y="2343150"/>
            <a:ext cx="3702248" cy="5948958"/>
          </a:xfrm>
          <a:prstGeom prst="roundRect">
            <a:avLst>
              <a:gd name="adj" fmla="val 4116"/>
            </a:avLst>
          </a:prstGeom>
          <a:solidFill>
            <a:srgbClr val="FFFFFF"/>
          </a:solidFill>
          <a:ln w="9525">
            <a:solidFill>
              <a:srgbClr val="E3E8ED"/>
            </a:solidFill>
            <a:prstDash val="solid"/>
          </a:ln>
          <a:effectLst>
            <a:outerShdw sx="100000" sy="100000" kx="0" ky="0" algn="bl" rotWithShape="0" blurRad="28575" dist="9525" dir="5400000">
              <a:srgbClr val="1C2530">
                <a:alpha val="4000"/>
              </a:srgbClr>
            </a:outerShdw>
          </a:effectLst>
        </p:spPr>
      </p:sp>
      <p:sp>
        <p:nvSpPr>
          <p:cNvPr id="6" name="Shape 4"/>
          <p:cNvSpPr/>
          <p:nvPr/>
        </p:nvSpPr>
        <p:spPr>
          <a:xfrm>
            <a:off x="1438275" y="2714625"/>
            <a:ext cx="571500" cy="571500"/>
          </a:xfrm>
          <a:prstGeom prst="roundRect">
            <a:avLst>
              <a:gd name="adj" fmla="val 23333"/>
            </a:avLst>
          </a:prstGeom>
          <a:solidFill>
            <a:srgbClr val="1C2530"/>
          </a:solidFill>
          <a:ln/>
        </p:spPr>
      </p:sp>
      <p:sp>
        <p:nvSpPr>
          <p:cNvPr id="7" name="Text 5"/>
          <p:cNvSpPr/>
          <p:nvPr/>
        </p:nvSpPr>
        <p:spPr>
          <a:xfrm>
            <a:off x="1400175" y="2714625"/>
            <a:ext cx="647700" cy="609600"/>
          </a:xfrm>
          <a:prstGeom prst="rect">
            <a:avLst/>
          </a:prstGeom>
          <a:noFill/>
          <a:ln/>
        </p:spPr>
        <p:txBody>
          <a:bodyPr wrap="square" lIns="25400" tIns="25400" rIns="25400" bIns="25400" rtlCol="0" anchor="ctr">
            <a:normAutofit/>
          </a:bodyPr>
          <a:lstStyle/>
          <a:p>
            <a:pPr algn="ctr" indent="0" marL="0">
              <a:buNone/>
            </a:pPr>
            <a:r>
              <a:rPr lang="en-US" sz="2250" b="1" dirty="0">
                <a:solidFill>
                  <a:srgbClr val="FFFFFF"/>
                </a:solidFill>
                <a:latin typeface="Arial" pitchFamily="34" charset="0"/>
                <a:ea typeface="Arial" pitchFamily="34" charset="-122"/>
                <a:cs typeface="Arial" pitchFamily="34" charset="-120"/>
              </a:rPr>
              <a:t>1</a:t>
            </a:r>
            <a:endParaRPr lang="en-US" sz="2250" dirty="0"/>
          </a:p>
        </p:txBody>
      </p:sp>
      <p:sp>
        <p:nvSpPr>
          <p:cNvPr id="8" name="Text 6"/>
          <p:cNvSpPr/>
          <p:nvPr/>
        </p:nvSpPr>
        <p:spPr>
          <a:xfrm>
            <a:off x="1438275" y="3533775"/>
            <a:ext cx="3422868" cy="390525"/>
          </a:xfrm>
          <a:prstGeom prst="rect">
            <a:avLst/>
          </a:prstGeom>
          <a:noFill/>
          <a:ln/>
        </p:spPr>
        <p:txBody>
          <a:bodyPr wrap="square" lIns="25400" tIns="25400" rIns="25400" bIns="25400" rtlCol="0" anchor="t">
            <a:normAutofit/>
          </a:bodyPr>
          <a:lstStyle/>
          <a:p>
            <a:pPr algn="l" indent="0" marL="0">
              <a:buNone/>
            </a:pPr>
            <a:r>
              <a:rPr lang="en-US" sz="2175" b="1" dirty="0">
                <a:solidFill>
                  <a:srgbClr val="1C2530"/>
                </a:solidFill>
                <a:latin typeface="Arial" pitchFamily="34" charset="0"/>
                <a:ea typeface="Arial" pitchFamily="34" charset="-122"/>
                <a:cs typeface="Arial" pitchFamily="34" charset="-120"/>
              </a:rPr>
              <a:t>Select Project</a:t>
            </a:r>
            <a:endParaRPr lang="en-US" sz="2175" dirty="0"/>
          </a:p>
        </p:txBody>
      </p:sp>
      <p:sp>
        <p:nvSpPr>
          <p:cNvPr id="9" name="Text 7"/>
          <p:cNvSpPr/>
          <p:nvPr/>
        </p:nvSpPr>
        <p:spPr>
          <a:xfrm>
            <a:off x="1438275" y="4019550"/>
            <a:ext cx="3205049" cy="660202"/>
          </a:xfrm>
          <a:prstGeom prst="rect">
            <a:avLst/>
          </a:prstGeom>
          <a:noFill/>
          <a:ln/>
        </p:spPr>
        <p:txBody>
          <a:bodyPr wrap="square" lIns="25400" tIns="25400" rIns="25400" bIns="25400" rtlCol="0" anchor="t">
            <a:normAutofit/>
          </a:bodyPr>
          <a:lstStyle/>
          <a:p>
            <a:pPr algn="l" indent="0" marL="0">
              <a:lnSpc>
                <a:spcPct val="142000"/>
              </a:lnSpc>
              <a:buNone/>
            </a:pPr>
            <a:r>
              <a:rPr lang="en-US" sz="1725" dirty="0">
                <a:solidFill>
                  <a:srgbClr val="5A6675"/>
                </a:solidFill>
                <a:latin typeface="Arial" pitchFamily="34" charset="0"/>
                <a:ea typeface="Arial" pitchFamily="34" charset="-122"/>
                <a:cs typeface="Arial" pitchFamily="34" charset="-120"/>
              </a:rPr>
              <a:t>Point at the folder you want to measure.</a:t>
            </a:r>
            <a:endParaRPr lang="en-US" sz="1725" dirty="0"/>
          </a:p>
        </p:txBody>
      </p:sp>
      <p:sp>
        <p:nvSpPr>
          <p:cNvPr id="10" name="Text 8"/>
          <p:cNvSpPr/>
          <p:nvPr/>
        </p:nvSpPr>
        <p:spPr>
          <a:xfrm>
            <a:off x="4997648" y="2343150"/>
            <a:ext cx="168920" cy="5987058"/>
          </a:xfrm>
          <a:prstGeom prst="rect">
            <a:avLst/>
          </a:prstGeom>
          <a:noFill/>
          <a:ln/>
        </p:spPr>
        <p:txBody>
          <a:bodyPr wrap="square" lIns="25400" tIns="25400" rIns="25400" bIns="25400" rtlCol="0" anchor="ctr">
            <a:normAutofit/>
          </a:bodyPr>
          <a:lstStyle/>
          <a:p>
            <a:pPr algn="l" indent="0" marL="0">
              <a:buNone/>
            </a:pPr>
            <a:r>
              <a:rPr lang="en-US" sz="2400" dirty="0">
                <a:solidFill>
                  <a:srgbClr val="C2541F"/>
                </a:solidFill>
                <a:latin typeface="Arial" pitchFamily="34" charset="0"/>
                <a:ea typeface="Arial" pitchFamily="34" charset="-122"/>
                <a:cs typeface="Arial" pitchFamily="34" charset="-120"/>
              </a:rPr>
              <a:t>›</a:t>
            </a:r>
            <a:endParaRPr lang="en-US" sz="2400" dirty="0"/>
          </a:p>
        </p:txBody>
      </p:sp>
      <p:sp>
        <p:nvSpPr>
          <p:cNvPr id="11" name="Shape 9"/>
          <p:cNvSpPr/>
          <p:nvPr/>
        </p:nvSpPr>
        <p:spPr>
          <a:xfrm>
            <a:off x="5242768" y="2343150"/>
            <a:ext cx="3702397" cy="5948958"/>
          </a:xfrm>
          <a:prstGeom prst="roundRect">
            <a:avLst>
              <a:gd name="adj" fmla="val 4116"/>
            </a:avLst>
          </a:prstGeom>
          <a:solidFill>
            <a:srgbClr val="FFFFFF"/>
          </a:solidFill>
          <a:ln w="9525">
            <a:solidFill>
              <a:srgbClr val="E3E8ED"/>
            </a:solidFill>
            <a:prstDash val="solid"/>
          </a:ln>
          <a:effectLst>
            <a:outerShdw sx="100000" sy="100000" kx="0" ky="0" algn="bl" rotWithShape="0" blurRad="28575" dist="9525" dir="5400000">
              <a:srgbClr val="1C2530">
                <a:alpha val="4000"/>
              </a:srgbClr>
            </a:outerShdw>
          </a:effectLst>
        </p:spPr>
      </p:sp>
      <p:sp>
        <p:nvSpPr>
          <p:cNvPr id="12" name="Shape 10"/>
          <p:cNvSpPr/>
          <p:nvPr/>
        </p:nvSpPr>
        <p:spPr>
          <a:xfrm>
            <a:off x="5538043" y="2714625"/>
            <a:ext cx="571500" cy="571500"/>
          </a:xfrm>
          <a:prstGeom prst="roundRect">
            <a:avLst>
              <a:gd name="adj" fmla="val 23333"/>
            </a:avLst>
          </a:prstGeom>
          <a:solidFill>
            <a:srgbClr val="1C2530"/>
          </a:solidFill>
          <a:ln/>
        </p:spPr>
      </p:sp>
      <p:sp>
        <p:nvSpPr>
          <p:cNvPr id="13" name="Text 11"/>
          <p:cNvSpPr/>
          <p:nvPr/>
        </p:nvSpPr>
        <p:spPr>
          <a:xfrm>
            <a:off x="5499943" y="2714625"/>
            <a:ext cx="647700" cy="609600"/>
          </a:xfrm>
          <a:prstGeom prst="rect">
            <a:avLst/>
          </a:prstGeom>
          <a:noFill/>
          <a:ln/>
        </p:spPr>
        <p:txBody>
          <a:bodyPr wrap="square" lIns="25400" tIns="25400" rIns="25400" bIns="25400" rtlCol="0" anchor="ctr">
            <a:normAutofit/>
          </a:bodyPr>
          <a:lstStyle/>
          <a:p>
            <a:pPr algn="ctr" indent="0" marL="0">
              <a:buNone/>
            </a:pPr>
            <a:r>
              <a:rPr lang="en-US" sz="2250" b="1" dirty="0">
                <a:solidFill>
                  <a:srgbClr val="FFFFFF"/>
                </a:solidFill>
                <a:latin typeface="Arial" pitchFamily="34" charset="0"/>
                <a:ea typeface="Arial" pitchFamily="34" charset="-122"/>
                <a:cs typeface="Arial" pitchFamily="34" charset="-120"/>
              </a:rPr>
              <a:t>2</a:t>
            </a:r>
            <a:endParaRPr lang="en-US" sz="2250" dirty="0"/>
          </a:p>
        </p:txBody>
      </p:sp>
      <p:sp>
        <p:nvSpPr>
          <p:cNvPr id="14" name="Text 12"/>
          <p:cNvSpPr/>
          <p:nvPr/>
        </p:nvSpPr>
        <p:spPr>
          <a:xfrm>
            <a:off x="5538043" y="3533775"/>
            <a:ext cx="3423032" cy="390525"/>
          </a:xfrm>
          <a:prstGeom prst="rect">
            <a:avLst/>
          </a:prstGeom>
          <a:noFill/>
          <a:ln/>
        </p:spPr>
        <p:txBody>
          <a:bodyPr wrap="square" lIns="25400" tIns="25400" rIns="25400" bIns="25400" rtlCol="0" anchor="t">
            <a:normAutofit/>
          </a:bodyPr>
          <a:lstStyle/>
          <a:p>
            <a:pPr algn="l" indent="0" marL="0">
              <a:buNone/>
            </a:pPr>
            <a:r>
              <a:rPr lang="en-US" sz="2175" b="1" dirty="0">
                <a:solidFill>
                  <a:srgbClr val="1C2530"/>
                </a:solidFill>
                <a:latin typeface="Arial" pitchFamily="34" charset="0"/>
                <a:ea typeface="Arial" pitchFamily="34" charset="-122"/>
                <a:cs typeface="Arial" pitchFamily="34" charset="-120"/>
              </a:rPr>
              <a:t>Counting Rules</a:t>
            </a:r>
            <a:endParaRPr lang="en-US" sz="2175" dirty="0"/>
          </a:p>
        </p:txBody>
      </p:sp>
      <p:sp>
        <p:nvSpPr>
          <p:cNvPr id="15" name="Text 13"/>
          <p:cNvSpPr/>
          <p:nvPr/>
        </p:nvSpPr>
        <p:spPr>
          <a:xfrm>
            <a:off x="5538043" y="4019550"/>
            <a:ext cx="3205203" cy="660202"/>
          </a:xfrm>
          <a:prstGeom prst="rect">
            <a:avLst/>
          </a:prstGeom>
          <a:noFill/>
          <a:ln/>
        </p:spPr>
        <p:txBody>
          <a:bodyPr wrap="square" lIns="25400" tIns="25400" rIns="25400" bIns="25400" rtlCol="0" anchor="t">
            <a:normAutofit/>
          </a:bodyPr>
          <a:lstStyle/>
          <a:p>
            <a:pPr algn="l" indent="0" marL="0">
              <a:lnSpc>
                <a:spcPct val="142000"/>
              </a:lnSpc>
              <a:buNone/>
            </a:pPr>
            <a:r>
              <a:rPr lang="en-US" sz="1725" dirty="0">
                <a:solidFill>
                  <a:srgbClr val="5A6675"/>
                </a:solidFill>
                <a:latin typeface="Arial" pitchFamily="34" charset="0"/>
                <a:ea typeface="Arial" pitchFamily="34" charset="-122"/>
                <a:cs typeface="Arial" pitchFamily="34" charset="-120"/>
              </a:rPr>
              <a:t>IEEE 1045 policies — defaults are fine to leave.</a:t>
            </a:r>
            <a:endParaRPr lang="en-US" sz="1725" dirty="0"/>
          </a:p>
        </p:txBody>
      </p:sp>
      <p:sp>
        <p:nvSpPr>
          <p:cNvPr id="16" name="Text 14"/>
          <p:cNvSpPr/>
          <p:nvPr/>
        </p:nvSpPr>
        <p:spPr>
          <a:xfrm>
            <a:off x="9097566" y="2343150"/>
            <a:ext cx="168920" cy="5987058"/>
          </a:xfrm>
          <a:prstGeom prst="rect">
            <a:avLst/>
          </a:prstGeom>
          <a:noFill/>
          <a:ln/>
        </p:spPr>
        <p:txBody>
          <a:bodyPr wrap="square" lIns="25400" tIns="25400" rIns="25400" bIns="25400" rtlCol="0" anchor="ctr">
            <a:normAutofit/>
          </a:bodyPr>
          <a:lstStyle/>
          <a:p>
            <a:pPr algn="l" indent="0" marL="0">
              <a:buNone/>
            </a:pPr>
            <a:r>
              <a:rPr lang="en-US" sz="2400" dirty="0">
                <a:solidFill>
                  <a:srgbClr val="C2541F"/>
                </a:solidFill>
                <a:latin typeface="Arial" pitchFamily="34" charset="0"/>
                <a:ea typeface="Arial" pitchFamily="34" charset="-122"/>
                <a:cs typeface="Arial" pitchFamily="34" charset="-120"/>
              </a:rPr>
              <a:t>›</a:t>
            </a:r>
            <a:endParaRPr lang="en-US" sz="2400" dirty="0"/>
          </a:p>
        </p:txBody>
      </p:sp>
      <p:sp>
        <p:nvSpPr>
          <p:cNvPr id="17" name="Shape 15"/>
          <p:cNvSpPr/>
          <p:nvPr/>
        </p:nvSpPr>
        <p:spPr>
          <a:xfrm>
            <a:off x="9342686" y="2343150"/>
            <a:ext cx="3702397" cy="5948958"/>
          </a:xfrm>
          <a:prstGeom prst="roundRect">
            <a:avLst>
              <a:gd name="adj" fmla="val 4116"/>
            </a:avLst>
          </a:prstGeom>
          <a:solidFill>
            <a:srgbClr val="FFFFFF"/>
          </a:solidFill>
          <a:ln w="9525">
            <a:solidFill>
              <a:srgbClr val="E3E8ED"/>
            </a:solidFill>
            <a:prstDash val="solid"/>
          </a:ln>
          <a:effectLst>
            <a:outerShdw sx="100000" sy="100000" kx="0" ky="0" algn="bl" rotWithShape="0" blurRad="28575" dist="9525" dir="5400000">
              <a:srgbClr val="1C2530">
                <a:alpha val="4000"/>
              </a:srgbClr>
            </a:outerShdw>
          </a:effectLst>
        </p:spPr>
      </p:sp>
      <p:sp>
        <p:nvSpPr>
          <p:cNvPr id="18" name="Shape 16"/>
          <p:cNvSpPr/>
          <p:nvPr/>
        </p:nvSpPr>
        <p:spPr>
          <a:xfrm>
            <a:off x="9637961" y="2714625"/>
            <a:ext cx="571500" cy="571500"/>
          </a:xfrm>
          <a:prstGeom prst="roundRect">
            <a:avLst>
              <a:gd name="adj" fmla="val 23333"/>
            </a:avLst>
          </a:prstGeom>
          <a:solidFill>
            <a:srgbClr val="1C2530"/>
          </a:solidFill>
          <a:ln/>
        </p:spPr>
      </p:sp>
      <p:sp>
        <p:nvSpPr>
          <p:cNvPr id="19" name="Text 17"/>
          <p:cNvSpPr/>
          <p:nvPr/>
        </p:nvSpPr>
        <p:spPr>
          <a:xfrm>
            <a:off x="9599861" y="2714625"/>
            <a:ext cx="647700" cy="609600"/>
          </a:xfrm>
          <a:prstGeom prst="rect">
            <a:avLst/>
          </a:prstGeom>
          <a:noFill/>
          <a:ln/>
        </p:spPr>
        <p:txBody>
          <a:bodyPr wrap="square" lIns="25400" tIns="25400" rIns="25400" bIns="25400" rtlCol="0" anchor="ctr">
            <a:normAutofit/>
          </a:bodyPr>
          <a:lstStyle/>
          <a:p>
            <a:pPr algn="ctr" indent="0" marL="0">
              <a:buNone/>
            </a:pPr>
            <a:r>
              <a:rPr lang="en-US" sz="2250" b="1" dirty="0">
                <a:solidFill>
                  <a:srgbClr val="FFFFFF"/>
                </a:solidFill>
                <a:latin typeface="Arial" pitchFamily="34" charset="0"/>
                <a:ea typeface="Arial" pitchFamily="34" charset="-122"/>
                <a:cs typeface="Arial" pitchFamily="34" charset="-120"/>
              </a:rPr>
              <a:t>3</a:t>
            </a:r>
            <a:endParaRPr lang="en-US" sz="2250" dirty="0"/>
          </a:p>
        </p:txBody>
      </p:sp>
      <p:sp>
        <p:nvSpPr>
          <p:cNvPr id="20" name="Text 18"/>
          <p:cNvSpPr/>
          <p:nvPr/>
        </p:nvSpPr>
        <p:spPr>
          <a:xfrm>
            <a:off x="9637961" y="3533775"/>
            <a:ext cx="3423032" cy="390525"/>
          </a:xfrm>
          <a:prstGeom prst="rect">
            <a:avLst/>
          </a:prstGeom>
          <a:noFill/>
          <a:ln/>
        </p:spPr>
        <p:txBody>
          <a:bodyPr wrap="square" lIns="25400" tIns="25400" rIns="25400" bIns="25400" rtlCol="0" anchor="t">
            <a:normAutofit/>
          </a:bodyPr>
          <a:lstStyle/>
          <a:p>
            <a:pPr algn="l" indent="0" marL="0">
              <a:buNone/>
            </a:pPr>
            <a:r>
              <a:rPr lang="en-US" sz="2175" b="1" dirty="0">
                <a:solidFill>
                  <a:srgbClr val="1C2530"/>
                </a:solidFill>
                <a:latin typeface="Arial" pitchFamily="34" charset="0"/>
                <a:ea typeface="Arial" pitchFamily="34" charset="-122"/>
                <a:cs typeface="Arial" pitchFamily="34" charset="-120"/>
              </a:rPr>
              <a:t>Outputs</a:t>
            </a:r>
            <a:endParaRPr lang="en-US" sz="2175" dirty="0"/>
          </a:p>
        </p:txBody>
      </p:sp>
      <p:sp>
        <p:nvSpPr>
          <p:cNvPr id="21" name="Text 19"/>
          <p:cNvSpPr/>
          <p:nvPr/>
        </p:nvSpPr>
        <p:spPr>
          <a:xfrm>
            <a:off x="9637961" y="4019550"/>
            <a:ext cx="3205203" cy="660202"/>
          </a:xfrm>
          <a:prstGeom prst="rect">
            <a:avLst/>
          </a:prstGeom>
          <a:noFill/>
          <a:ln/>
        </p:spPr>
        <p:txBody>
          <a:bodyPr wrap="square" lIns="25400" tIns="25400" rIns="25400" bIns="25400" rtlCol="0" anchor="t">
            <a:normAutofit/>
          </a:bodyPr>
          <a:lstStyle/>
          <a:p>
            <a:pPr algn="l" indent="0" marL="0">
              <a:lnSpc>
                <a:spcPct val="142000"/>
              </a:lnSpc>
              <a:buNone/>
            </a:pPr>
            <a:r>
              <a:rPr lang="en-US" sz="1725" dirty="0">
                <a:solidFill>
                  <a:srgbClr val="5A6675"/>
                </a:solidFill>
                <a:latin typeface="Arial" pitchFamily="34" charset="0"/>
                <a:ea typeface="Arial" pitchFamily="34" charset="-122"/>
                <a:cs typeface="Arial" pitchFamily="34" charset="-120"/>
              </a:rPr>
              <a:t>Pick formats: HTML, PDF, CSV, Excel.</a:t>
            </a:r>
            <a:endParaRPr lang="en-US" sz="1725" dirty="0"/>
          </a:p>
        </p:txBody>
      </p:sp>
      <p:sp>
        <p:nvSpPr>
          <p:cNvPr id="22" name="Text 20"/>
          <p:cNvSpPr/>
          <p:nvPr/>
        </p:nvSpPr>
        <p:spPr>
          <a:xfrm>
            <a:off x="13197483" y="2343150"/>
            <a:ext cx="168920" cy="5987058"/>
          </a:xfrm>
          <a:prstGeom prst="rect">
            <a:avLst/>
          </a:prstGeom>
          <a:noFill/>
          <a:ln/>
        </p:spPr>
        <p:txBody>
          <a:bodyPr wrap="square" lIns="25400" tIns="25400" rIns="25400" bIns="25400" rtlCol="0" anchor="ctr">
            <a:normAutofit/>
          </a:bodyPr>
          <a:lstStyle/>
          <a:p>
            <a:pPr algn="l" indent="0" marL="0">
              <a:buNone/>
            </a:pPr>
            <a:r>
              <a:rPr lang="en-US" sz="2400" dirty="0">
                <a:solidFill>
                  <a:srgbClr val="C2541F"/>
                </a:solidFill>
                <a:latin typeface="Arial" pitchFamily="34" charset="0"/>
                <a:ea typeface="Arial" pitchFamily="34" charset="-122"/>
                <a:cs typeface="Arial" pitchFamily="34" charset="-120"/>
              </a:rPr>
              <a:t>›</a:t>
            </a:r>
            <a:endParaRPr lang="en-US" sz="2400" dirty="0"/>
          </a:p>
        </p:txBody>
      </p:sp>
      <p:sp>
        <p:nvSpPr>
          <p:cNvPr id="23" name="Shape 21"/>
          <p:cNvSpPr/>
          <p:nvPr/>
        </p:nvSpPr>
        <p:spPr>
          <a:xfrm>
            <a:off x="13442603" y="2343150"/>
            <a:ext cx="3702397" cy="5948958"/>
          </a:xfrm>
          <a:prstGeom prst="roundRect">
            <a:avLst>
              <a:gd name="adj" fmla="val 4116"/>
            </a:avLst>
          </a:prstGeom>
          <a:solidFill>
            <a:srgbClr val="FFFFFF"/>
          </a:solidFill>
          <a:ln w="9525">
            <a:solidFill>
              <a:srgbClr val="E3E8ED"/>
            </a:solidFill>
            <a:prstDash val="solid"/>
          </a:ln>
          <a:effectLst>
            <a:outerShdw sx="100000" sy="100000" kx="0" ky="0" algn="bl" rotWithShape="0" blurRad="28575" dist="9525" dir="5400000">
              <a:srgbClr val="1C2530">
                <a:alpha val="4000"/>
              </a:srgbClr>
            </a:outerShdw>
          </a:effectLst>
        </p:spPr>
      </p:sp>
      <p:sp>
        <p:nvSpPr>
          <p:cNvPr id="24" name="Shape 22"/>
          <p:cNvSpPr/>
          <p:nvPr/>
        </p:nvSpPr>
        <p:spPr>
          <a:xfrm>
            <a:off x="13737878" y="2714625"/>
            <a:ext cx="571500" cy="571500"/>
          </a:xfrm>
          <a:prstGeom prst="roundRect">
            <a:avLst>
              <a:gd name="adj" fmla="val 23333"/>
            </a:avLst>
          </a:prstGeom>
          <a:solidFill>
            <a:srgbClr val="C2541F"/>
          </a:solidFill>
          <a:ln/>
        </p:spPr>
      </p:sp>
      <p:sp>
        <p:nvSpPr>
          <p:cNvPr id="25" name="Text 23"/>
          <p:cNvSpPr/>
          <p:nvPr/>
        </p:nvSpPr>
        <p:spPr>
          <a:xfrm>
            <a:off x="13699778" y="2714625"/>
            <a:ext cx="647700" cy="609600"/>
          </a:xfrm>
          <a:prstGeom prst="rect">
            <a:avLst/>
          </a:prstGeom>
          <a:noFill/>
          <a:ln/>
        </p:spPr>
        <p:txBody>
          <a:bodyPr wrap="square" lIns="25400" tIns="25400" rIns="25400" bIns="25400" rtlCol="0" anchor="ctr">
            <a:normAutofit/>
          </a:bodyPr>
          <a:lstStyle/>
          <a:p>
            <a:pPr algn="ctr" indent="0" marL="0">
              <a:buNone/>
            </a:pPr>
            <a:r>
              <a:rPr lang="en-US" sz="2250" b="1" dirty="0">
                <a:solidFill>
                  <a:srgbClr val="FFFFFF"/>
                </a:solidFill>
                <a:latin typeface="Arial" pitchFamily="34" charset="0"/>
                <a:ea typeface="Arial" pitchFamily="34" charset="-122"/>
                <a:cs typeface="Arial" pitchFamily="34" charset="-120"/>
              </a:rPr>
              <a:t>4</a:t>
            </a:r>
            <a:endParaRPr lang="en-US" sz="2250" dirty="0"/>
          </a:p>
        </p:txBody>
      </p:sp>
      <p:sp>
        <p:nvSpPr>
          <p:cNvPr id="26" name="Text 24"/>
          <p:cNvSpPr/>
          <p:nvPr/>
        </p:nvSpPr>
        <p:spPr>
          <a:xfrm>
            <a:off x="13737878" y="3533775"/>
            <a:ext cx="3423032" cy="390525"/>
          </a:xfrm>
          <a:prstGeom prst="rect">
            <a:avLst/>
          </a:prstGeom>
          <a:noFill/>
          <a:ln/>
        </p:spPr>
        <p:txBody>
          <a:bodyPr wrap="square" lIns="25400" tIns="25400" rIns="25400" bIns="25400" rtlCol="0" anchor="t">
            <a:normAutofit/>
          </a:bodyPr>
          <a:lstStyle/>
          <a:p>
            <a:pPr algn="l" indent="0" marL="0">
              <a:buNone/>
            </a:pPr>
            <a:r>
              <a:rPr lang="en-US" sz="2175" b="1" dirty="0">
                <a:solidFill>
                  <a:srgbClr val="1C2530"/>
                </a:solidFill>
                <a:latin typeface="Arial" pitchFamily="34" charset="0"/>
                <a:ea typeface="Arial" pitchFamily="34" charset="-122"/>
                <a:cs typeface="Arial" pitchFamily="34" charset="-120"/>
              </a:rPr>
              <a:t>Review &amp; Run</a:t>
            </a:r>
            <a:endParaRPr lang="en-US" sz="2175" dirty="0"/>
          </a:p>
        </p:txBody>
      </p:sp>
      <p:sp>
        <p:nvSpPr>
          <p:cNvPr id="27" name="Text 25"/>
          <p:cNvSpPr/>
          <p:nvPr/>
        </p:nvSpPr>
        <p:spPr>
          <a:xfrm>
            <a:off x="13737878" y="4019550"/>
            <a:ext cx="3205203" cy="660202"/>
          </a:xfrm>
          <a:prstGeom prst="rect">
            <a:avLst/>
          </a:prstGeom>
          <a:noFill/>
          <a:ln/>
        </p:spPr>
        <p:txBody>
          <a:bodyPr wrap="square" lIns="25400" tIns="25400" rIns="25400" bIns="25400" rtlCol="0" anchor="t">
            <a:normAutofit/>
          </a:bodyPr>
          <a:lstStyle/>
          <a:p>
            <a:pPr algn="l" indent="0" marL="0">
              <a:lnSpc>
                <a:spcPct val="142000"/>
              </a:lnSpc>
              <a:buNone/>
            </a:pPr>
            <a:r>
              <a:rPr lang="en-US" sz="1725" dirty="0">
                <a:solidFill>
                  <a:srgbClr val="5A6675"/>
                </a:solidFill>
                <a:latin typeface="Arial" pitchFamily="34" charset="0"/>
                <a:ea typeface="Arial" pitchFamily="34" charset="-122"/>
                <a:cs typeface="Arial" pitchFamily="34" charset="-120"/>
              </a:rPr>
              <a:t>Confirm the summary and launch the scan.</a:t>
            </a:r>
            <a:endParaRPr lang="en-US" sz="1725" dirty="0"/>
          </a:p>
        </p:txBody>
      </p:sp>
      <p:sp>
        <p:nvSpPr>
          <p:cNvPr id="28" name="Shape 26"/>
          <p:cNvSpPr/>
          <p:nvPr/>
        </p:nvSpPr>
        <p:spPr>
          <a:xfrm>
            <a:off x="1143000" y="8596908"/>
            <a:ext cx="16002000" cy="928092"/>
          </a:xfrm>
          <a:prstGeom prst="roundRect">
            <a:avLst>
              <a:gd name="adj" fmla="val 14368"/>
            </a:avLst>
          </a:prstGeom>
          <a:solidFill>
            <a:srgbClr val="1C2530"/>
          </a:solidFill>
          <a:ln/>
        </p:spPr>
      </p:sp>
      <p:sp>
        <p:nvSpPr>
          <p:cNvPr id="29" name="Text 27"/>
          <p:cNvSpPr/>
          <p:nvPr/>
        </p:nvSpPr>
        <p:spPr>
          <a:xfrm>
            <a:off x="1504950" y="8918079"/>
            <a:ext cx="2089443" cy="323850"/>
          </a:xfrm>
          <a:prstGeom prst="rect">
            <a:avLst/>
          </a:prstGeom>
          <a:noFill/>
          <a:ln/>
        </p:spPr>
        <p:txBody>
          <a:bodyPr wrap="none" lIns="25400" tIns="25400" rIns="25400" bIns="25400" rtlCol="0" anchor="t">
            <a:normAutofit/>
          </a:bodyPr>
          <a:lstStyle/>
          <a:p>
            <a:pPr algn="l" indent="0" marL="0">
              <a:buNone/>
            </a:pPr>
            <a:r>
              <a:rPr lang="en-US" sz="1650" spc="150" kern="0" dirty="0">
                <a:solidFill>
                  <a:srgbClr val="8FD08F"/>
                </a:solidFill>
                <a:latin typeface="Courier New" pitchFamily="34" charset="0"/>
                <a:ea typeface="Courier New" pitchFamily="34" charset="-122"/>
                <a:cs typeface="Courier New" pitchFamily="34" charset="-120"/>
              </a:rPr>
              <a:t>QUICK SCAN ⚡</a:t>
            </a:r>
            <a:endParaRPr lang="en-US" sz="1650" dirty="0"/>
          </a:p>
        </p:txBody>
      </p:sp>
      <p:sp>
        <p:nvSpPr>
          <p:cNvPr id="30" name="Text 28"/>
          <p:cNvSpPr/>
          <p:nvPr/>
        </p:nvSpPr>
        <p:spPr>
          <a:xfrm>
            <a:off x="3633043" y="8882658"/>
            <a:ext cx="12827898" cy="394692"/>
          </a:xfrm>
          <a:prstGeom prst="rect">
            <a:avLst/>
          </a:prstGeom>
          <a:noFill/>
          <a:ln/>
        </p:spPr>
        <p:txBody>
          <a:bodyPr wrap="square" lIns="25400" tIns="25400" rIns="25400" bIns="25400" rtlCol="0" anchor="t">
            <a:normAutofit/>
          </a:bodyPr>
          <a:lstStyle/>
          <a:p>
            <a:pPr algn="l" indent="0" marL="0">
              <a:lnSpc>
                <a:spcPct val="135000"/>
              </a:lnSpc>
              <a:buNone/>
            </a:pPr>
            <a:r>
              <a:rPr lang="en-US" sz="2025" dirty="0">
                <a:solidFill>
                  <a:srgbClr val="E7EBF0"/>
                </a:solidFill>
                <a:latin typeface="Arial" pitchFamily="34" charset="0"/>
                <a:ea typeface="Arial" pitchFamily="34" charset="-122"/>
                <a:cs typeface="Arial" pitchFamily="34" charset="-120"/>
              </a:rPr>
              <a:t>In a hurry? </a:t>
            </a:r>
            <a:pPr algn="l" indent="0" marL="0">
              <a:lnSpc>
                <a:spcPct val="135000"/>
              </a:lnSpc>
              <a:buNone/>
            </a:pPr>
            <a:r>
              <a:rPr lang="en-US" sz="2025" b="1" dirty="0">
                <a:solidFill>
                  <a:srgbClr val="FFFFFF"/>
                </a:solidFill>
                <a:latin typeface="Arial" pitchFamily="34" charset="0"/>
                <a:ea typeface="Arial" pitchFamily="34" charset="-122"/>
                <a:cs typeface="Arial" pitchFamily="34" charset="-120"/>
              </a:rPr>
              <a:t>Quick Scan </a:t>
            </a:r>
            <a:pPr algn="l" indent="0" marL="0">
              <a:lnSpc>
                <a:spcPct val="135000"/>
              </a:lnSpc>
              <a:buNone/>
            </a:pPr>
            <a:r>
              <a:rPr lang="en-US" sz="2025" dirty="0">
                <a:solidFill>
                  <a:srgbClr val="E7EBF0"/>
                </a:solidFill>
                <a:latin typeface="Arial" pitchFamily="34" charset="0"/>
                <a:ea typeface="Arial" pitchFamily="34" charset="-122"/>
                <a:cs typeface="Arial" pitchFamily="34" charset="-120"/>
              </a:rPr>
              <a:t>submits straight from step 1 with every default applied — one click, full report.</a:t>
            </a:r>
            <a:endParaRPr lang="en-US" sz="20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43000" y="876300"/>
            <a:ext cx="323850" cy="28575"/>
          </a:xfrm>
          <a:prstGeom prst="rect">
            <a:avLst/>
          </a:prstGeom>
          <a:solidFill>
            <a:srgbClr val="C2541F"/>
          </a:solidFill>
          <a:ln/>
        </p:spPr>
      </p:sp>
      <p:sp>
        <p:nvSpPr>
          <p:cNvPr id="3" name="Text 1"/>
          <p:cNvSpPr/>
          <p:nvPr/>
        </p:nvSpPr>
        <p:spPr>
          <a:xfrm>
            <a:off x="1600200" y="762000"/>
            <a:ext cx="3614738" cy="295275"/>
          </a:xfrm>
          <a:prstGeom prst="rect">
            <a:avLst/>
          </a:prstGeom>
          <a:noFill/>
          <a:ln/>
        </p:spPr>
        <p:txBody>
          <a:bodyPr wrap="square" lIns="25400" tIns="25400" rIns="25400" bIns="25400" rtlCol="0" anchor="t">
            <a:normAutofit/>
          </a:bodyPr>
          <a:lstStyle/>
          <a:p>
            <a:pPr algn="l" indent="0" marL="0">
              <a:buNone/>
            </a:pPr>
            <a:r>
              <a:rPr lang="en-US" sz="1500" spc="225" kern="0" dirty="0">
                <a:solidFill>
                  <a:srgbClr val="C2541F"/>
                </a:solidFill>
                <a:latin typeface="Courier New" pitchFamily="34" charset="0"/>
                <a:ea typeface="Courier New" pitchFamily="34" charset="-122"/>
                <a:cs typeface="Courier New" pitchFamily="34" charset="-120"/>
              </a:rPr>
              <a:t>SAME TOOL, TWO MINDSETS</a:t>
            </a:r>
            <a:endParaRPr lang="en-US" sz="1500" dirty="0"/>
          </a:p>
        </p:txBody>
      </p:sp>
      <p:sp>
        <p:nvSpPr>
          <p:cNvPr id="4" name="Text 2"/>
          <p:cNvSpPr/>
          <p:nvPr/>
        </p:nvSpPr>
        <p:spPr>
          <a:xfrm>
            <a:off x="1143000" y="1152525"/>
            <a:ext cx="17602200" cy="676275"/>
          </a:xfrm>
          <a:prstGeom prst="rect">
            <a:avLst/>
          </a:prstGeom>
          <a:noFill/>
          <a:ln/>
        </p:spPr>
        <p:txBody>
          <a:bodyPr wrap="square" lIns="25400" tIns="25400" rIns="25400" bIns="25400" rtlCol="0" anchor="t">
            <a:normAutofit/>
          </a:bodyPr>
          <a:lstStyle/>
          <a:p>
            <a:pPr algn="l" indent="0" marL="0">
              <a:buNone/>
            </a:pPr>
            <a:r>
              <a:rPr lang="en-US" sz="4350" b="1" spc="-75" kern="0" dirty="0">
                <a:solidFill>
                  <a:srgbClr val="1C2530"/>
                </a:solidFill>
                <a:latin typeface="Arial" pitchFamily="34" charset="0"/>
                <a:ea typeface="Arial" pitchFamily="34" charset="-122"/>
                <a:cs typeface="Arial" pitchFamily="34" charset="-120"/>
              </a:rPr>
              <a:t>Two Ways In</a:t>
            </a:r>
            <a:endParaRPr lang="en-US" sz="4350" dirty="0"/>
          </a:p>
        </p:txBody>
      </p:sp>
      <p:sp>
        <p:nvSpPr>
          <p:cNvPr id="5" name="Shape 3"/>
          <p:cNvSpPr/>
          <p:nvPr/>
        </p:nvSpPr>
        <p:spPr>
          <a:xfrm>
            <a:off x="1143000" y="2095500"/>
            <a:ext cx="7858125" cy="6943725"/>
          </a:xfrm>
          <a:prstGeom prst="roundRect">
            <a:avLst>
              <a:gd name="adj" fmla="val 2195"/>
            </a:avLst>
          </a:prstGeom>
          <a:solidFill>
            <a:srgbClr val="F4F6F8"/>
          </a:solidFill>
          <a:ln w="9525">
            <a:solidFill>
              <a:srgbClr val="E3E8ED"/>
            </a:solidFill>
            <a:prstDash val="solid"/>
          </a:ln>
        </p:spPr>
      </p:sp>
      <p:sp>
        <p:nvSpPr>
          <p:cNvPr id="6" name="Text 4"/>
          <p:cNvSpPr/>
          <p:nvPr/>
        </p:nvSpPr>
        <p:spPr>
          <a:xfrm>
            <a:off x="1533525" y="2466975"/>
            <a:ext cx="876300" cy="2952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C2541F"/>
                </a:solidFill>
                <a:latin typeface="Courier New" pitchFamily="34" charset="0"/>
                <a:ea typeface="Courier New" pitchFamily="34" charset="-122"/>
                <a:cs typeface="Courier New" pitchFamily="34" charset="-120"/>
              </a:rPr>
              <a:t>PATH A</a:t>
            </a:r>
            <a:endParaRPr lang="en-US" sz="1500" dirty="0"/>
          </a:p>
        </p:txBody>
      </p:sp>
      <p:sp>
        <p:nvSpPr>
          <p:cNvPr id="7" name="Text 5"/>
          <p:cNvSpPr/>
          <p:nvPr/>
        </p:nvSpPr>
        <p:spPr>
          <a:xfrm>
            <a:off x="6450211" y="2486025"/>
            <a:ext cx="2376428" cy="257175"/>
          </a:xfrm>
          <a:prstGeom prst="rect">
            <a:avLst/>
          </a:prstGeom>
          <a:noFill/>
          <a:ln/>
        </p:spPr>
        <p:txBody>
          <a:bodyPr wrap="square" lIns="25400" tIns="25400" rIns="25400" bIns="25400" rtlCol="0" anchor="t">
            <a:normAutofit/>
          </a:bodyPr>
          <a:lstStyle/>
          <a:p>
            <a:pPr algn="l" indent="0" marL="0">
              <a:buNone/>
            </a:pPr>
            <a:r>
              <a:rPr lang="en-US" sz="1350" dirty="0">
                <a:solidFill>
                  <a:srgbClr val="8A93A0"/>
                </a:solidFill>
                <a:latin typeface="Courier New" pitchFamily="34" charset="0"/>
                <a:ea typeface="Courier New" pitchFamily="34" charset="-122"/>
                <a:cs typeface="Courier New" pitchFamily="34" charset="-120"/>
              </a:rPr>
              <a:t>engineers, tech leads</a:t>
            </a:r>
            <a:endParaRPr lang="en-US" sz="1350" dirty="0"/>
          </a:p>
        </p:txBody>
      </p:sp>
      <p:sp>
        <p:nvSpPr>
          <p:cNvPr id="8" name="Text 6"/>
          <p:cNvSpPr/>
          <p:nvPr/>
        </p:nvSpPr>
        <p:spPr>
          <a:xfrm>
            <a:off x="1533525" y="2781300"/>
            <a:ext cx="7784783" cy="476250"/>
          </a:xfrm>
          <a:prstGeom prst="rect">
            <a:avLst/>
          </a:prstGeom>
          <a:noFill/>
          <a:ln/>
        </p:spPr>
        <p:txBody>
          <a:bodyPr wrap="square" lIns="25400" tIns="25400" rIns="25400" bIns="25400" rtlCol="0" anchor="t">
            <a:normAutofit/>
          </a:bodyPr>
          <a:lstStyle/>
          <a:p>
            <a:pPr algn="l" indent="0" marL="0">
              <a:buNone/>
            </a:pPr>
            <a:r>
              <a:rPr lang="en-US" sz="2700" b="1" dirty="0">
                <a:solidFill>
                  <a:srgbClr val="1C2530"/>
                </a:solidFill>
                <a:latin typeface="Arial" pitchFamily="34" charset="0"/>
                <a:ea typeface="Arial" pitchFamily="34" charset="-122"/>
                <a:cs typeface="Arial" pitchFamily="34" charset="-120"/>
              </a:rPr>
              <a:t>The Developer</a:t>
            </a:r>
            <a:endParaRPr lang="en-US" sz="2700" dirty="0"/>
          </a:p>
        </p:txBody>
      </p:sp>
      <p:sp>
        <p:nvSpPr>
          <p:cNvPr id="9" name="Text 7"/>
          <p:cNvSpPr/>
          <p:nvPr/>
        </p:nvSpPr>
        <p:spPr>
          <a:xfrm>
            <a:off x="1533525" y="3276600"/>
            <a:ext cx="7784783" cy="295275"/>
          </a:xfrm>
          <a:prstGeom prst="rect">
            <a:avLst/>
          </a:prstGeom>
          <a:noFill/>
          <a:ln/>
        </p:spPr>
        <p:txBody>
          <a:bodyPr wrap="square" lIns="25400" tIns="25400" rIns="25400" bIns="25400" rtlCol="0" anchor="t">
            <a:normAutofit/>
          </a:bodyPr>
          <a:lstStyle/>
          <a:p>
            <a:pPr algn="l" indent="0" marL="0">
              <a:buNone/>
            </a:pPr>
            <a:r>
              <a:rPr lang="en-US" sz="1725" i="1" dirty="0">
                <a:solidFill>
                  <a:srgbClr val="8A93A0"/>
                </a:solidFill>
                <a:latin typeface="Arial" pitchFamily="34" charset="0"/>
                <a:ea typeface="Arial" pitchFamily="34" charset="-122"/>
                <a:cs typeface="Arial" pitchFamily="34" charset="-120"/>
              </a:rPr>
              <a:t>“SLOC metrics for code I wrote.”</a:t>
            </a:r>
            <a:endParaRPr lang="en-US" sz="1725" dirty="0"/>
          </a:p>
        </p:txBody>
      </p:sp>
      <p:sp>
        <p:nvSpPr>
          <p:cNvPr id="10" name="Shape 8"/>
          <p:cNvSpPr/>
          <p:nvPr/>
        </p:nvSpPr>
        <p:spPr>
          <a:xfrm>
            <a:off x="1533525" y="3800475"/>
            <a:ext cx="304800" cy="304800"/>
          </a:xfrm>
          <a:prstGeom prst="roundRect">
            <a:avLst>
              <a:gd name="adj" fmla="val 25000"/>
            </a:avLst>
          </a:prstGeom>
          <a:solidFill>
            <a:srgbClr val="C2541F"/>
          </a:solidFill>
          <a:ln/>
        </p:spPr>
      </p:sp>
      <p:sp>
        <p:nvSpPr>
          <p:cNvPr id="11" name="Text 9"/>
          <p:cNvSpPr/>
          <p:nvPr/>
        </p:nvSpPr>
        <p:spPr>
          <a:xfrm>
            <a:off x="1495425" y="3800475"/>
            <a:ext cx="381000" cy="342900"/>
          </a:xfrm>
          <a:prstGeom prst="rect">
            <a:avLst/>
          </a:prstGeom>
          <a:noFill/>
          <a:ln/>
        </p:spPr>
        <p:txBody>
          <a:bodyPr wrap="square" lIns="25400" tIns="25400" rIns="25400" bIns="25400" rtlCol="0" anchor="ctr">
            <a:normAutofit/>
          </a:bodyPr>
          <a:lstStyle/>
          <a:p>
            <a:pPr algn="ctr" indent="0" marL="0">
              <a:buNone/>
            </a:pPr>
            <a:r>
              <a:rPr lang="en-US" sz="1350" dirty="0">
                <a:solidFill>
                  <a:srgbClr val="FFFFFF"/>
                </a:solidFill>
                <a:latin typeface="Courier New" pitchFamily="34" charset="0"/>
                <a:ea typeface="Courier New" pitchFamily="34" charset="-122"/>
                <a:cs typeface="Courier New" pitchFamily="34" charset="-120"/>
              </a:rPr>
              <a:t>1</a:t>
            </a:r>
            <a:endParaRPr lang="en-US" sz="1350" dirty="0"/>
          </a:p>
        </p:txBody>
      </p:sp>
      <p:sp>
        <p:nvSpPr>
          <p:cNvPr id="12" name="Text 10"/>
          <p:cNvSpPr/>
          <p:nvPr/>
        </p:nvSpPr>
        <p:spPr>
          <a:xfrm>
            <a:off x="1990725" y="3800475"/>
            <a:ext cx="5413102" cy="361950"/>
          </a:xfrm>
          <a:prstGeom prst="rect">
            <a:avLst/>
          </a:prstGeom>
          <a:noFill/>
          <a:ln/>
        </p:spPr>
        <p:txBody>
          <a:bodyPr wrap="square" lIns="25400" tIns="25400" rIns="25400" bIns="25400" rtlCol="0" anchor="t">
            <a:normAutofit/>
          </a:bodyPr>
          <a:lstStyle/>
          <a:p>
            <a:pPr algn="l" indent="0" marL="0">
              <a:lnSpc>
                <a:spcPct val="136000"/>
              </a:lnSpc>
              <a:buNone/>
            </a:pPr>
            <a:r>
              <a:rPr lang="en-US" sz="1875" dirty="0">
                <a:solidFill>
                  <a:srgbClr val="3A4450"/>
                </a:solidFill>
                <a:latin typeface="Arial" pitchFamily="34" charset="0"/>
                <a:ea typeface="Arial" pitchFamily="34" charset="-122"/>
                <a:cs typeface="Arial" pitchFamily="34" charset="-120"/>
              </a:rPr>
              <a:t>Home › </a:t>
            </a:r>
            <a:pPr algn="l" indent="0" marL="0">
              <a:lnSpc>
                <a:spcPct val="136000"/>
              </a:lnSpc>
              <a:buNone/>
            </a:pPr>
            <a:r>
              <a:rPr lang="en-US" sz="1875" b="1" dirty="0">
                <a:solidFill>
                  <a:srgbClr val="3A4450"/>
                </a:solidFill>
                <a:latin typeface="Arial" pitchFamily="34" charset="0"/>
                <a:ea typeface="Arial" pitchFamily="34" charset="-122"/>
                <a:cs typeface="Arial" pitchFamily="34" charset="-120"/>
              </a:rPr>
              <a:t>Start scanning</a:t>
            </a:r>
            <a:pPr algn="l" indent="0" marL="0">
              <a:lnSpc>
                <a:spcPct val="136000"/>
              </a:lnSpc>
              <a:buNone/>
            </a:pPr>
            <a:r>
              <a:rPr lang="en-US" sz="1875" dirty="0">
                <a:solidFill>
                  <a:srgbClr val="3A4450"/>
                </a:solidFill>
                <a:latin typeface="Arial" pitchFamily="34" charset="0"/>
                <a:ea typeface="Arial" pitchFamily="34" charset="-122"/>
                <a:cs typeface="Arial" pitchFamily="34" charset="-120"/>
              </a:rPr>
              <a:t>, select your repo folder.</a:t>
            </a:r>
            <a:endParaRPr lang="en-US" sz="1875" dirty="0"/>
          </a:p>
        </p:txBody>
      </p:sp>
      <p:sp>
        <p:nvSpPr>
          <p:cNvPr id="13" name="Shape 11"/>
          <p:cNvSpPr/>
          <p:nvPr/>
        </p:nvSpPr>
        <p:spPr>
          <a:xfrm>
            <a:off x="1533525" y="4295775"/>
            <a:ext cx="304800" cy="304800"/>
          </a:xfrm>
          <a:prstGeom prst="roundRect">
            <a:avLst>
              <a:gd name="adj" fmla="val 25000"/>
            </a:avLst>
          </a:prstGeom>
          <a:solidFill>
            <a:srgbClr val="C2541F"/>
          </a:solidFill>
          <a:ln/>
        </p:spPr>
      </p:sp>
      <p:sp>
        <p:nvSpPr>
          <p:cNvPr id="14" name="Text 12"/>
          <p:cNvSpPr/>
          <p:nvPr/>
        </p:nvSpPr>
        <p:spPr>
          <a:xfrm>
            <a:off x="1495425" y="4295775"/>
            <a:ext cx="381000" cy="342900"/>
          </a:xfrm>
          <a:prstGeom prst="rect">
            <a:avLst/>
          </a:prstGeom>
          <a:noFill/>
          <a:ln/>
        </p:spPr>
        <p:txBody>
          <a:bodyPr wrap="square" lIns="25400" tIns="25400" rIns="25400" bIns="25400" rtlCol="0" anchor="ctr">
            <a:normAutofit/>
          </a:bodyPr>
          <a:lstStyle/>
          <a:p>
            <a:pPr algn="ctr" indent="0" marL="0">
              <a:buNone/>
            </a:pPr>
            <a:r>
              <a:rPr lang="en-US" sz="1350" dirty="0">
                <a:solidFill>
                  <a:srgbClr val="FFFFFF"/>
                </a:solidFill>
                <a:latin typeface="Courier New" pitchFamily="34" charset="0"/>
                <a:ea typeface="Courier New" pitchFamily="34" charset="-122"/>
                <a:cs typeface="Courier New" pitchFamily="34" charset="-120"/>
              </a:rPr>
              <a:t>2</a:t>
            </a:r>
            <a:endParaRPr lang="en-US" sz="1350" dirty="0"/>
          </a:p>
        </p:txBody>
      </p:sp>
      <p:sp>
        <p:nvSpPr>
          <p:cNvPr id="15" name="Text 13"/>
          <p:cNvSpPr/>
          <p:nvPr/>
        </p:nvSpPr>
        <p:spPr>
          <a:xfrm>
            <a:off x="1990725" y="4295775"/>
            <a:ext cx="6030129" cy="361950"/>
          </a:xfrm>
          <a:prstGeom prst="rect">
            <a:avLst/>
          </a:prstGeom>
          <a:noFill/>
          <a:ln/>
        </p:spPr>
        <p:txBody>
          <a:bodyPr wrap="square" lIns="25400" tIns="25400" rIns="25400" bIns="25400" rtlCol="0" anchor="t">
            <a:normAutofit/>
          </a:bodyPr>
          <a:lstStyle/>
          <a:p>
            <a:pPr algn="l" indent="0" marL="0">
              <a:lnSpc>
                <a:spcPct val="136000"/>
              </a:lnSpc>
              <a:buNone/>
            </a:pPr>
            <a:r>
              <a:rPr lang="en-US" sz="1875" dirty="0">
                <a:solidFill>
                  <a:srgbClr val="3A4450"/>
                </a:solidFill>
                <a:latin typeface="Arial" pitchFamily="34" charset="0"/>
                <a:ea typeface="Arial" pitchFamily="34" charset="-122"/>
                <a:cs typeface="Arial" pitchFamily="34" charset="-120"/>
              </a:rPr>
              <a:t>Tune counting rules &amp; languages for IEEE precision.</a:t>
            </a:r>
            <a:endParaRPr lang="en-US" sz="1875" dirty="0"/>
          </a:p>
        </p:txBody>
      </p:sp>
      <p:sp>
        <p:nvSpPr>
          <p:cNvPr id="16" name="Shape 14"/>
          <p:cNvSpPr/>
          <p:nvPr/>
        </p:nvSpPr>
        <p:spPr>
          <a:xfrm>
            <a:off x="1533525" y="4791075"/>
            <a:ext cx="304800" cy="304800"/>
          </a:xfrm>
          <a:prstGeom prst="roundRect">
            <a:avLst>
              <a:gd name="adj" fmla="val 25000"/>
            </a:avLst>
          </a:prstGeom>
          <a:solidFill>
            <a:srgbClr val="C2541F"/>
          </a:solidFill>
          <a:ln/>
        </p:spPr>
      </p:sp>
      <p:sp>
        <p:nvSpPr>
          <p:cNvPr id="17" name="Text 15"/>
          <p:cNvSpPr/>
          <p:nvPr/>
        </p:nvSpPr>
        <p:spPr>
          <a:xfrm>
            <a:off x="1495425" y="4791075"/>
            <a:ext cx="381000" cy="342900"/>
          </a:xfrm>
          <a:prstGeom prst="rect">
            <a:avLst/>
          </a:prstGeom>
          <a:noFill/>
          <a:ln/>
        </p:spPr>
        <p:txBody>
          <a:bodyPr wrap="square" lIns="25400" tIns="25400" rIns="25400" bIns="25400" rtlCol="0" anchor="ctr">
            <a:normAutofit/>
          </a:bodyPr>
          <a:lstStyle/>
          <a:p>
            <a:pPr algn="ctr" indent="0" marL="0">
              <a:buNone/>
            </a:pPr>
            <a:r>
              <a:rPr lang="en-US" sz="1350" dirty="0">
                <a:solidFill>
                  <a:srgbClr val="FFFFFF"/>
                </a:solidFill>
                <a:latin typeface="Courier New" pitchFamily="34" charset="0"/>
                <a:ea typeface="Courier New" pitchFamily="34" charset="-122"/>
                <a:cs typeface="Courier New" pitchFamily="34" charset="-120"/>
              </a:rPr>
              <a:t>3</a:t>
            </a:r>
            <a:endParaRPr lang="en-US" sz="1350" dirty="0"/>
          </a:p>
        </p:txBody>
      </p:sp>
      <p:sp>
        <p:nvSpPr>
          <p:cNvPr id="18" name="Text 16"/>
          <p:cNvSpPr/>
          <p:nvPr/>
        </p:nvSpPr>
        <p:spPr>
          <a:xfrm>
            <a:off x="1990725" y="4791075"/>
            <a:ext cx="5760660" cy="361950"/>
          </a:xfrm>
          <a:prstGeom prst="rect">
            <a:avLst/>
          </a:prstGeom>
          <a:noFill/>
          <a:ln/>
        </p:spPr>
        <p:txBody>
          <a:bodyPr wrap="square" lIns="25400" tIns="25400" rIns="25400" bIns="25400" rtlCol="0" anchor="t">
            <a:normAutofit/>
          </a:bodyPr>
          <a:lstStyle/>
          <a:p>
            <a:pPr algn="l" indent="0" marL="0">
              <a:lnSpc>
                <a:spcPct val="136000"/>
              </a:lnSpc>
              <a:buNone/>
            </a:pPr>
            <a:r>
              <a:rPr lang="en-US" sz="1875" dirty="0">
                <a:solidFill>
                  <a:srgbClr val="3A4450"/>
                </a:solidFill>
                <a:latin typeface="Arial" pitchFamily="34" charset="0"/>
                <a:ea typeface="Arial" pitchFamily="34" charset="-122"/>
                <a:cs typeface="Arial" pitchFamily="34" charset="-120"/>
              </a:rPr>
              <a:t>Read SLOC, complexity, COCOMO &amp; Git Hotspots.</a:t>
            </a:r>
            <a:endParaRPr lang="en-US" sz="1875" dirty="0"/>
          </a:p>
        </p:txBody>
      </p:sp>
      <p:sp>
        <p:nvSpPr>
          <p:cNvPr id="19" name="Shape 17"/>
          <p:cNvSpPr/>
          <p:nvPr/>
        </p:nvSpPr>
        <p:spPr>
          <a:xfrm>
            <a:off x="1533525" y="5286375"/>
            <a:ext cx="304800" cy="304800"/>
          </a:xfrm>
          <a:prstGeom prst="roundRect">
            <a:avLst>
              <a:gd name="adj" fmla="val 25000"/>
            </a:avLst>
          </a:prstGeom>
          <a:solidFill>
            <a:srgbClr val="C2541F"/>
          </a:solidFill>
          <a:ln/>
        </p:spPr>
      </p:sp>
      <p:sp>
        <p:nvSpPr>
          <p:cNvPr id="20" name="Text 18"/>
          <p:cNvSpPr/>
          <p:nvPr/>
        </p:nvSpPr>
        <p:spPr>
          <a:xfrm>
            <a:off x="1495425" y="5286375"/>
            <a:ext cx="381000" cy="342900"/>
          </a:xfrm>
          <a:prstGeom prst="rect">
            <a:avLst/>
          </a:prstGeom>
          <a:noFill/>
          <a:ln/>
        </p:spPr>
        <p:txBody>
          <a:bodyPr wrap="square" lIns="25400" tIns="25400" rIns="25400" bIns="25400" rtlCol="0" anchor="ctr">
            <a:normAutofit/>
          </a:bodyPr>
          <a:lstStyle/>
          <a:p>
            <a:pPr algn="ctr" indent="0" marL="0">
              <a:buNone/>
            </a:pPr>
            <a:r>
              <a:rPr lang="en-US" sz="1350" dirty="0">
                <a:solidFill>
                  <a:srgbClr val="FFFFFF"/>
                </a:solidFill>
                <a:latin typeface="Courier New" pitchFamily="34" charset="0"/>
                <a:ea typeface="Courier New" pitchFamily="34" charset="-122"/>
                <a:cs typeface="Courier New" pitchFamily="34" charset="-120"/>
              </a:rPr>
              <a:t>4</a:t>
            </a:r>
            <a:endParaRPr lang="en-US" sz="1350" dirty="0"/>
          </a:p>
        </p:txBody>
      </p:sp>
      <p:sp>
        <p:nvSpPr>
          <p:cNvPr id="21" name="Text 19"/>
          <p:cNvSpPr/>
          <p:nvPr/>
        </p:nvSpPr>
        <p:spPr>
          <a:xfrm>
            <a:off x="1990725" y="5286375"/>
            <a:ext cx="4617794" cy="361950"/>
          </a:xfrm>
          <a:prstGeom prst="rect">
            <a:avLst/>
          </a:prstGeom>
          <a:noFill/>
          <a:ln/>
        </p:spPr>
        <p:txBody>
          <a:bodyPr wrap="square" lIns="25400" tIns="25400" rIns="25400" bIns="25400" rtlCol="0" anchor="t">
            <a:normAutofit/>
          </a:bodyPr>
          <a:lstStyle/>
          <a:p>
            <a:pPr algn="l" indent="0" marL="0">
              <a:lnSpc>
                <a:spcPct val="136000"/>
              </a:lnSpc>
              <a:buNone/>
            </a:pPr>
            <a:r>
              <a:rPr lang="en-US" sz="1875" dirty="0">
                <a:solidFill>
                  <a:srgbClr val="3A4450"/>
                </a:solidFill>
                <a:latin typeface="Arial" pitchFamily="34" charset="0"/>
                <a:ea typeface="Arial" pitchFamily="34" charset="-122"/>
                <a:cs typeface="Arial" pitchFamily="34" charset="-120"/>
              </a:rPr>
              <a:t>Export plain output to wire into CI later.</a:t>
            </a:r>
            <a:endParaRPr lang="en-US" sz="1875" dirty="0"/>
          </a:p>
        </p:txBody>
      </p:sp>
      <p:sp>
        <p:nvSpPr>
          <p:cNvPr id="22" name="Shape 20"/>
          <p:cNvSpPr/>
          <p:nvPr/>
        </p:nvSpPr>
        <p:spPr>
          <a:xfrm>
            <a:off x="9286875" y="2095500"/>
            <a:ext cx="7858125" cy="6943725"/>
          </a:xfrm>
          <a:prstGeom prst="roundRect">
            <a:avLst>
              <a:gd name="adj" fmla="val 2195"/>
            </a:avLst>
          </a:prstGeom>
          <a:solidFill>
            <a:srgbClr val="F4F6F8"/>
          </a:solidFill>
          <a:ln w="9525">
            <a:solidFill>
              <a:srgbClr val="E3E8ED"/>
            </a:solidFill>
            <a:prstDash val="solid"/>
          </a:ln>
        </p:spPr>
      </p:sp>
      <p:sp>
        <p:nvSpPr>
          <p:cNvPr id="23" name="Text 21"/>
          <p:cNvSpPr/>
          <p:nvPr/>
        </p:nvSpPr>
        <p:spPr>
          <a:xfrm>
            <a:off x="9677400" y="2466975"/>
            <a:ext cx="876300" cy="2952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4A7C97"/>
                </a:solidFill>
                <a:latin typeface="Courier New" pitchFamily="34" charset="0"/>
                <a:ea typeface="Courier New" pitchFamily="34" charset="-122"/>
                <a:cs typeface="Courier New" pitchFamily="34" charset="-120"/>
              </a:rPr>
              <a:t>PATH B</a:t>
            </a:r>
            <a:endParaRPr lang="en-US" sz="1500" dirty="0"/>
          </a:p>
        </p:txBody>
      </p:sp>
      <p:sp>
        <p:nvSpPr>
          <p:cNvPr id="24" name="Text 22"/>
          <p:cNvSpPr/>
          <p:nvPr/>
        </p:nvSpPr>
        <p:spPr>
          <a:xfrm>
            <a:off x="13874055" y="2486025"/>
            <a:ext cx="3168461" cy="257175"/>
          </a:xfrm>
          <a:prstGeom prst="rect">
            <a:avLst/>
          </a:prstGeom>
          <a:noFill/>
          <a:ln/>
        </p:spPr>
        <p:txBody>
          <a:bodyPr wrap="square" lIns="25400" tIns="25400" rIns="25400" bIns="25400" rtlCol="0" anchor="t">
            <a:normAutofit/>
          </a:bodyPr>
          <a:lstStyle/>
          <a:p>
            <a:pPr algn="l" indent="0" marL="0">
              <a:buNone/>
            </a:pPr>
            <a:r>
              <a:rPr lang="en-US" sz="1350" dirty="0">
                <a:solidFill>
                  <a:srgbClr val="8A93A0"/>
                </a:solidFill>
                <a:latin typeface="Courier New" pitchFamily="34" charset="0"/>
                <a:ea typeface="Courier New" pitchFamily="34" charset="-122"/>
                <a:cs typeface="Courier New" pitchFamily="34" charset="-120"/>
              </a:rPr>
              <a:t>POs, scrum masters, managers</a:t>
            </a:r>
            <a:endParaRPr lang="en-US" sz="1350" dirty="0"/>
          </a:p>
        </p:txBody>
      </p:sp>
      <p:sp>
        <p:nvSpPr>
          <p:cNvPr id="25" name="Text 23"/>
          <p:cNvSpPr/>
          <p:nvPr/>
        </p:nvSpPr>
        <p:spPr>
          <a:xfrm>
            <a:off x="9677400" y="2781300"/>
            <a:ext cx="7784783" cy="476250"/>
          </a:xfrm>
          <a:prstGeom prst="rect">
            <a:avLst/>
          </a:prstGeom>
          <a:noFill/>
          <a:ln/>
        </p:spPr>
        <p:txBody>
          <a:bodyPr wrap="square" lIns="25400" tIns="25400" rIns="25400" bIns="25400" rtlCol="0" anchor="t">
            <a:normAutofit/>
          </a:bodyPr>
          <a:lstStyle/>
          <a:p>
            <a:pPr algn="l" indent="0" marL="0">
              <a:buNone/>
            </a:pPr>
            <a:r>
              <a:rPr lang="en-US" sz="2700" b="1" dirty="0">
                <a:solidFill>
                  <a:srgbClr val="1C2530"/>
                </a:solidFill>
                <a:latin typeface="Arial" pitchFamily="34" charset="0"/>
                <a:ea typeface="Arial" pitchFamily="34" charset="-122"/>
                <a:cs typeface="Arial" pitchFamily="34" charset="-120"/>
              </a:rPr>
              <a:t>The Business User</a:t>
            </a:r>
            <a:endParaRPr lang="en-US" sz="2700" dirty="0"/>
          </a:p>
        </p:txBody>
      </p:sp>
      <p:sp>
        <p:nvSpPr>
          <p:cNvPr id="26" name="Text 24"/>
          <p:cNvSpPr/>
          <p:nvPr/>
        </p:nvSpPr>
        <p:spPr>
          <a:xfrm>
            <a:off x="9677400" y="3276600"/>
            <a:ext cx="7784783" cy="295275"/>
          </a:xfrm>
          <a:prstGeom prst="rect">
            <a:avLst/>
          </a:prstGeom>
          <a:noFill/>
          <a:ln/>
        </p:spPr>
        <p:txBody>
          <a:bodyPr wrap="square" lIns="25400" tIns="25400" rIns="25400" bIns="25400" rtlCol="0" anchor="t">
            <a:normAutofit/>
          </a:bodyPr>
          <a:lstStyle/>
          <a:p>
            <a:pPr algn="l" indent="0" marL="0">
              <a:buNone/>
            </a:pPr>
            <a:r>
              <a:rPr lang="en-US" sz="1725" i="1" dirty="0">
                <a:solidFill>
                  <a:srgbClr val="8A93A0"/>
                </a:solidFill>
                <a:latin typeface="Arial" pitchFamily="34" charset="0"/>
                <a:ea typeface="Arial" pitchFamily="34" charset="-122"/>
                <a:cs typeface="Arial" pitchFamily="34" charset="-120"/>
              </a:rPr>
              <a:t>“Metrics for someone else’s code.”</a:t>
            </a:r>
            <a:endParaRPr lang="en-US" sz="1725" dirty="0"/>
          </a:p>
        </p:txBody>
      </p:sp>
      <p:sp>
        <p:nvSpPr>
          <p:cNvPr id="27" name="Shape 25"/>
          <p:cNvSpPr/>
          <p:nvPr/>
        </p:nvSpPr>
        <p:spPr>
          <a:xfrm>
            <a:off x="9677400" y="3800475"/>
            <a:ext cx="304800" cy="304800"/>
          </a:xfrm>
          <a:prstGeom prst="roundRect">
            <a:avLst>
              <a:gd name="adj" fmla="val 25000"/>
            </a:avLst>
          </a:prstGeom>
          <a:solidFill>
            <a:srgbClr val="4A7C97"/>
          </a:solidFill>
          <a:ln/>
        </p:spPr>
      </p:sp>
      <p:sp>
        <p:nvSpPr>
          <p:cNvPr id="28" name="Text 26"/>
          <p:cNvSpPr/>
          <p:nvPr/>
        </p:nvSpPr>
        <p:spPr>
          <a:xfrm>
            <a:off x="9639300" y="3800475"/>
            <a:ext cx="381000" cy="342900"/>
          </a:xfrm>
          <a:prstGeom prst="rect">
            <a:avLst/>
          </a:prstGeom>
          <a:noFill/>
          <a:ln/>
        </p:spPr>
        <p:txBody>
          <a:bodyPr wrap="square" lIns="25400" tIns="25400" rIns="25400" bIns="25400" rtlCol="0" anchor="ctr">
            <a:normAutofit/>
          </a:bodyPr>
          <a:lstStyle/>
          <a:p>
            <a:pPr algn="ctr" indent="0" marL="0">
              <a:buNone/>
            </a:pPr>
            <a:r>
              <a:rPr lang="en-US" sz="1350" dirty="0">
                <a:solidFill>
                  <a:srgbClr val="FFFFFF"/>
                </a:solidFill>
                <a:latin typeface="Courier New" pitchFamily="34" charset="0"/>
                <a:ea typeface="Courier New" pitchFamily="34" charset="-122"/>
                <a:cs typeface="Courier New" pitchFamily="34" charset="-120"/>
              </a:rPr>
              <a:t>1</a:t>
            </a:r>
            <a:endParaRPr lang="en-US" sz="1350" dirty="0"/>
          </a:p>
        </p:txBody>
      </p:sp>
      <p:sp>
        <p:nvSpPr>
          <p:cNvPr id="29" name="Text 27"/>
          <p:cNvSpPr/>
          <p:nvPr/>
        </p:nvSpPr>
        <p:spPr>
          <a:xfrm>
            <a:off x="10134600" y="3800475"/>
            <a:ext cx="6895014" cy="361950"/>
          </a:xfrm>
          <a:prstGeom prst="rect">
            <a:avLst/>
          </a:prstGeom>
          <a:noFill/>
          <a:ln/>
        </p:spPr>
        <p:txBody>
          <a:bodyPr wrap="square" lIns="25400" tIns="25400" rIns="25400" bIns="25400" rtlCol="0" anchor="t">
            <a:normAutofit/>
          </a:bodyPr>
          <a:lstStyle/>
          <a:p>
            <a:pPr algn="l" indent="0" marL="0">
              <a:lnSpc>
                <a:spcPct val="136000"/>
              </a:lnSpc>
              <a:buNone/>
            </a:pPr>
            <a:r>
              <a:rPr lang="en-US" sz="1875" dirty="0">
                <a:solidFill>
                  <a:srgbClr val="3A4450"/>
                </a:solidFill>
                <a:latin typeface="Arial" pitchFamily="34" charset="0"/>
                <a:ea typeface="Arial" pitchFamily="34" charset="-122"/>
                <a:cs typeface="Arial" pitchFamily="34" charset="-120"/>
              </a:rPr>
              <a:t>Point at the folder you were handed — </a:t>
            </a:r>
            <a:pPr algn="l" indent="0" marL="0">
              <a:lnSpc>
                <a:spcPct val="136000"/>
              </a:lnSpc>
              <a:buNone/>
            </a:pPr>
            <a:r>
              <a:rPr lang="en-US" sz="1875" i="1" dirty="0">
                <a:solidFill>
                  <a:srgbClr val="3A4450"/>
                </a:solidFill>
                <a:latin typeface="Arial" pitchFamily="34" charset="0"/>
                <a:ea typeface="Arial" pitchFamily="34" charset="-122"/>
                <a:cs typeface="Arial" pitchFamily="34" charset="-120"/>
              </a:rPr>
              <a:t>or </a:t>
            </a:r>
            <a:pPr algn="l" indent="0" marL="0">
              <a:lnSpc>
                <a:spcPct val="136000"/>
              </a:lnSpc>
              <a:buNone/>
            </a:pPr>
            <a:r>
              <a:rPr lang="en-US" sz="1875" dirty="0">
                <a:solidFill>
                  <a:srgbClr val="3A4450"/>
                </a:solidFill>
                <a:latin typeface="Arial" pitchFamily="34" charset="0"/>
                <a:ea typeface="Arial" pitchFamily="34" charset="-122"/>
                <a:cs typeface="Arial" pitchFamily="34" charset="-120"/>
              </a:rPr>
              <a:t>open </a:t>
            </a:r>
            <a:pPr algn="l" indent="0" marL="0">
              <a:lnSpc>
                <a:spcPct val="136000"/>
              </a:lnSpc>
              <a:buNone/>
            </a:pPr>
            <a:r>
              <a:rPr lang="en-US" sz="1875" b="1" dirty="0">
                <a:solidFill>
                  <a:srgbClr val="3A4450"/>
                </a:solidFill>
                <a:latin typeface="Arial" pitchFamily="34" charset="0"/>
                <a:ea typeface="Arial" pitchFamily="34" charset="-122"/>
                <a:cs typeface="Arial" pitchFamily="34" charset="-120"/>
              </a:rPr>
              <a:t>Git Browser</a:t>
            </a:r>
            <a:pPr algn="l" indent="0" marL="0">
              <a:lnSpc>
                <a:spcPct val="136000"/>
              </a:lnSpc>
              <a:buNone/>
            </a:pPr>
            <a:r>
              <a:rPr lang="en-US" sz="1875" dirty="0">
                <a:solidFill>
                  <a:srgbClr val="3A4450"/>
                </a:solidFill>
                <a:latin typeface="Arial" pitchFamily="34" charset="0"/>
                <a:ea typeface="Arial" pitchFamily="34" charset="-122"/>
                <a:cs typeface="Arial" pitchFamily="34" charset="-120"/>
              </a:rPr>
              <a:t>.</a:t>
            </a:r>
            <a:endParaRPr lang="en-US" sz="1875" dirty="0"/>
          </a:p>
        </p:txBody>
      </p:sp>
      <p:sp>
        <p:nvSpPr>
          <p:cNvPr id="30" name="Shape 28"/>
          <p:cNvSpPr/>
          <p:nvPr/>
        </p:nvSpPr>
        <p:spPr>
          <a:xfrm>
            <a:off x="9677400" y="4295775"/>
            <a:ext cx="304800" cy="304800"/>
          </a:xfrm>
          <a:prstGeom prst="roundRect">
            <a:avLst>
              <a:gd name="adj" fmla="val 25000"/>
            </a:avLst>
          </a:prstGeom>
          <a:solidFill>
            <a:srgbClr val="4A7C97"/>
          </a:solidFill>
          <a:ln/>
        </p:spPr>
      </p:sp>
      <p:sp>
        <p:nvSpPr>
          <p:cNvPr id="31" name="Text 29"/>
          <p:cNvSpPr/>
          <p:nvPr/>
        </p:nvSpPr>
        <p:spPr>
          <a:xfrm>
            <a:off x="9639300" y="4295775"/>
            <a:ext cx="381000" cy="342900"/>
          </a:xfrm>
          <a:prstGeom prst="rect">
            <a:avLst/>
          </a:prstGeom>
          <a:noFill/>
          <a:ln/>
        </p:spPr>
        <p:txBody>
          <a:bodyPr wrap="square" lIns="25400" tIns="25400" rIns="25400" bIns="25400" rtlCol="0" anchor="ctr">
            <a:normAutofit/>
          </a:bodyPr>
          <a:lstStyle/>
          <a:p>
            <a:pPr algn="ctr" indent="0" marL="0">
              <a:buNone/>
            </a:pPr>
            <a:r>
              <a:rPr lang="en-US" sz="1350" dirty="0">
                <a:solidFill>
                  <a:srgbClr val="FFFFFF"/>
                </a:solidFill>
                <a:latin typeface="Courier New" pitchFamily="34" charset="0"/>
                <a:ea typeface="Courier New" pitchFamily="34" charset="-122"/>
                <a:cs typeface="Courier New" pitchFamily="34" charset="-120"/>
              </a:rPr>
              <a:t>2</a:t>
            </a:r>
            <a:endParaRPr lang="en-US" sz="1350" dirty="0"/>
          </a:p>
        </p:txBody>
      </p:sp>
      <p:sp>
        <p:nvSpPr>
          <p:cNvPr id="32" name="Text 30"/>
          <p:cNvSpPr/>
          <p:nvPr/>
        </p:nvSpPr>
        <p:spPr>
          <a:xfrm>
            <a:off x="10134600" y="4295775"/>
            <a:ext cx="5832857" cy="361950"/>
          </a:xfrm>
          <a:prstGeom prst="rect">
            <a:avLst/>
          </a:prstGeom>
          <a:noFill/>
          <a:ln/>
        </p:spPr>
        <p:txBody>
          <a:bodyPr wrap="square" lIns="25400" tIns="25400" rIns="25400" bIns="25400" rtlCol="0" anchor="t">
            <a:normAutofit/>
          </a:bodyPr>
          <a:lstStyle/>
          <a:p>
            <a:pPr algn="l" indent="0" marL="0">
              <a:lnSpc>
                <a:spcPct val="136000"/>
              </a:lnSpc>
              <a:buNone/>
            </a:pPr>
            <a:r>
              <a:rPr lang="en-US" sz="1875" dirty="0">
                <a:solidFill>
                  <a:srgbClr val="3A4450"/>
                </a:solidFill>
                <a:latin typeface="Arial" pitchFamily="34" charset="0"/>
                <a:ea typeface="Arial" pitchFamily="34" charset="-122"/>
                <a:cs typeface="Arial" pitchFamily="34" charset="-120"/>
              </a:rPr>
              <a:t>Pick any branch/commit — no local build or setup.</a:t>
            </a:r>
            <a:endParaRPr lang="en-US" sz="1875" dirty="0"/>
          </a:p>
        </p:txBody>
      </p:sp>
      <p:sp>
        <p:nvSpPr>
          <p:cNvPr id="33" name="Shape 31"/>
          <p:cNvSpPr/>
          <p:nvPr/>
        </p:nvSpPr>
        <p:spPr>
          <a:xfrm>
            <a:off x="9677400" y="4791075"/>
            <a:ext cx="304800" cy="304800"/>
          </a:xfrm>
          <a:prstGeom prst="roundRect">
            <a:avLst>
              <a:gd name="adj" fmla="val 25000"/>
            </a:avLst>
          </a:prstGeom>
          <a:solidFill>
            <a:srgbClr val="4A7C97"/>
          </a:solidFill>
          <a:ln/>
        </p:spPr>
      </p:sp>
      <p:sp>
        <p:nvSpPr>
          <p:cNvPr id="34" name="Text 32"/>
          <p:cNvSpPr/>
          <p:nvPr/>
        </p:nvSpPr>
        <p:spPr>
          <a:xfrm>
            <a:off x="9639300" y="4791075"/>
            <a:ext cx="381000" cy="342900"/>
          </a:xfrm>
          <a:prstGeom prst="rect">
            <a:avLst/>
          </a:prstGeom>
          <a:noFill/>
          <a:ln/>
        </p:spPr>
        <p:txBody>
          <a:bodyPr wrap="square" lIns="25400" tIns="25400" rIns="25400" bIns="25400" rtlCol="0" anchor="ctr">
            <a:normAutofit/>
          </a:bodyPr>
          <a:lstStyle/>
          <a:p>
            <a:pPr algn="ctr" indent="0" marL="0">
              <a:buNone/>
            </a:pPr>
            <a:r>
              <a:rPr lang="en-US" sz="1350" dirty="0">
                <a:solidFill>
                  <a:srgbClr val="FFFFFF"/>
                </a:solidFill>
                <a:latin typeface="Courier New" pitchFamily="34" charset="0"/>
                <a:ea typeface="Courier New" pitchFamily="34" charset="-122"/>
                <a:cs typeface="Courier New" pitchFamily="34" charset="-120"/>
              </a:rPr>
              <a:t>3</a:t>
            </a:r>
            <a:endParaRPr lang="en-US" sz="1350" dirty="0"/>
          </a:p>
        </p:txBody>
      </p:sp>
      <p:sp>
        <p:nvSpPr>
          <p:cNvPr id="35" name="Text 33"/>
          <p:cNvSpPr/>
          <p:nvPr/>
        </p:nvSpPr>
        <p:spPr>
          <a:xfrm>
            <a:off x="10134600" y="4791075"/>
            <a:ext cx="5406226" cy="361950"/>
          </a:xfrm>
          <a:prstGeom prst="rect">
            <a:avLst/>
          </a:prstGeom>
          <a:noFill/>
          <a:ln/>
        </p:spPr>
        <p:txBody>
          <a:bodyPr wrap="square" lIns="25400" tIns="25400" rIns="25400" bIns="25400" rtlCol="0" anchor="t">
            <a:normAutofit/>
          </a:bodyPr>
          <a:lstStyle/>
          <a:p>
            <a:pPr algn="l" indent="0" marL="0">
              <a:lnSpc>
                <a:spcPct val="136000"/>
              </a:lnSpc>
              <a:buNone/>
            </a:pPr>
            <a:r>
              <a:rPr lang="en-US" sz="1875" dirty="0">
                <a:solidFill>
                  <a:srgbClr val="3A4450"/>
                </a:solidFill>
                <a:latin typeface="Arial" pitchFamily="34" charset="0"/>
                <a:ea typeface="Arial" pitchFamily="34" charset="-122"/>
                <a:cs typeface="Arial" pitchFamily="34" charset="-120"/>
              </a:rPr>
              <a:t>Hit </a:t>
            </a:r>
            <a:pPr algn="l" indent="0" marL="0">
              <a:lnSpc>
                <a:spcPct val="136000"/>
              </a:lnSpc>
              <a:buNone/>
            </a:pPr>
            <a:r>
              <a:rPr lang="en-US" sz="1875" b="1" dirty="0">
                <a:solidFill>
                  <a:srgbClr val="3A4450"/>
                </a:solidFill>
                <a:latin typeface="Arial" pitchFamily="34" charset="0"/>
                <a:ea typeface="Arial" pitchFamily="34" charset="-122"/>
                <a:cs typeface="Arial" pitchFamily="34" charset="-120"/>
              </a:rPr>
              <a:t>Quick Scan </a:t>
            </a:r>
            <a:pPr algn="l" indent="0" marL="0">
              <a:lnSpc>
                <a:spcPct val="136000"/>
              </a:lnSpc>
              <a:buNone/>
            </a:pPr>
            <a:r>
              <a:rPr lang="en-US" sz="1875" dirty="0">
                <a:solidFill>
                  <a:srgbClr val="3A4450"/>
                </a:solidFill>
                <a:latin typeface="Arial" pitchFamily="34" charset="0"/>
                <a:ea typeface="Arial" pitchFamily="34" charset="-122"/>
                <a:cs typeface="Arial" pitchFamily="34" charset="-120"/>
              </a:rPr>
              <a:t>— defaults give the full picture.</a:t>
            </a:r>
            <a:endParaRPr lang="en-US" sz="1875" dirty="0"/>
          </a:p>
        </p:txBody>
      </p:sp>
      <p:sp>
        <p:nvSpPr>
          <p:cNvPr id="36" name="Shape 34"/>
          <p:cNvSpPr/>
          <p:nvPr/>
        </p:nvSpPr>
        <p:spPr>
          <a:xfrm>
            <a:off x="9677400" y="5286375"/>
            <a:ext cx="304800" cy="304800"/>
          </a:xfrm>
          <a:prstGeom prst="roundRect">
            <a:avLst>
              <a:gd name="adj" fmla="val 25000"/>
            </a:avLst>
          </a:prstGeom>
          <a:solidFill>
            <a:srgbClr val="4A7C97"/>
          </a:solidFill>
          <a:ln/>
        </p:spPr>
      </p:sp>
      <p:sp>
        <p:nvSpPr>
          <p:cNvPr id="37" name="Text 35"/>
          <p:cNvSpPr/>
          <p:nvPr/>
        </p:nvSpPr>
        <p:spPr>
          <a:xfrm>
            <a:off x="9639300" y="5286375"/>
            <a:ext cx="381000" cy="342900"/>
          </a:xfrm>
          <a:prstGeom prst="rect">
            <a:avLst/>
          </a:prstGeom>
          <a:noFill/>
          <a:ln/>
        </p:spPr>
        <p:txBody>
          <a:bodyPr wrap="square" lIns="25400" tIns="25400" rIns="25400" bIns="25400" rtlCol="0" anchor="ctr">
            <a:normAutofit/>
          </a:bodyPr>
          <a:lstStyle/>
          <a:p>
            <a:pPr algn="ctr" indent="0" marL="0">
              <a:buNone/>
            </a:pPr>
            <a:r>
              <a:rPr lang="en-US" sz="1350" dirty="0">
                <a:solidFill>
                  <a:srgbClr val="FFFFFF"/>
                </a:solidFill>
                <a:latin typeface="Courier New" pitchFamily="34" charset="0"/>
                <a:ea typeface="Courier New" pitchFamily="34" charset="-122"/>
                <a:cs typeface="Courier New" pitchFamily="34" charset="-120"/>
              </a:rPr>
              <a:t>4</a:t>
            </a:r>
            <a:endParaRPr lang="en-US" sz="1350" dirty="0"/>
          </a:p>
        </p:txBody>
      </p:sp>
      <p:sp>
        <p:nvSpPr>
          <p:cNvPr id="38" name="Text 36"/>
          <p:cNvSpPr/>
          <p:nvPr/>
        </p:nvSpPr>
        <p:spPr>
          <a:xfrm>
            <a:off x="10134600" y="5286375"/>
            <a:ext cx="5323552" cy="361950"/>
          </a:xfrm>
          <a:prstGeom prst="rect">
            <a:avLst/>
          </a:prstGeom>
          <a:noFill/>
          <a:ln/>
        </p:spPr>
        <p:txBody>
          <a:bodyPr wrap="square" lIns="25400" tIns="25400" rIns="25400" bIns="25400" rtlCol="0" anchor="t">
            <a:normAutofit/>
          </a:bodyPr>
          <a:lstStyle/>
          <a:p>
            <a:pPr algn="l" indent="0" marL="0">
              <a:lnSpc>
                <a:spcPct val="136000"/>
              </a:lnSpc>
              <a:buNone/>
            </a:pPr>
            <a:r>
              <a:rPr lang="en-US" sz="1875" dirty="0">
                <a:solidFill>
                  <a:srgbClr val="3A4450"/>
                </a:solidFill>
                <a:latin typeface="Arial" pitchFamily="34" charset="0"/>
                <a:ea typeface="Arial" pitchFamily="34" charset="-122"/>
                <a:cs typeface="Arial" pitchFamily="34" charset="-120"/>
              </a:rPr>
              <a:t>Read the summary, export a </a:t>
            </a:r>
            <a:pPr algn="l" indent="0" marL="0">
              <a:lnSpc>
                <a:spcPct val="136000"/>
              </a:lnSpc>
              <a:buNone/>
            </a:pPr>
            <a:r>
              <a:rPr lang="en-US" sz="1875" b="1" dirty="0">
                <a:solidFill>
                  <a:srgbClr val="3A4450"/>
                </a:solidFill>
                <a:latin typeface="Arial" pitchFamily="34" charset="0"/>
                <a:ea typeface="Arial" pitchFamily="34" charset="-122"/>
                <a:cs typeface="Arial" pitchFamily="34" charset="-120"/>
              </a:rPr>
              <a:t>PDF </a:t>
            </a:r>
            <a:pPr algn="l" indent="0" marL="0">
              <a:lnSpc>
                <a:spcPct val="136000"/>
              </a:lnSpc>
              <a:buNone/>
            </a:pPr>
            <a:r>
              <a:rPr lang="en-US" sz="1875" dirty="0">
                <a:solidFill>
                  <a:srgbClr val="3A4450"/>
                </a:solidFill>
                <a:latin typeface="Arial" pitchFamily="34" charset="0"/>
                <a:ea typeface="Arial" pitchFamily="34" charset="-122"/>
                <a:cs typeface="Arial" pitchFamily="34" charset="-120"/>
              </a:rPr>
              <a:t>to circulate.</a:t>
            </a:r>
            <a:endParaRPr lang="en-US" sz="1875" dirty="0"/>
          </a:p>
        </p:txBody>
      </p:sp>
      <p:sp>
        <p:nvSpPr>
          <p:cNvPr id="39" name="Text 37"/>
          <p:cNvSpPr/>
          <p:nvPr/>
        </p:nvSpPr>
        <p:spPr>
          <a:xfrm>
            <a:off x="342900" y="9286875"/>
            <a:ext cx="17602200" cy="352425"/>
          </a:xfrm>
          <a:prstGeom prst="rect">
            <a:avLst/>
          </a:prstGeom>
          <a:noFill/>
          <a:ln/>
        </p:spPr>
        <p:txBody>
          <a:bodyPr wrap="square" lIns="25400" tIns="25400" rIns="25400" bIns="25400" rtlCol="0" anchor="t">
            <a:normAutofit/>
          </a:bodyPr>
          <a:lstStyle/>
          <a:p>
            <a:pPr algn="ctr" indent="0" marL="0">
              <a:buNone/>
            </a:pPr>
            <a:r>
              <a:rPr lang="en-US" sz="1875" dirty="0">
                <a:solidFill>
                  <a:srgbClr val="5A6675"/>
                </a:solidFill>
                <a:latin typeface="Arial" pitchFamily="34" charset="0"/>
                <a:ea typeface="Arial" pitchFamily="34" charset="-122"/>
                <a:cs typeface="Arial" pitchFamily="34" charset="-120"/>
              </a:rPr>
              <a:t>Both paths land on the </a:t>
            </a:r>
            <a:pPr algn="ctr" indent="0" marL="0">
              <a:buNone/>
            </a:pPr>
            <a:r>
              <a:rPr lang="en-US" sz="1875" b="1" dirty="0">
                <a:solidFill>
                  <a:srgbClr val="1C2530"/>
                </a:solidFill>
                <a:latin typeface="Arial" pitchFamily="34" charset="0"/>
                <a:ea typeface="Arial" pitchFamily="34" charset="-122"/>
                <a:cs typeface="Arial" pitchFamily="34" charset="-120"/>
              </a:rPr>
              <a:t>same report </a:t>
            </a:r>
            <a:pPr algn="ctr" indent="0" marL="0">
              <a:buNone/>
            </a:pPr>
            <a:r>
              <a:rPr lang="en-US" sz="1875" dirty="0">
                <a:solidFill>
                  <a:srgbClr val="5A6675"/>
                </a:solidFill>
                <a:latin typeface="Arial" pitchFamily="34" charset="0"/>
                <a:ea typeface="Arial" pitchFamily="34" charset="-122"/>
                <a:cs typeface="Arial" pitchFamily="34" charset="-120"/>
              </a:rPr>
              <a:t>— the difference is only how much you tune on the way in.</a:t>
            </a:r>
            <a:endParaRPr lang="en-US" sz="18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1143000" y="914400"/>
            <a:ext cx="323850" cy="28575"/>
          </a:xfrm>
          <a:prstGeom prst="rect">
            <a:avLst/>
          </a:prstGeom>
          <a:solidFill>
            <a:srgbClr val="C2541F"/>
          </a:solidFill>
          <a:ln/>
        </p:spPr>
      </p:sp>
      <p:sp>
        <p:nvSpPr>
          <p:cNvPr id="3" name="Text 1"/>
          <p:cNvSpPr/>
          <p:nvPr/>
        </p:nvSpPr>
        <p:spPr>
          <a:xfrm>
            <a:off x="1600200" y="800100"/>
            <a:ext cx="1728788" cy="295275"/>
          </a:xfrm>
          <a:prstGeom prst="rect">
            <a:avLst/>
          </a:prstGeom>
          <a:noFill/>
          <a:ln/>
        </p:spPr>
        <p:txBody>
          <a:bodyPr wrap="square" lIns="25400" tIns="25400" rIns="25400" bIns="25400" rtlCol="0" anchor="t">
            <a:normAutofit/>
          </a:bodyPr>
          <a:lstStyle/>
          <a:p>
            <a:pPr algn="l" indent="0" marL="0">
              <a:buNone/>
            </a:pPr>
            <a:r>
              <a:rPr lang="en-US" sz="1500" spc="225" kern="0" dirty="0">
                <a:solidFill>
                  <a:srgbClr val="C2541F"/>
                </a:solidFill>
                <a:latin typeface="Courier New" pitchFamily="34" charset="0"/>
                <a:ea typeface="Courier New" pitchFamily="34" charset="-122"/>
                <a:cs typeface="Courier New" pitchFamily="34" charset="-120"/>
              </a:rPr>
              <a:t>GIT BROWSER</a:t>
            </a:r>
            <a:endParaRPr lang="en-US" sz="1500" dirty="0"/>
          </a:p>
        </p:txBody>
      </p:sp>
      <p:sp>
        <p:nvSpPr>
          <p:cNvPr id="4" name="Text 2"/>
          <p:cNvSpPr/>
          <p:nvPr/>
        </p:nvSpPr>
        <p:spPr>
          <a:xfrm>
            <a:off x="1143000" y="1209675"/>
            <a:ext cx="4159758" cy="1068288"/>
          </a:xfrm>
          <a:prstGeom prst="rect">
            <a:avLst/>
          </a:prstGeom>
          <a:noFill/>
          <a:ln/>
        </p:spPr>
        <p:txBody>
          <a:bodyPr wrap="square" lIns="25400" tIns="25400" rIns="25400" bIns="25400" rtlCol="0" anchor="t">
            <a:normAutofit/>
          </a:bodyPr>
          <a:lstStyle/>
          <a:p>
            <a:pPr algn="l" indent="0" marL="0">
              <a:lnSpc>
                <a:spcPct val="104000"/>
              </a:lnSpc>
              <a:buNone/>
            </a:pPr>
            <a:r>
              <a:rPr lang="en-US" sz="3900" b="1" spc="-75" kern="0" dirty="0">
                <a:solidFill>
                  <a:srgbClr val="1C2530"/>
                </a:solidFill>
                <a:latin typeface="Arial" pitchFamily="34" charset="0"/>
                <a:ea typeface="Arial" pitchFamily="34" charset="-122"/>
                <a:cs typeface="Arial" pitchFamily="34" charset="-120"/>
              </a:rPr>
              <a:t>Scan Without a Checkout</a:t>
            </a:r>
            <a:endParaRPr lang="en-US" sz="3900" dirty="0"/>
          </a:p>
        </p:txBody>
      </p:sp>
      <p:sp>
        <p:nvSpPr>
          <p:cNvPr id="5" name="Text 3"/>
          <p:cNvSpPr/>
          <p:nvPr/>
        </p:nvSpPr>
        <p:spPr>
          <a:xfrm>
            <a:off x="1143000" y="2449413"/>
            <a:ext cx="4159758" cy="758130"/>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5A6675"/>
                </a:solidFill>
                <a:latin typeface="Arial" pitchFamily="34" charset="0"/>
                <a:ea typeface="Arial" pitchFamily="34" charset="-122"/>
                <a:cs typeface="Arial" pitchFamily="34" charset="-120"/>
              </a:rPr>
              <a:t>The business-user path — measure code you don’t host locally.</a:t>
            </a:r>
            <a:endParaRPr lang="en-US" sz="2025" dirty="0"/>
          </a:p>
        </p:txBody>
      </p:sp>
      <p:sp>
        <p:nvSpPr>
          <p:cNvPr id="6" name="Text 4"/>
          <p:cNvSpPr/>
          <p:nvPr/>
        </p:nvSpPr>
        <p:spPr>
          <a:xfrm>
            <a:off x="1143000" y="3512344"/>
            <a:ext cx="225921" cy="1004590"/>
          </a:xfrm>
          <a:prstGeom prst="rect">
            <a:avLst/>
          </a:prstGeom>
          <a:noFill/>
          <a:ln/>
        </p:spPr>
        <p:txBody>
          <a:bodyPr wrap="square" lIns="25400" tIns="25400" rIns="25400" bIns="25400" rtlCol="0" anchor="t">
            <a:normAutofit/>
          </a:bodyPr>
          <a:lstStyle/>
          <a:p>
            <a:pPr algn="l" indent="0" marL="0">
              <a:lnSpc>
                <a:spcPct val="100000"/>
              </a:lnSpc>
              <a:buNone/>
            </a:pPr>
            <a:r>
              <a:rPr lang="en-US" sz="1950" dirty="0">
                <a:solidFill>
                  <a:srgbClr val="C2541F"/>
                </a:solidFill>
                <a:latin typeface="Arial" pitchFamily="34" charset="0"/>
                <a:ea typeface="Arial" pitchFamily="34" charset="-122"/>
                <a:cs typeface="Arial" pitchFamily="34" charset="-120"/>
              </a:rPr>
              <a:t>●</a:t>
            </a:r>
            <a:endParaRPr lang="en-US" sz="1950" dirty="0"/>
          </a:p>
        </p:txBody>
      </p:sp>
      <p:sp>
        <p:nvSpPr>
          <p:cNvPr id="7" name="Text 5"/>
          <p:cNvSpPr/>
          <p:nvPr/>
        </p:nvSpPr>
        <p:spPr>
          <a:xfrm>
            <a:off x="1464171" y="3512344"/>
            <a:ext cx="4089172"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1C2530"/>
                </a:solidFill>
                <a:latin typeface="Arial" pitchFamily="34" charset="0"/>
                <a:ea typeface="Arial" pitchFamily="34" charset="-122"/>
                <a:cs typeface="Arial" pitchFamily="34" charset="-120"/>
              </a:rPr>
              <a:t>Paste a URL</a:t>
            </a:r>
            <a:endParaRPr lang="en-US" sz="1950" dirty="0"/>
          </a:p>
        </p:txBody>
      </p:sp>
      <p:sp>
        <p:nvSpPr>
          <p:cNvPr id="8" name="Text 6"/>
          <p:cNvSpPr/>
          <p:nvPr/>
        </p:nvSpPr>
        <p:spPr>
          <a:xfrm>
            <a:off x="1464171" y="3874294"/>
            <a:ext cx="3828952" cy="642640"/>
          </a:xfrm>
          <a:prstGeom prst="rect">
            <a:avLst/>
          </a:prstGeom>
          <a:noFill/>
          <a:ln/>
        </p:spPr>
        <p:txBody>
          <a:bodyPr wrap="square" lIns="25400" tIns="25400" rIns="25400" bIns="25400" rtlCol="0" anchor="t">
            <a:normAutofit/>
          </a:bodyPr>
          <a:lstStyle/>
          <a:p>
            <a:pPr algn="l" indent="0" marL="0">
              <a:lnSpc>
                <a:spcPct val="138000"/>
              </a:lnSpc>
              <a:buNone/>
            </a:pPr>
            <a:r>
              <a:rPr lang="en-US" sz="1725" dirty="0">
                <a:solidFill>
                  <a:srgbClr val="5A6675"/>
                </a:solidFill>
                <a:latin typeface="Arial" pitchFamily="34" charset="0"/>
                <a:ea typeface="Arial" pitchFamily="34" charset="-122"/>
                <a:cs typeface="Arial" pitchFamily="34" charset="-120"/>
              </a:rPr>
              <a:t>GitHub, GitLab or Bitbucket — fetch branches, tags &amp; releases.</a:t>
            </a:r>
            <a:endParaRPr lang="en-US" sz="1725" dirty="0"/>
          </a:p>
        </p:txBody>
      </p:sp>
      <p:sp>
        <p:nvSpPr>
          <p:cNvPr id="9" name="Text 7"/>
          <p:cNvSpPr/>
          <p:nvPr/>
        </p:nvSpPr>
        <p:spPr>
          <a:xfrm>
            <a:off x="1143000" y="4707434"/>
            <a:ext cx="225921" cy="1004590"/>
          </a:xfrm>
          <a:prstGeom prst="rect">
            <a:avLst/>
          </a:prstGeom>
          <a:noFill/>
          <a:ln/>
        </p:spPr>
        <p:txBody>
          <a:bodyPr wrap="square" lIns="25400" tIns="25400" rIns="25400" bIns="25400" rtlCol="0" anchor="t">
            <a:normAutofit/>
          </a:bodyPr>
          <a:lstStyle/>
          <a:p>
            <a:pPr algn="l" indent="0" marL="0">
              <a:lnSpc>
                <a:spcPct val="100000"/>
              </a:lnSpc>
              <a:buNone/>
            </a:pPr>
            <a:r>
              <a:rPr lang="en-US" sz="1950" dirty="0">
                <a:solidFill>
                  <a:srgbClr val="C2541F"/>
                </a:solidFill>
                <a:latin typeface="Arial" pitchFamily="34" charset="0"/>
                <a:ea typeface="Arial" pitchFamily="34" charset="-122"/>
                <a:cs typeface="Arial" pitchFamily="34" charset="-120"/>
              </a:rPr>
              <a:t>●</a:t>
            </a:r>
            <a:endParaRPr lang="en-US" sz="1950" dirty="0"/>
          </a:p>
        </p:txBody>
      </p:sp>
      <p:sp>
        <p:nvSpPr>
          <p:cNvPr id="10" name="Text 8"/>
          <p:cNvSpPr/>
          <p:nvPr/>
        </p:nvSpPr>
        <p:spPr>
          <a:xfrm>
            <a:off x="1464171" y="4707434"/>
            <a:ext cx="4089172"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1C2530"/>
                </a:solidFill>
                <a:latin typeface="Arial" pitchFamily="34" charset="0"/>
                <a:ea typeface="Arial" pitchFamily="34" charset="-122"/>
                <a:cs typeface="Arial" pitchFamily="34" charset="-120"/>
              </a:rPr>
              <a:t>Point-in-Time Scan</a:t>
            </a:r>
            <a:endParaRPr lang="en-US" sz="1950" dirty="0"/>
          </a:p>
        </p:txBody>
      </p:sp>
      <p:sp>
        <p:nvSpPr>
          <p:cNvPr id="11" name="Text 9"/>
          <p:cNvSpPr/>
          <p:nvPr/>
        </p:nvSpPr>
        <p:spPr>
          <a:xfrm>
            <a:off x="1464171" y="5069384"/>
            <a:ext cx="3828952" cy="642640"/>
          </a:xfrm>
          <a:prstGeom prst="rect">
            <a:avLst/>
          </a:prstGeom>
          <a:noFill/>
          <a:ln/>
        </p:spPr>
        <p:txBody>
          <a:bodyPr wrap="square" lIns="25400" tIns="25400" rIns="25400" bIns="25400" rtlCol="0" anchor="t">
            <a:normAutofit/>
          </a:bodyPr>
          <a:lstStyle/>
          <a:p>
            <a:pPr algn="l" indent="0" marL="0">
              <a:lnSpc>
                <a:spcPct val="138000"/>
              </a:lnSpc>
              <a:buNone/>
            </a:pPr>
            <a:r>
              <a:rPr lang="en-US" sz="1725" dirty="0">
                <a:solidFill>
                  <a:srgbClr val="5A6675"/>
                </a:solidFill>
                <a:latin typeface="Arial" pitchFamily="34" charset="0"/>
                <a:ea typeface="Arial" pitchFamily="34" charset="-122"/>
                <a:cs typeface="Arial" pitchFamily="34" charset="-120"/>
              </a:rPr>
              <a:t>Run any ref on demand — no local clone or build.</a:t>
            </a:r>
            <a:endParaRPr lang="en-US" sz="1725" dirty="0"/>
          </a:p>
        </p:txBody>
      </p:sp>
      <p:sp>
        <p:nvSpPr>
          <p:cNvPr id="12" name="Text 10"/>
          <p:cNvSpPr/>
          <p:nvPr/>
        </p:nvSpPr>
        <p:spPr>
          <a:xfrm>
            <a:off x="1143000" y="5902523"/>
            <a:ext cx="225921" cy="702320"/>
          </a:xfrm>
          <a:prstGeom prst="rect">
            <a:avLst/>
          </a:prstGeom>
          <a:noFill/>
          <a:ln/>
        </p:spPr>
        <p:txBody>
          <a:bodyPr wrap="square" lIns="25400" tIns="25400" rIns="25400" bIns="25400" rtlCol="0" anchor="t">
            <a:normAutofit/>
          </a:bodyPr>
          <a:lstStyle/>
          <a:p>
            <a:pPr algn="l" indent="0" marL="0">
              <a:lnSpc>
                <a:spcPct val="100000"/>
              </a:lnSpc>
              <a:buNone/>
            </a:pPr>
            <a:r>
              <a:rPr lang="en-US" sz="1950" dirty="0">
                <a:solidFill>
                  <a:srgbClr val="C2541F"/>
                </a:solidFill>
                <a:latin typeface="Arial" pitchFamily="34" charset="0"/>
                <a:ea typeface="Arial" pitchFamily="34" charset="-122"/>
                <a:cs typeface="Arial" pitchFamily="34" charset="-120"/>
              </a:rPr>
              <a:t>●</a:t>
            </a:r>
            <a:endParaRPr lang="en-US" sz="1950" dirty="0"/>
          </a:p>
        </p:txBody>
      </p:sp>
      <p:sp>
        <p:nvSpPr>
          <p:cNvPr id="13" name="Text 11"/>
          <p:cNvSpPr/>
          <p:nvPr/>
        </p:nvSpPr>
        <p:spPr>
          <a:xfrm>
            <a:off x="1464171" y="5902523"/>
            <a:ext cx="3827071"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1C2530"/>
                </a:solidFill>
                <a:latin typeface="Arial" pitchFamily="34" charset="0"/>
                <a:ea typeface="Arial" pitchFamily="34" charset="-122"/>
                <a:cs typeface="Arial" pitchFamily="34" charset="-120"/>
              </a:rPr>
              <a:t>Side-by-Side Compare</a:t>
            </a:r>
            <a:endParaRPr lang="en-US" sz="1950" dirty="0"/>
          </a:p>
        </p:txBody>
      </p:sp>
      <p:sp>
        <p:nvSpPr>
          <p:cNvPr id="14" name="Text 12"/>
          <p:cNvSpPr/>
          <p:nvPr/>
        </p:nvSpPr>
        <p:spPr>
          <a:xfrm>
            <a:off x="1464171" y="6264473"/>
            <a:ext cx="3827071" cy="340370"/>
          </a:xfrm>
          <a:prstGeom prst="rect">
            <a:avLst/>
          </a:prstGeom>
          <a:noFill/>
          <a:ln/>
        </p:spPr>
        <p:txBody>
          <a:bodyPr wrap="square" lIns="25400" tIns="25400" rIns="25400" bIns="25400" rtlCol="0" anchor="t">
            <a:normAutofit/>
          </a:bodyPr>
          <a:lstStyle/>
          <a:p>
            <a:pPr algn="l" indent="0" marL="0">
              <a:lnSpc>
                <a:spcPct val="138000"/>
              </a:lnSpc>
              <a:buNone/>
            </a:pPr>
            <a:r>
              <a:rPr lang="en-US" sz="1725" dirty="0">
                <a:solidFill>
                  <a:srgbClr val="5A6675"/>
                </a:solidFill>
                <a:latin typeface="Arial" pitchFamily="34" charset="0"/>
                <a:ea typeface="Arial" pitchFamily="34" charset="-122"/>
                <a:cs typeface="Arial" pitchFamily="34" charset="-120"/>
              </a:rPr>
              <a:t>Diff two refs directly in the browser.</a:t>
            </a:r>
            <a:endParaRPr lang="en-US" sz="1725" dirty="0"/>
          </a:p>
        </p:txBody>
      </p:sp>
      <p:sp>
        <p:nvSpPr>
          <p:cNvPr id="15" name="Shape 13"/>
          <p:cNvSpPr/>
          <p:nvPr/>
        </p:nvSpPr>
        <p:spPr>
          <a:xfrm>
            <a:off x="1143000" y="8244929"/>
            <a:ext cx="4038600" cy="1318171"/>
          </a:xfrm>
          <a:prstGeom prst="roundRect">
            <a:avLst>
              <a:gd name="adj" fmla="val 7226"/>
            </a:avLst>
          </a:prstGeom>
          <a:solidFill>
            <a:srgbClr val="FFFFFF"/>
          </a:solidFill>
          <a:ln/>
        </p:spPr>
      </p:sp>
      <p:sp>
        <p:nvSpPr>
          <p:cNvPr id="16" name="Shape 14"/>
          <p:cNvSpPr/>
          <p:nvPr/>
        </p:nvSpPr>
        <p:spPr>
          <a:xfrm>
            <a:off x="1143000" y="9553575"/>
            <a:ext cx="4038600" cy="9525"/>
          </a:xfrm>
          <a:prstGeom prst="rect">
            <a:avLst/>
          </a:prstGeom>
          <a:solidFill>
            <a:srgbClr val="E3E8ED"/>
          </a:solidFill>
          <a:ln/>
        </p:spPr>
      </p:sp>
      <p:sp>
        <p:nvSpPr>
          <p:cNvPr id="17" name="Shape 15"/>
          <p:cNvSpPr/>
          <p:nvPr/>
        </p:nvSpPr>
        <p:spPr>
          <a:xfrm>
            <a:off x="1143000" y="8244929"/>
            <a:ext cx="4038600" cy="9525"/>
          </a:xfrm>
          <a:prstGeom prst="rect">
            <a:avLst/>
          </a:prstGeom>
          <a:solidFill>
            <a:srgbClr val="E3E8ED"/>
          </a:solidFill>
          <a:ln/>
        </p:spPr>
      </p:sp>
      <p:sp>
        <p:nvSpPr>
          <p:cNvPr id="18" name="Shape 16"/>
          <p:cNvSpPr/>
          <p:nvPr/>
        </p:nvSpPr>
        <p:spPr>
          <a:xfrm>
            <a:off x="1143000" y="8244929"/>
            <a:ext cx="38100" cy="1318171"/>
          </a:xfrm>
          <a:prstGeom prst="rect">
            <a:avLst/>
          </a:prstGeom>
          <a:solidFill>
            <a:srgbClr val="4A7C97"/>
          </a:solidFill>
          <a:ln/>
        </p:spPr>
      </p:sp>
      <p:sp>
        <p:nvSpPr>
          <p:cNvPr id="19" name="Shape 17"/>
          <p:cNvSpPr/>
          <p:nvPr/>
        </p:nvSpPr>
        <p:spPr>
          <a:xfrm>
            <a:off x="5172075" y="8244929"/>
            <a:ext cx="9525" cy="1318171"/>
          </a:xfrm>
          <a:prstGeom prst="rect">
            <a:avLst/>
          </a:prstGeom>
          <a:solidFill>
            <a:srgbClr val="E3E8ED"/>
          </a:solidFill>
          <a:ln/>
        </p:spPr>
      </p:sp>
      <p:sp>
        <p:nvSpPr>
          <p:cNvPr id="20" name="Text 18"/>
          <p:cNvSpPr/>
          <p:nvPr/>
        </p:nvSpPr>
        <p:spPr>
          <a:xfrm>
            <a:off x="1428750" y="8464004"/>
            <a:ext cx="3616833" cy="918121"/>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A7C97"/>
                </a:solidFill>
                <a:latin typeface="Courier New" pitchFamily="34" charset="0"/>
                <a:ea typeface="Courier New" pitchFamily="34" charset="-122"/>
                <a:cs typeface="Courier New" pitchFamily="34" charset="-120"/>
              </a:rPr>
              <a:t>Note › </a:t>
            </a:r>
            <a:pPr algn="l" indent="0" marL="0">
              <a:lnSpc>
                <a:spcPct val="140000"/>
              </a:lnSpc>
              <a:buNone/>
            </a:pPr>
            <a:r>
              <a:rPr lang="en-US" sz="1650" dirty="0">
                <a:solidFill>
                  <a:srgbClr val="5A6675"/>
                </a:solidFill>
                <a:highlight>
                  <a:srgbClr val="FFFFFF"/>
                </a:highlight>
                <a:latin typeface="Arial" pitchFamily="34" charset="0"/>
                <a:ea typeface="Arial" pitchFamily="34" charset="-122"/>
                <a:cs typeface="Arial" pitchFamily="34" charset="-120"/>
              </a:rPr>
              <a:t>First fetch clones the repo (15–30s); later fetches are cached and instant.</a:t>
            </a:r>
            <a:endParaRPr lang="en-US" sz="1650" dirty="0"/>
          </a:p>
        </p:txBody>
      </p:sp>
      <p:sp>
        <p:nvSpPr>
          <p:cNvPr id="21" name="Shape 19"/>
          <p:cNvSpPr/>
          <p:nvPr/>
        </p:nvSpPr>
        <p:spPr>
          <a:xfrm>
            <a:off x="5715000" y="1525488"/>
            <a:ext cx="11906250" cy="6807250"/>
          </a:xfrm>
          <a:prstGeom prst="roundRect">
            <a:avLst>
              <a:gd name="adj" fmla="val 1959"/>
            </a:avLst>
          </a:prstGeom>
          <a:solidFill>
            <a:srgbClr val="FFFFFF"/>
          </a:solidFill>
          <a:ln w="9525">
            <a:solidFill>
              <a:srgbClr val="D9CDBB"/>
            </a:solidFill>
            <a:prstDash val="solid"/>
          </a:ln>
          <a:effectLst>
            <a:outerShdw sx="100000" sy="100000" kx="0" ky="0" algn="bl" rotWithShape="0" blurRad="476250" dist="190500" dir="5400000">
              <a:srgbClr val="1C2530">
                <a:alpha val="13000"/>
              </a:srgbClr>
            </a:outerShdw>
          </a:effectLst>
        </p:spPr>
      </p:sp>
      <p:pic>
        <p:nvPicPr>
          <p:cNvPr id="22" name="Image 0" descr="preencoded.png">    </p:cNvPr>
          <p:cNvPicPr>
            <a:picLocks noChangeAspect="1"/>
          </p:cNvPicPr>
          <p:nvPr/>
        </p:nvPicPr>
        <p:blipFill>
          <a:blip r:embed="rId1"/>
          <a:stretch>
            <a:fillRect/>
          </a:stretch>
        </p:blipFill>
        <p:spPr>
          <a:xfrm>
            <a:off x="5838825" y="1649313"/>
            <a:ext cx="11658600" cy="6559600"/>
          </a:xfrm>
          <a:prstGeom prst="rect">
            <a:avLst/>
          </a:prstGeom>
        </p:spPr>
      </p:pic>
      <p:sp>
        <p:nvSpPr>
          <p:cNvPr id="23" name="Text 20"/>
          <p:cNvSpPr/>
          <p:nvPr/>
        </p:nvSpPr>
        <p:spPr>
          <a:xfrm>
            <a:off x="5119688" y="8504188"/>
            <a:ext cx="13096875" cy="295275"/>
          </a:xfrm>
          <a:prstGeom prst="rect">
            <a:avLst/>
          </a:prstGeom>
          <a:noFill/>
          <a:ln/>
        </p:spPr>
        <p:txBody>
          <a:bodyPr wrap="square" lIns="25400" tIns="25400" rIns="25400" bIns="25400" rtlCol="0" anchor="t">
            <a:normAutofit/>
          </a:bodyPr>
          <a:lstStyle/>
          <a:p>
            <a:pPr algn="ctr" indent="0" marL="0">
              <a:buNone/>
            </a:pPr>
            <a:r>
              <a:rPr lang="en-US" sz="1500" dirty="0">
                <a:solidFill>
                  <a:srgbClr val="8A93A0"/>
                </a:solidFill>
                <a:latin typeface="Courier New" pitchFamily="34" charset="0"/>
                <a:ea typeface="Courier New" pitchFamily="34" charset="-122"/>
                <a:cs typeface="Courier New" pitchFamily="34" charset="-120"/>
              </a:rPr>
              <a:t>127.0.0.1:4317 — Git Browser</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1450" cy="10287000"/>
          </a:xfrm>
          <a:prstGeom prst="rect">
            <a:avLst/>
          </a:prstGeom>
          <a:gradFill rotWithShape="1">
            <a:gsLst>
              <a:gs pos="0">
                <a:srgbClr val="B4480F">
                  <a:alpha val="100000"/>
                </a:srgbClr>
              </a:gs>
              <a:gs pos="100000">
                <a:srgbClr val="D2691E">
                  <a:alpha val="100000"/>
                </a:srgbClr>
              </a:gs>
            </a:gsLst>
            <a:lin ang="5400000" scaled="0"/>
          </a:gradFill>
          <a:ln/>
        </p:spPr>
      </p:sp>
      <p:sp>
        <p:nvSpPr>
          <p:cNvPr id="3" name="Text 1"/>
          <p:cNvSpPr/>
          <p:nvPr/>
        </p:nvSpPr>
        <p:spPr>
          <a:xfrm>
            <a:off x="10650141" y="2095500"/>
            <a:ext cx="7458670" cy="6134100"/>
          </a:xfrm>
          <a:prstGeom prst="rect">
            <a:avLst/>
          </a:prstGeom>
          <a:noFill/>
          <a:ln/>
        </p:spPr>
        <p:txBody>
          <a:bodyPr wrap="square" lIns="25400" tIns="25400" rIns="25400" bIns="25400" rtlCol="0" anchor="t">
            <a:normAutofit/>
          </a:bodyPr>
          <a:lstStyle/>
          <a:p>
            <a:pPr algn="l" indent="0" marL="0">
              <a:lnSpc>
                <a:spcPct val="120000"/>
              </a:lnSpc>
              <a:buNone/>
            </a:pPr>
            <a:r>
              <a:rPr lang="en-US" sz="40000" b="1" dirty="0">
                <a:solidFill>
                  <a:srgbClr val="F4F6F8"/>
                </a:solidFill>
                <a:latin typeface="Arial" pitchFamily="34" charset="0"/>
                <a:ea typeface="Arial" pitchFamily="34" charset="-122"/>
                <a:cs typeface="Arial" pitchFamily="34" charset="-120"/>
              </a:rPr>
              <a:t>02</a:t>
            </a:r>
            <a:endParaRPr lang="en-US" sz="40000" dirty="0"/>
          </a:p>
        </p:txBody>
      </p:sp>
      <p:sp>
        <p:nvSpPr>
          <p:cNvPr id="4" name="Shape 2"/>
          <p:cNvSpPr/>
          <p:nvPr/>
        </p:nvSpPr>
        <p:spPr>
          <a:xfrm>
            <a:off x="1143000" y="3472904"/>
            <a:ext cx="400050" cy="28575"/>
          </a:xfrm>
          <a:prstGeom prst="rect">
            <a:avLst/>
          </a:prstGeom>
          <a:solidFill>
            <a:srgbClr val="C2541F"/>
          </a:solidFill>
          <a:ln/>
        </p:spPr>
      </p:sp>
      <p:sp>
        <p:nvSpPr>
          <p:cNvPr id="5" name="Text 3"/>
          <p:cNvSpPr/>
          <p:nvPr/>
        </p:nvSpPr>
        <p:spPr>
          <a:xfrm>
            <a:off x="1676400" y="3334792"/>
            <a:ext cx="2137410" cy="342900"/>
          </a:xfrm>
          <a:prstGeom prst="rect">
            <a:avLst/>
          </a:prstGeom>
          <a:noFill/>
          <a:ln/>
        </p:spPr>
        <p:txBody>
          <a:bodyPr wrap="square" lIns="25400" tIns="25400" rIns="25400" bIns="25400" rtlCol="0" anchor="t">
            <a:normAutofit/>
          </a:bodyPr>
          <a:lstStyle/>
          <a:p>
            <a:pPr algn="l" indent="0" marL="0">
              <a:buNone/>
            </a:pPr>
            <a:r>
              <a:rPr lang="en-US" sz="1800" spc="450" kern="0" dirty="0">
                <a:solidFill>
                  <a:srgbClr val="8A93A0"/>
                </a:solidFill>
                <a:latin typeface="Courier New" pitchFamily="34" charset="0"/>
                <a:ea typeface="Courier New" pitchFamily="34" charset="-122"/>
                <a:cs typeface="Courier New" pitchFamily="34" charset="-120"/>
              </a:rPr>
              <a:t>SECTION 02</a:t>
            </a:r>
            <a:endParaRPr lang="en-US" sz="1800" dirty="0"/>
          </a:p>
        </p:txBody>
      </p:sp>
      <p:sp>
        <p:nvSpPr>
          <p:cNvPr id="6" name="Text 4"/>
          <p:cNvSpPr/>
          <p:nvPr/>
        </p:nvSpPr>
        <p:spPr>
          <a:xfrm>
            <a:off x="1143000" y="3906292"/>
            <a:ext cx="8931768" cy="2278261"/>
          </a:xfrm>
          <a:prstGeom prst="rect">
            <a:avLst/>
          </a:prstGeom>
          <a:noFill/>
          <a:ln/>
        </p:spPr>
        <p:txBody>
          <a:bodyPr wrap="square" lIns="25400" tIns="25400" rIns="25400" bIns="25400" rtlCol="0" anchor="t">
            <a:normAutofit/>
          </a:bodyPr>
          <a:lstStyle/>
          <a:p>
            <a:pPr algn="l" indent="0" marL="0">
              <a:lnSpc>
                <a:spcPct val="98000"/>
              </a:lnSpc>
              <a:buNone/>
            </a:pPr>
            <a:r>
              <a:rPr lang="en-US" sz="9000" b="1" spc="-150" kern="0" dirty="0">
                <a:solidFill>
                  <a:srgbClr val="1C2530"/>
                </a:solidFill>
                <a:latin typeface="Arial" pitchFamily="34" charset="0"/>
                <a:ea typeface="Arial" pitchFamily="34" charset="-122"/>
                <a:cs typeface="Arial" pitchFamily="34" charset="-120"/>
              </a:rPr>
              <a:t>Reading &amp; Sharing Results</a:t>
            </a:r>
            <a:endParaRPr lang="en-US" sz="9000" dirty="0"/>
          </a:p>
        </p:txBody>
      </p:sp>
      <p:sp>
        <p:nvSpPr>
          <p:cNvPr id="7" name="Text 5"/>
          <p:cNvSpPr/>
          <p:nvPr/>
        </p:nvSpPr>
        <p:spPr>
          <a:xfrm>
            <a:off x="1143000" y="6489353"/>
            <a:ext cx="9538781" cy="500955"/>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5A6675"/>
                </a:solidFill>
                <a:latin typeface="Arial" pitchFamily="34" charset="0"/>
                <a:ea typeface="Arial" pitchFamily="34" charset="-122"/>
                <a:cs typeface="Arial" pitchFamily="34" charset="-120"/>
              </a:rPr>
              <a:t>Reports, test coverage, comparisons, trends, and export.</a:t>
            </a:r>
            <a:endParaRPr lang="en-US" sz="2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1143000" y="914400"/>
            <a:ext cx="323850" cy="28575"/>
          </a:xfrm>
          <a:prstGeom prst="rect">
            <a:avLst/>
          </a:prstGeom>
          <a:solidFill>
            <a:srgbClr val="C2541F"/>
          </a:solidFill>
          <a:ln/>
        </p:spPr>
      </p:sp>
      <p:sp>
        <p:nvSpPr>
          <p:cNvPr id="3" name="Text 1"/>
          <p:cNvSpPr/>
          <p:nvPr/>
        </p:nvSpPr>
        <p:spPr>
          <a:xfrm>
            <a:off x="1600200" y="800100"/>
            <a:ext cx="1885950" cy="295275"/>
          </a:xfrm>
          <a:prstGeom prst="rect">
            <a:avLst/>
          </a:prstGeom>
          <a:noFill/>
          <a:ln/>
        </p:spPr>
        <p:txBody>
          <a:bodyPr wrap="square" lIns="25400" tIns="25400" rIns="25400" bIns="25400" rtlCol="0" anchor="t">
            <a:normAutofit/>
          </a:bodyPr>
          <a:lstStyle/>
          <a:p>
            <a:pPr algn="l" indent="0" marL="0">
              <a:buNone/>
            </a:pPr>
            <a:r>
              <a:rPr lang="en-US" sz="1500" spc="225" kern="0" dirty="0">
                <a:solidFill>
                  <a:srgbClr val="C2541F"/>
                </a:solidFill>
                <a:latin typeface="Courier New" pitchFamily="34" charset="0"/>
                <a:ea typeface="Courier New" pitchFamily="34" charset="-122"/>
                <a:cs typeface="Courier New" pitchFamily="34" charset="-120"/>
              </a:rPr>
              <a:t>VIEW REPORTS</a:t>
            </a:r>
            <a:endParaRPr lang="en-US" sz="1500" dirty="0"/>
          </a:p>
        </p:txBody>
      </p:sp>
      <p:sp>
        <p:nvSpPr>
          <p:cNvPr id="4" name="Text 2"/>
          <p:cNvSpPr/>
          <p:nvPr/>
        </p:nvSpPr>
        <p:spPr>
          <a:xfrm>
            <a:off x="1143000" y="1209675"/>
            <a:ext cx="3767328" cy="1068288"/>
          </a:xfrm>
          <a:prstGeom prst="rect">
            <a:avLst/>
          </a:prstGeom>
          <a:noFill/>
          <a:ln/>
        </p:spPr>
        <p:txBody>
          <a:bodyPr wrap="square" lIns="25400" tIns="25400" rIns="25400" bIns="25400" rtlCol="0" anchor="t">
            <a:normAutofit/>
          </a:bodyPr>
          <a:lstStyle/>
          <a:p>
            <a:pPr algn="l" indent="0" marL="0">
              <a:lnSpc>
                <a:spcPct val="104000"/>
              </a:lnSpc>
              <a:buNone/>
            </a:pPr>
            <a:r>
              <a:rPr lang="en-US" sz="3900" b="1" spc="-75" kern="0" dirty="0">
                <a:solidFill>
                  <a:srgbClr val="1C2530"/>
                </a:solidFill>
                <a:latin typeface="Arial" pitchFamily="34" charset="0"/>
                <a:ea typeface="Arial" pitchFamily="34" charset="-122"/>
                <a:cs typeface="Arial" pitchFamily="34" charset="-120"/>
              </a:rPr>
              <a:t>Every Scan, One Click Away</a:t>
            </a:r>
            <a:endParaRPr lang="en-US" sz="3900" dirty="0"/>
          </a:p>
        </p:txBody>
      </p:sp>
      <p:sp>
        <p:nvSpPr>
          <p:cNvPr id="5" name="Text 3"/>
          <p:cNvSpPr/>
          <p:nvPr/>
        </p:nvSpPr>
        <p:spPr>
          <a:xfrm>
            <a:off x="1143000" y="2449413"/>
            <a:ext cx="3767328" cy="758130"/>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5A6675"/>
                </a:solidFill>
                <a:latin typeface="Arial" pitchFamily="34" charset="0"/>
                <a:ea typeface="Arial" pitchFamily="34" charset="-122"/>
                <a:cs typeface="Arial" pitchFamily="34" charset="-120"/>
              </a:rPr>
              <a:t>Browse your full scan history — open any run as HTML or PDF.</a:t>
            </a:r>
            <a:endParaRPr lang="en-US" sz="2025" dirty="0"/>
          </a:p>
        </p:txBody>
      </p:sp>
      <p:sp>
        <p:nvSpPr>
          <p:cNvPr id="6" name="Text 4"/>
          <p:cNvSpPr/>
          <p:nvPr/>
        </p:nvSpPr>
        <p:spPr>
          <a:xfrm>
            <a:off x="1143000" y="3512344"/>
            <a:ext cx="225921" cy="1004590"/>
          </a:xfrm>
          <a:prstGeom prst="rect">
            <a:avLst/>
          </a:prstGeom>
          <a:noFill/>
          <a:ln/>
        </p:spPr>
        <p:txBody>
          <a:bodyPr wrap="square" lIns="25400" tIns="25400" rIns="25400" bIns="25400" rtlCol="0" anchor="t">
            <a:normAutofit/>
          </a:bodyPr>
          <a:lstStyle/>
          <a:p>
            <a:pPr algn="l" indent="0" marL="0">
              <a:lnSpc>
                <a:spcPct val="100000"/>
              </a:lnSpc>
              <a:buNone/>
            </a:pPr>
            <a:r>
              <a:rPr lang="en-US" sz="1950" dirty="0">
                <a:solidFill>
                  <a:srgbClr val="C2541F"/>
                </a:solidFill>
                <a:latin typeface="Arial" pitchFamily="34" charset="0"/>
                <a:ea typeface="Arial" pitchFamily="34" charset="-122"/>
                <a:cs typeface="Arial" pitchFamily="34" charset="-120"/>
              </a:rPr>
              <a:t>●</a:t>
            </a:r>
            <a:endParaRPr lang="en-US" sz="1950" dirty="0"/>
          </a:p>
        </p:txBody>
      </p:sp>
      <p:sp>
        <p:nvSpPr>
          <p:cNvPr id="7" name="Text 5"/>
          <p:cNvSpPr/>
          <p:nvPr/>
        </p:nvSpPr>
        <p:spPr>
          <a:xfrm>
            <a:off x="1464171" y="3512344"/>
            <a:ext cx="3670072"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1C2530"/>
                </a:solidFill>
                <a:latin typeface="Arial" pitchFamily="34" charset="0"/>
                <a:ea typeface="Arial" pitchFamily="34" charset="-122"/>
                <a:cs typeface="Arial" pitchFamily="34" charset="-120"/>
              </a:rPr>
              <a:t>Saved History</a:t>
            </a:r>
            <a:endParaRPr lang="en-US" sz="1950" dirty="0"/>
          </a:p>
        </p:txBody>
      </p:sp>
      <p:sp>
        <p:nvSpPr>
          <p:cNvPr id="8" name="Text 6"/>
          <p:cNvSpPr/>
          <p:nvPr/>
        </p:nvSpPr>
        <p:spPr>
          <a:xfrm>
            <a:off x="1464171" y="3874294"/>
            <a:ext cx="3436522" cy="642640"/>
          </a:xfrm>
          <a:prstGeom prst="rect">
            <a:avLst/>
          </a:prstGeom>
          <a:noFill/>
          <a:ln/>
        </p:spPr>
        <p:txBody>
          <a:bodyPr wrap="square" lIns="25400" tIns="25400" rIns="25400" bIns="25400" rtlCol="0" anchor="t">
            <a:normAutofit/>
          </a:bodyPr>
          <a:lstStyle/>
          <a:p>
            <a:pPr algn="l" indent="0" marL="0">
              <a:lnSpc>
                <a:spcPct val="138000"/>
              </a:lnSpc>
              <a:buNone/>
            </a:pPr>
            <a:r>
              <a:rPr lang="en-US" sz="1725" dirty="0">
                <a:solidFill>
                  <a:srgbClr val="5A6675"/>
                </a:solidFill>
                <a:latin typeface="Arial" pitchFamily="34" charset="0"/>
                <a:ea typeface="Arial" pitchFamily="34" charset="-122"/>
                <a:cs typeface="Arial" pitchFamily="34" charset="-120"/>
              </a:rPr>
              <a:t>Every run, newest first, across all tracked projects.</a:t>
            </a:r>
            <a:endParaRPr lang="en-US" sz="1725" dirty="0"/>
          </a:p>
        </p:txBody>
      </p:sp>
      <p:sp>
        <p:nvSpPr>
          <p:cNvPr id="9" name="Text 7"/>
          <p:cNvSpPr/>
          <p:nvPr/>
        </p:nvSpPr>
        <p:spPr>
          <a:xfrm>
            <a:off x="1143000" y="4707434"/>
            <a:ext cx="225921" cy="1004590"/>
          </a:xfrm>
          <a:prstGeom prst="rect">
            <a:avLst/>
          </a:prstGeom>
          <a:noFill/>
          <a:ln/>
        </p:spPr>
        <p:txBody>
          <a:bodyPr wrap="square" lIns="25400" tIns="25400" rIns="25400" bIns="25400" rtlCol="0" anchor="t">
            <a:normAutofit/>
          </a:bodyPr>
          <a:lstStyle/>
          <a:p>
            <a:pPr algn="l" indent="0" marL="0">
              <a:lnSpc>
                <a:spcPct val="100000"/>
              </a:lnSpc>
              <a:buNone/>
            </a:pPr>
            <a:r>
              <a:rPr lang="en-US" sz="1950" dirty="0">
                <a:solidFill>
                  <a:srgbClr val="C2541F"/>
                </a:solidFill>
                <a:latin typeface="Arial" pitchFamily="34" charset="0"/>
                <a:ea typeface="Arial" pitchFamily="34" charset="-122"/>
                <a:cs typeface="Arial" pitchFamily="34" charset="-120"/>
              </a:rPr>
              <a:t>●</a:t>
            </a:r>
            <a:endParaRPr lang="en-US" sz="1950" dirty="0"/>
          </a:p>
        </p:txBody>
      </p:sp>
      <p:sp>
        <p:nvSpPr>
          <p:cNvPr id="10" name="Text 8"/>
          <p:cNvSpPr/>
          <p:nvPr/>
        </p:nvSpPr>
        <p:spPr>
          <a:xfrm>
            <a:off x="1464171" y="4707434"/>
            <a:ext cx="3670072"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1C2530"/>
                </a:solidFill>
                <a:latin typeface="Arial" pitchFamily="34" charset="0"/>
                <a:ea typeface="Arial" pitchFamily="34" charset="-122"/>
                <a:cs typeface="Arial" pitchFamily="34" charset="-120"/>
              </a:rPr>
              <a:t>Key Columns</a:t>
            </a:r>
            <a:endParaRPr lang="en-US" sz="1950" dirty="0"/>
          </a:p>
        </p:txBody>
      </p:sp>
      <p:sp>
        <p:nvSpPr>
          <p:cNvPr id="11" name="Text 9"/>
          <p:cNvSpPr/>
          <p:nvPr/>
        </p:nvSpPr>
        <p:spPr>
          <a:xfrm>
            <a:off x="1464171" y="5069384"/>
            <a:ext cx="3436522" cy="642640"/>
          </a:xfrm>
          <a:prstGeom prst="rect">
            <a:avLst/>
          </a:prstGeom>
          <a:noFill/>
          <a:ln/>
        </p:spPr>
        <p:txBody>
          <a:bodyPr wrap="square" lIns="25400" tIns="25400" rIns="25400" bIns="25400" rtlCol="0" anchor="t">
            <a:normAutofit/>
          </a:bodyPr>
          <a:lstStyle/>
          <a:p>
            <a:pPr algn="l" indent="0" marL="0">
              <a:lnSpc>
                <a:spcPct val="138000"/>
              </a:lnSpc>
              <a:buNone/>
            </a:pPr>
            <a:r>
              <a:rPr lang="en-US" sz="1725" dirty="0">
                <a:solidFill>
                  <a:srgbClr val="5A6675"/>
                </a:solidFill>
                <a:latin typeface="Arial" pitchFamily="34" charset="0"/>
                <a:ea typeface="Arial" pitchFamily="34" charset="-122"/>
                <a:cs typeface="Arial" pitchFamily="34" charset="-120"/>
              </a:rPr>
              <a:t>Code, comment &amp; blank lines, plus branch and commit.</a:t>
            </a:r>
            <a:endParaRPr lang="en-US" sz="1725" dirty="0"/>
          </a:p>
        </p:txBody>
      </p:sp>
      <p:sp>
        <p:nvSpPr>
          <p:cNvPr id="12" name="Text 10"/>
          <p:cNvSpPr/>
          <p:nvPr/>
        </p:nvSpPr>
        <p:spPr>
          <a:xfrm>
            <a:off x="1143000" y="5902523"/>
            <a:ext cx="225921" cy="1004590"/>
          </a:xfrm>
          <a:prstGeom prst="rect">
            <a:avLst/>
          </a:prstGeom>
          <a:noFill/>
          <a:ln/>
        </p:spPr>
        <p:txBody>
          <a:bodyPr wrap="square" lIns="25400" tIns="25400" rIns="25400" bIns="25400" rtlCol="0" anchor="t">
            <a:normAutofit/>
          </a:bodyPr>
          <a:lstStyle/>
          <a:p>
            <a:pPr algn="l" indent="0" marL="0">
              <a:lnSpc>
                <a:spcPct val="100000"/>
              </a:lnSpc>
              <a:buNone/>
            </a:pPr>
            <a:r>
              <a:rPr lang="en-US" sz="1950" dirty="0">
                <a:solidFill>
                  <a:srgbClr val="C2541F"/>
                </a:solidFill>
                <a:latin typeface="Arial" pitchFamily="34" charset="0"/>
                <a:ea typeface="Arial" pitchFamily="34" charset="-122"/>
                <a:cs typeface="Arial" pitchFamily="34" charset="-120"/>
              </a:rPr>
              <a:t>●</a:t>
            </a:r>
            <a:endParaRPr lang="en-US" sz="1950" dirty="0"/>
          </a:p>
        </p:txBody>
      </p:sp>
      <p:sp>
        <p:nvSpPr>
          <p:cNvPr id="13" name="Text 11"/>
          <p:cNvSpPr/>
          <p:nvPr/>
        </p:nvSpPr>
        <p:spPr>
          <a:xfrm>
            <a:off x="1464171" y="5902523"/>
            <a:ext cx="3670072"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1C2530"/>
                </a:solidFill>
                <a:latin typeface="Arial" pitchFamily="34" charset="0"/>
                <a:ea typeface="Arial" pitchFamily="34" charset="-122"/>
                <a:cs typeface="Arial" pitchFamily="34" charset="-120"/>
              </a:rPr>
              <a:t>Open or Export</a:t>
            </a:r>
            <a:endParaRPr lang="en-US" sz="1950" dirty="0"/>
          </a:p>
        </p:txBody>
      </p:sp>
      <p:sp>
        <p:nvSpPr>
          <p:cNvPr id="14" name="Text 12"/>
          <p:cNvSpPr/>
          <p:nvPr/>
        </p:nvSpPr>
        <p:spPr>
          <a:xfrm>
            <a:off x="1464171" y="6264473"/>
            <a:ext cx="3436522" cy="642640"/>
          </a:xfrm>
          <a:prstGeom prst="rect">
            <a:avLst/>
          </a:prstGeom>
          <a:noFill/>
          <a:ln/>
        </p:spPr>
        <p:txBody>
          <a:bodyPr wrap="square" lIns="25400" tIns="25400" rIns="25400" bIns="25400" rtlCol="0" anchor="t">
            <a:normAutofit/>
          </a:bodyPr>
          <a:lstStyle/>
          <a:p>
            <a:pPr algn="l" indent="0" marL="0">
              <a:lnSpc>
                <a:spcPct val="138000"/>
              </a:lnSpc>
              <a:buNone/>
            </a:pPr>
            <a:r>
              <a:rPr lang="en-US" sz="1725" dirty="0">
                <a:solidFill>
                  <a:srgbClr val="5A6675"/>
                </a:solidFill>
                <a:latin typeface="Arial" pitchFamily="34" charset="0"/>
                <a:ea typeface="Arial" pitchFamily="34" charset="-122"/>
                <a:cs typeface="Arial" pitchFamily="34" charset="-120"/>
              </a:rPr>
              <a:t>One-click View / PDF per row, or export the list to CSV / Excel.</a:t>
            </a:r>
            <a:endParaRPr lang="en-US" sz="1725" dirty="0"/>
          </a:p>
        </p:txBody>
      </p:sp>
      <p:sp>
        <p:nvSpPr>
          <p:cNvPr id="15" name="Shape 13"/>
          <p:cNvSpPr/>
          <p:nvPr/>
        </p:nvSpPr>
        <p:spPr>
          <a:xfrm>
            <a:off x="5334000" y="1418034"/>
            <a:ext cx="12287250" cy="7022306"/>
          </a:xfrm>
          <a:prstGeom prst="roundRect">
            <a:avLst>
              <a:gd name="adj" fmla="val 1899"/>
            </a:avLst>
          </a:prstGeom>
          <a:solidFill>
            <a:srgbClr val="FFFFFF"/>
          </a:solidFill>
          <a:ln w="9525">
            <a:solidFill>
              <a:srgbClr val="D9CDBB"/>
            </a:solidFill>
            <a:prstDash val="solid"/>
          </a:ln>
          <a:effectLst>
            <a:outerShdw sx="100000" sy="100000" kx="0" ky="0" algn="bl" rotWithShape="0" blurRad="476250" dist="190500" dir="5400000">
              <a:srgbClr val="1C2530">
                <a:alpha val="13000"/>
              </a:srgbClr>
            </a:outerShdw>
          </a:effectLst>
        </p:spPr>
      </p:sp>
      <p:pic>
        <p:nvPicPr>
          <p:cNvPr id="16" name="Image 0" descr="preencoded.png">    </p:cNvPr>
          <p:cNvPicPr>
            <a:picLocks noChangeAspect="1"/>
          </p:cNvPicPr>
          <p:nvPr/>
        </p:nvPicPr>
        <p:blipFill>
          <a:blip r:embed="rId1"/>
          <a:stretch>
            <a:fillRect/>
          </a:stretch>
        </p:blipFill>
        <p:spPr>
          <a:xfrm>
            <a:off x="5457825" y="1541859"/>
            <a:ext cx="12039600" cy="6774656"/>
          </a:xfrm>
          <a:prstGeom prst="rect">
            <a:avLst/>
          </a:prstGeom>
        </p:spPr>
      </p:pic>
      <p:sp>
        <p:nvSpPr>
          <p:cNvPr id="17" name="Text 14"/>
          <p:cNvSpPr/>
          <p:nvPr/>
        </p:nvSpPr>
        <p:spPr>
          <a:xfrm>
            <a:off x="4719638" y="8611791"/>
            <a:ext cx="13515975" cy="295275"/>
          </a:xfrm>
          <a:prstGeom prst="rect">
            <a:avLst/>
          </a:prstGeom>
          <a:noFill/>
          <a:ln/>
        </p:spPr>
        <p:txBody>
          <a:bodyPr wrap="square" lIns="25400" tIns="25400" rIns="25400" bIns="25400" rtlCol="0" anchor="t">
            <a:normAutofit/>
          </a:bodyPr>
          <a:lstStyle/>
          <a:p>
            <a:pPr algn="ctr" indent="0" marL="0">
              <a:buNone/>
            </a:pPr>
            <a:r>
              <a:rPr lang="en-US" sz="1500" dirty="0">
                <a:solidFill>
                  <a:srgbClr val="8A93A0"/>
                </a:solidFill>
                <a:latin typeface="Courier New" pitchFamily="34" charset="0"/>
                <a:ea typeface="Courier New" pitchFamily="34" charset="-122"/>
                <a:cs typeface="Courier New" pitchFamily="34" charset="-120"/>
              </a:rPr>
              <a:t>127.0.0.1:4317 — View Reports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43000" y="914400"/>
            <a:ext cx="323850" cy="28575"/>
          </a:xfrm>
          <a:prstGeom prst="rect">
            <a:avLst/>
          </a:prstGeom>
          <a:solidFill>
            <a:srgbClr val="C2541F"/>
          </a:solidFill>
          <a:ln/>
        </p:spPr>
      </p:sp>
      <p:sp>
        <p:nvSpPr>
          <p:cNvPr id="3" name="Text 1"/>
          <p:cNvSpPr/>
          <p:nvPr/>
        </p:nvSpPr>
        <p:spPr>
          <a:xfrm>
            <a:off x="1600200" y="800100"/>
            <a:ext cx="2357438" cy="295275"/>
          </a:xfrm>
          <a:prstGeom prst="rect">
            <a:avLst/>
          </a:prstGeom>
          <a:noFill/>
          <a:ln/>
        </p:spPr>
        <p:txBody>
          <a:bodyPr wrap="square" lIns="25400" tIns="25400" rIns="25400" bIns="25400" rtlCol="0" anchor="t">
            <a:normAutofit/>
          </a:bodyPr>
          <a:lstStyle/>
          <a:p>
            <a:pPr algn="l" indent="0" marL="0">
              <a:buNone/>
            </a:pPr>
            <a:r>
              <a:rPr lang="en-US" sz="1500" spc="225" kern="0" dirty="0">
                <a:solidFill>
                  <a:srgbClr val="C2541F"/>
                </a:solidFill>
                <a:latin typeface="Courier New" pitchFamily="34" charset="0"/>
                <a:ea typeface="Courier New" pitchFamily="34" charset="-122"/>
                <a:cs typeface="Courier New" pitchFamily="34" charset="-120"/>
              </a:rPr>
              <a:t>INSIDE A REPORT</a:t>
            </a:r>
            <a:endParaRPr lang="en-US" sz="1500" dirty="0"/>
          </a:p>
        </p:txBody>
      </p:sp>
      <p:sp>
        <p:nvSpPr>
          <p:cNvPr id="4" name="Text 2"/>
          <p:cNvSpPr/>
          <p:nvPr/>
        </p:nvSpPr>
        <p:spPr>
          <a:xfrm>
            <a:off x="1143000" y="1209675"/>
            <a:ext cx="3767328" cy="1068288"/>
          </a:xfrm>
          <a:prstGeom prst="rect">
            <a:avLst/>
          </a:prstGeom>
          <a:noFill/>
          <a:ln/>
        </p:spPr>
        <p:txBody>
          <a:bodyPr wrap="square" lIns="25400" tIns="25400" rIns="25400" bIns="25400" rtlCol="0" anchor="t">
            <a:normAutofit/>
          </a:bodyPr>
          <a:lstStyle/>
          <a:p>
            <a:pPr algn="l" indent="0" marL="0">
              <a:lnSpc>
                <a:spcPct val="104000"/>
              </a:lnSpc>
              <a:buNone/>
            </a:pPr>
            <a:r>
              <a:rPr lang="en-US" sz="3900" b="1" spc="-75" kern="0" dirty="0">
                <a:solidFill>
                  <a:srgbClr val="1C2530"/>
                </a:solidFill>
                <a:latin typeface="Arial" pitchFamily="34" charset="0"/>
                <a:ea typeface="Arial" pitchFamily="34" charset="-122"/>
                <a:cs typeface="Arial" pitchFamily="34" charset="-120"/>
              </a:rPr>
              <a:t>The Metrics That Matter</a:t>
            </a:r>
            <a:endParaRPr lang="en-US" sz="3900" dirty="0"/>
          </a:p>
        </p:txBody>
      </p:sp>
      <p:sp>
        <p:nvSpPr>
          <p:cNvPr id="5" name="Text 3"/>
          <p:cNvSpPr/>
          <p:nvPr/>
        </p:nvSpPr>
        <p:spPr>
          <a:xfrm>
            <a:off x="1143000" y="2449413"/>
            <a:ext cx="3767328" cy="758130"/>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5A6675"/>
                </a:solidFill>
                <a:latin typeface="Arial" pitchFamily="34" charset="0"/>
                <a:ea typeface="Arial" pitchFamily="34" charset="-122"/>
                <a:cs typeface="Arial" pitchFamily="34" charset="-120"/>
              </a:rPr>
              <a:t>One run, every angle — from raw counts to cost estimates.</a:t>
            </a:r>
            <a:endParaRPr lang="en-US" sz="2025" dirty="0"/>
          </a:p>
        </p:txBody>
      </p:sp>
      <p:sp>
        <p:nvSpPr>
          <p:cNvPr id="6" name="Text 4"/>
          <p:cNvSpPr/>
          <p:nvPr/>
        </p:nvSpPr>
        <p:spPr>
          <a:xfrm>
            <a:off x="1143000" y="3512344"/>
            <a:ext cx="225921" cy="1004590"/>
          </a:xfrm>
          <a:prstGeom prst="rect">
            <a:avLst/>
          </a:prstGeom>
          <a:noFill/>
          <a:ln/>
        </p:spPr>
        <p:txBody>
          <a:bodyPr wrap="square" lIns="25400" tIns="25400" rIns="25400" bIns="25400" rtlCol="0" anchor="t">
            <a:normAutofit/>
          </a:bodyPr>
          <a:lstStyle/>
          <a:p>
            <a:pPr algn="l" indent="0" marL="0">
              <a:lnSpc>
                <a:spcPct val="100000"/>
              </a:lnSpc>
              <a:buNone/>
            </a:pPr>
            <a:r>
              <a:rPr lang="en-US" sz="1950" dirty="0">
                <a:solidFill>
                  <a:srgbClr val="C2541F"/>
                </a:solidFill>
                <a:latin typeface="Arial" pitchFamily="34" charset="0"/>
                <a:ea typeface="Arial" pitchFamily="34" charset="-122"/>
                <a:cs typeface="Arial" pitchFamily="34" charset="-120"/>
              </a:rPr>
              <a:t>●</a:t>
            </a:r>
            <a:endParaRPr lang="en-US" sz="1950" dirty="0"/>
          </a:p>
        </p:txBody>
      </p:sp>
      <p:sp>
        <p:nvSpPr>
          <p:cNvPr id="7" name="Text 5"/>
          <p:cNvSpPr/>
          <p:nvPr/>
        </p:nvSpPr>
        <p:spPr>
          <a:xfrm>
            <a:off x="1464171" y="3512344"/>
            <a:ext cx="3670072"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1C2530"/>
                </a:solidFill>
                <a:latin typeface="Arial" pitchFamily="34" charset="0"/>
                <a:ea typeface="Arial" pitchFamily="34" charset="-122"/>
                <a:cs typeface="Arial" pitchFamily="34" charset="-120"/>
              </a:rPr>
              <a:t>Headline Counts</a:t>
            </a:r>
            <a:endParaRPr lang="en-US" sz="1950" dirty="0"/>
          </a:p>
        </p:txBody>
      </p:sp>
      <p:sp>
        <p:nvSpPr>
          <p:cNvPr id="8" name="Text 6"/>
          <p:cNvSpPr/>
          <p:nvPr/>
        </p:nvSpPr>
        <p:spPr>
          <a:xfrm>
            <a:off x="1464171" y="3874294"/>
            <a:ext cx="3436522" cy="642640"/>
          </a:xfrm>
          <a:prstGeom prst="rect">
            <a:avLst/>
          </a:prstGeom>
          <a:noFill/>
          <a:ln/>
        </p:spPr>
        <p:txBody>
          <a:bodyPr wrap="square" lIns="25400" tIns="25400" rIns="25400" bIns="25400" rtlCol="0" anchor="t">
            <a:normAutofit/>
          </a:bodyPr>
          <a:lstStyle/>
          <a:p>
            <a:pPr algn="l" indent="0" marL="0">
              <a:lnSpc>
                <a:spcPct val="138000"/>
              </a:lnSpc>
              <a:buNone/>
            </a:pPr>
            <a:r>
              <a:rPr lang="en-US" sz="1725" dirty="0">
                <a:solidFill>
                  <a:srgbClr val="5A6675"/>
                </a:solidFill>
                <a:latin typeface="Arial" pitchFamily="34" charset="0"/>
                <a:ea typeface="Arial" pitchFamily="34" charset="-122"/>
                <a:cs typeface="Arial" pitchFamily="34" charset="-120"/>
              </a:rPr>
              <a:t>Code, comments, blanks, functions, classes &amp; imports.</a:t>
            </a:r>
            <a:endParaRPr lang="en-US" sz="1725" dirty="0"/>
          </a:p>
        </p:txBody>
      </p:sp>
      <p:sp>
        <p:nvSpPr>
          <p:cNvPr id="9" name="Text 7"/>
          <p:cNvSpPr/>
          <p:nvPr/>
        </p:nvSpPr>
        <p:spPr>
          <a:xfrm>
            <a:off x="1143000" y="4707434"/>
            <a:ext cx="225921" cy="1004590"/>
          </a:xfrm>
          <a:prstGeom prst="rect">
            <a:avLst/>
          </a:prstGeom>
          <a:noFill/>
          <a:ln/>
        </p:spPr>
        <p:txBody>
          <a:bodyPr wrap="square" lIns="25400" tIns="25400" rIns="25400" bIns="25400" rtlCol="0" anchor="t">
            <a:normAutofit/>
          </a:bodyPr>
          <a:lstStyle/>
          <a:p>
            <a:pPr algn="l" indent="0" marL="0">
              <a:lnSpc>
                <a:spcPct val="100000"/>
              </a:lnSpc>
              <a:buNone/>
            </a:pPr>
            <a:r>
              <a:rPr lang="en-US" sz="1950" dirty="0">
                <a:solidFill>
                  <a:srgbClr val="C2541F"/>
                </a:solidFill>
                <a:latin typeface="Arial" pitchFamily="34" charset="0"/>
                <a:ea typeface="Arial" pitchFamily="34" charset="-122"/>
                <a:cs typeface="Arial" pitchFamily="34" charset="-120"/>
              </a:rPr>
              <a:t>●</a:t>
            </a:r>
            <a:endParaRPr lang="en-US" sz="1950" dirty="0"/>
          </a:p>
        </p:txBody>
      </p:sp>
      <p:sp>
        <p:nvSpPr>
          <p:cNvPr id="10" name="Text 8"/>
          <p:cNvSpPr/>
          <p:nvPr/>
        </p:nvSpPr>
        <p:spPr>
          <a:xfrm>
            <a:off x="1464171" y="4707434"/>
            <a:ext cx="3670072"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1C2530"/>
                </a:solidFill>
                <a:latin typeface="Arial" pitchFamily="34" charset="0"/>
                <a:ea typeface="Arial" pitchFamily="34" charset="-122"/>
                <a:cs typeface="Arial" pitchFamily="34" charset="-120"/>
              </a:rPr>
              <a:t>Effort &amp; Quality</a:t>
            </a:r>
            <a:endParaRPr lang="en-US" sz="1950" dirty="0"/>
          </a:p>
        </p:txBody>
      </p:sp>
      <p:sp>
        <p:nvSpPr>
          <p:cNvPr id="11" name="Text 9"/>
          <p:cNvSpPr/>
          <p:nvPr/>
        </p:nvSpPr>
        <p:spPr>
          <a:xfrm>
            <a:off x="1464171" y="5069384"/>
            <a:ext cx="3436522" cy="642640"/>
          </a:xfrm>
          <a:prstGeom prst="rect">
            <a:avLst/>
          </a:prstGeom>
          <a:noFill/>
          <a:ln/>
        </p:spPr>
        <p:txBody>
          <a:bodyPr wrap="square" lIns="25400" tIns="25400" rIns="25400" bIns="25400" rtlCol="0" anchor="t">
            <a:normAutofit/>
          </a:bodyPr>
          <a:lstStyle/>
          <a:p>
            <a:pPr algn="l" indent="0" marL="0">
              <a:lnSpc>
                <a:spcPct val="138000"/>
              </a:lnSpc>
              <a:buNone/>
            </a:pPr>
            <a:r>
              <a:rPr lang="en-US" sz="1725" dirty="0">
                <a:solidFill>
                  <a:srgbClr val="5A6675"/>
                </a:solidFill>
                <a:latin typeface="Arial" pitchFamily="34" charset="0"/>
                <a:ea typeface="Arial" pitchFamily="34" charset="-122"/>
                <a:cs typeface="Arial" pitchFamily="34" charset="-120"/>
              </a:rPr>
              <a:t>COCOMO estimate, complexity score, code density, DRYness.</a:t>
            </a:r>
            <a:endParaRPr lang="en-US" sz="1725" dirty="0"/>
          </a:p>
        </p:txBody>
      </p:sp>
      <p:sp>
        <p:nvSpPr>
          <p:cNvPr id="12" name="Text 10"/>
          <p:cNvSpPr/>
          <p:nvPr/>
        </p:nvSpPr>
        <p:spPr>
          <a:xfrm>
            <a:off x="1143000" y="5902523"/>
            <a:ext cx="225921" cy="1004590"/>
          </a:xfrm>
          <a:prstGeom prst="rect">
            <a:avLst/>
          </a:prstGeom>
          <a:noFill/>
          <a:ln/>
        </p:spPr>
        <p:txBody>
          <a:bodyPr wrap="square" lIns="25400" tIns="25400" rIns="25400" bIns="25400" rtlCol="0" anchor="t">
            <a:normAutofit/>
          </a:bodyPr>
          <a:lstStyle/>
          <a:p>
            <a:pPr algn="l" indent="0" marL="0">
              <a:lnSpc>
                <a:spcPct val="100000"/>
              </a:lnSpc>
              <a:buNone/>
            </a:pPr>
            <a:r>
              <a:rPr lang="en-US" sz="1950" dirty="0">
                <a:solidFill>
                  <a:srgbClr val="C2541F"/>
                </a:solidFill>
                <a:latin typeface="Arial" pitchFamily="34" charset="0"/>
                <a:ea typeface="Arial" pitchFamily="34" charset="-122"/>
                <a:cs typeface="Arial" pitchFamily="34" charset="-120"/>
              </a:rPr>
              <a:t>●</a:t>
            </a:r>
            <a:endParaRPr lang="en-US" sz="1950" dirty="0"/>
          </a:p>
        </p:txBody>
      </p:sp>
      <p:sp>
        <p:nvSpPr>
          <p:cNvPr id="13" name="Text 11"/>
          <p:cNvSpPr/>
          <p:nvPr/>
        </p:nvSpPr>
        <p:spPr>
          <a:xfrm>
            <a:off x="1464171" y="5902523"/>
            <a:ext cx="3670072"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1C2530"/>
                </a:solidFill>
                <a:latin typeface="Arial" pitchFamily="34" charset="0"/>
                <a:ea typeface="Arial" pitchFamily="34" charset="-122"/>
                <a:cs typeface="Arial" pitchFamily="34" charset="-120"/>
              </a:rPr>
              <a:t>Code Style Analysis</a:t>
            </a:r>
            <a:endParaRPr lang="en-US" sz="1950" dirty="0"/>
          </a:p>
        </p:txBody>
      </p:sp>
      <p:sp>
        <p:nvSpPr>
          <p:cNvPr id="14" name="Text 12"/>
          <p:cNvSpPr/>
          <p:nvPr/>
        </p:nvSpPr>
        <p:spPr>
          <a:xfrm>
            <a:off x="1464171" y="6264473"/>
            <a:ext cx="3436522" cy="642640"/>
          </a:xfrm>
          <a:prstGeom prst="rect">
            <a:avLst/>
          </a:prstGeom>
          <a:noFill/>
          <a:ln/>
        </p:spPr>
        <p:txBody>
          <a:bodyPr wrap="square" lIns="25400" tIns="25400" rIns="25400" bIns="25400" rtlCol="0" anchor="t">
            <a:normAutofit/>
          </a:bodyPr>
          <a:lstStyle/>
          <a:p>
            <a:pPr algn="l" indent="0" marL="0">
              <a:lnSpc>
                <a:spcPct val="138000"/>
              </a:lnSpc>
              <a:buNone/>
            </a:pPr>
            <a:r>
              <a:rPr lang="en-US" sz="1725" dirty="0">
                <a:solidFill>
                  <a:srgbClr val="5A6675"/>
                </a:solidFill>
                <a:latin typeface="Arial" pitchFamily="34" charset="0"/>
                <a:ea typeface="Arial" pitchFamily="34" charset="-122"/>
                <a:cs typeface="Arial" pitchFamily="34" charset="-120"/>
              </a:rPr>
              <a:t>Per-language guide adherence and 80-col compliance.</a:t>
            </a:r>
            <a:endParaRPr lang="en-US" sz="1725" dirty="0"/>
          </a:p>
        </p:txBody>
      </p:sp>
      <p:sp>
        <p:nvSpPr>
          <p:cNvPr id="15" name="Text 13"/>
          <p:cNvSpPr/>
          <p:nvPr/>
        </p:nvSpPr>
        <p:spPr>
          <a:xfrm>
            <a:off x="1143000" y="7097613"/>
            <a:ext cx="225921" cy="1004590"/>
          </a:xfrm>
          <a:prstGeom prst="rect">
            <a:avLst/>
          </a:prstGeom>
          <a:noFill/>
          <a:ln/>
        </p:spPr>
        <p:txBody>
          <a:bodyPr wrap="square" lIns="25400" tIns="25400" rIns="25400" bIns="25400" rtlCol="0" anchor="t">
            <a:normAutofit/>
          </a:bodyPr>
          <a:lstStyle/>
          <a:p>
            <a:pPr algn="l" indent="0" marL="0">
              <a:lnSpc>
                <a:spcPct val="100000"/>
              </a:lnSpc>
              <a:buNone/>
            </a:pPr>
            <a:r>
              <a:rPr lang="en-US" sz="1950" dirty="0">
                <a:solidFill>
                  <a:srgbClr val="C2541F"/>
                </a:solidFill>
                <a:latin typeface="Arial" pitchFamily="34" charset="0"/>
                <a:ea typeface="Arial" pitchFamily="34" charset="-122"/>
                <a:cs typeface="Arial" pitchFamily="34" charset="-120"/>
              </a:rPr>
              <a:t>●</a:t>
            </a:r>
            <a:endParaRPr lang="en-US" sz="1950" dirty="0"/>
          </a:p>
        </p:txBody>
      </p:sp>
      <p:sp>
        <p:nvSpPr>
          <p:cNvPr id="16" name="Text 14"/>
          <p:cNvSpPr/>
          <p:nvPr/>
        </p:nvSpPr>
        <p:spPr>
          <a:xfrm>
            <a:off x="1464171" y="7097613"/>
            <a:ext cx="3670072"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1C2530"/>
                </a:solidFill>
                <a:latin typeface="Arial" pitchFamily="34" charset="0"/>
                <a:ea typeface="Arial" pitchFamily="34" charset="-122"/>
                <a:cs typeface="Arial" pitchFamily="34" charset="-120"/>
              </a:rPr>
              <a:t>Grab the Artifacts</a:t>
            </a:r>
            <a:endParaRPr lang="en-US" sz="1950" dirty="0"/>
          </a:p>
        </p:txBody>
      </p:sp>
      <p:sp>
        <p:nvSpPr>
          <p:cNvPr id="17" name="Text 15"/>
          <p:cNvSpPr/>
          <p:nvPr/>
        </p:nvSpPr>
        <p:spPr>
          <a:xfrm>
            <a:off x="1464171" y="7459563"/>
            <a:ext cx="3436522" cy="642640"/>
          </a:xfrm>
          <a:prstGeom prst="rect">
            <a:avLst/>
          </a:prstGeom>
          <a:noFill/>
          <a:ln/>
        </p:spPr>
        <p:txBody>
          <a:bodyPr wrap="square" lIns="25400" tIns="25400" rIns="25400" bIns="25400" rtlCol="0" anchor="t">
            <a:normAutofit/>
          </a:bodyPr>
          <a:lstStyle/>
          <a:p>
            <a:pPr algn="l" indent="0" marL="0">
              <a:lnSpc>
                <a:spcPct val="138000"/>
              </a:lnSpc>
              <a:buNone/>
            </a:pPr>
            <a:r>
              <a:rPr lang="en-US" sz="1725" dirty="0">
                <a:solidFill>
                  <a:srgbClr val="5A6675"/>
                </a:solidFill>
                <a:latin typeface="Arial" pitchFamily="34" charset="0"/>
                <a:ea typeface="Arial" pitchFamily="34" charset="-122"/>
                <a:cs typeface="Arial" pitchFamily="34" charset="-120"/>
              </a:rPr>
              <a:t>Open or download HTML, PDF or JSON — or re-run the scan.</a:t>
            </a:r>
            <a:endParaRPr lang="en-US" sz="1725" dirty="0"/>
          </a:p>
        </p:txBody>
      </p:sp>
      <p:sp>
        <p:nvSpPr>
          <p:cNvPr id="18" name="Shape 16"/>
          <p:cNvSpPr/>
          <p:nvPr/>
        </p:nvSpPr>
        <p:spPr>
          <a:xfrm>
            <a:off x="5334000" y="1277541"/>
            <a:ext cx="12287250" cy="7303145"/>
          </a:xfrm>
          <a:prstGeom prst="roundRect">
            <a:avLst>
              <a:gd name="adj" fmla="val 1826"/>
            </a:avLst>
          </a:prstGeom>
          <a:solidFill>
            <a:srgbClr val="FFFFFF"/>
          </a:solidFill>
          <a:ln w="9525">
            <a:solidFill>
              <a:srgbClr val="D9CDBB"/>
            </a:solidFill>
            <a:prstDash val="solid"/>
          </a:ln>
          <a:effectLst>
            <a:outerShdw sx="100000" sy="100000" kx="0" ky="0" algn="bl" rotWithShape="0" blurRad="476250" dist="190500" dir="5400000">
              <a:srgbClr val="1C2530">
                <a:alpha val="13000"/>
              </a:srgbClr>
            </a:outerShdw>
          </a:effectLst>
        </p:spPr>
      </p:sp>
      <p:pic>
        <p:nvPicPr>
          <p:cNvPr id="19" name="Image 0" descr="preencoded.png">    </p:cNvPr>
          <p:cNvPicPr>
            <a:picLocks noChangeAspect="1"/>
          </p:cNvPicPr>
          <p:nvPr/>
        </p:nvPicPr>
        <p:blipFill>
          <a:blip r:embed="rId1"/>
          <a:stretch>
            <a:fillRect/>
          </a:stretch>
        </p:blipFill>
        <p:spPr>
          <a:xfrm>
            <a:off x="5457825" y="1401366"/>
            <a:ext cx="12039600" cy="7055495"/>
          </a:xfrm>
          <a:prstGeom prst="rect">
            <a:avLst/>
          </a:prstGeom>
        </p:spPr>
      </p:pic>
      <p:sp>
        <p:nvSpPr>
          <p:cNvPr id="20" name="Text 17"/>
          <p:cNvSpPr/>
          <p:nvPr/>
        </p:nvSpPr>
        <p:spPr>
          <a:xfrm>
            <a:off x="4719638" y="8752136"/>
            <a:ext cx="13515975" cy="295275"/>
          </a:xfrm>
          <a:prstGeom prst="rect">
            <a:avLst/>
          </a:prstGeom>
          <a:noFill/>
          <a:ln/>
        </p:spPr>
        <p:txBody>
          <a:bodyPr wrap="square" lIns="25400" tIns="25400" rIns="25400" bIns="25400" rtlCol="0" anchor="t">
            <a:normAutofit/>
          </a:bodyPr>
          <a:lstStyle/>
          <a:p>
            <a:pPr algn="ctr" indent="0" marL="0">
              <a:buNone/>
            </a:pPr>
            <a:r>
              <a:rPr lang="en-US" sz="1500" dirty="0">
                <a:solidFill>
                  <a:srgbClr val="8A93A0"/>
                </a:solidFill>
                <a:latin typeface="Courier New" pitchFamily="34" charset="0"/>
                <a:ea typeface="Courier New" pitchFamily="34" charset="-122"/>
                <a:cs typeface="Courier New" pitchFamily="34" charset="-120"/>
              </a:rPr>
              <a:t>127.0.0.1:4317 — Report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1143000" y="914400"/>
            <a:ext cx="323850" cy="28575"/>
          </a:xfrm>
          <a:prstGeom prst="rect">
            <a:avLst/>
          </a:prstGeom>
          <a:solidFill>
            <a:srgbClr val="C2541F"/>
          </a:solidFill>
          <a:ln/>
        </p:spPr>
      </p:sp>
      <p:sp>
        <p:nvSpPr>
          <p:cNvPr id="3" name="Text 1"/>
          <p:cNvSpPr/>
          <p:nvPr/>
        </p:nvSpPr>
        <p:spPr>
          <a:xfrm>
            <a:off x="1600200" y="800100"/>
            <a:ext cx="1885950" cy="295275"/>
          </a:xfrm>
          <a:prstGeom prst="rect">
            <a:avLst/>
          </a:prstGeom>
          <a:noFill/>
          <a:ln/>
        </p:spPr>
        <p:txBody>
          <a:bodyPr wrap="square" lIns="25400" tIns="25400" rIns="25400" bIns="25400" rtlCol="0" anchor="t">
            <a:normAutofit/>
          </a:bodyPr>
          <a:lstStyle/>
          <a:p>
            <a:pPr algn="l" indent="0" marL="0">
              <a:buNone/>
            </a:pPr>
            <a:r>
              <a:rPr lang="en-US" sz="1500" spc="225" kern="0" dirty="0">
                <a:solidFill>
                  <a:srgbClr val="C2541F"/>
                </a:solidFill>
                <a:latin typeface="Courier New" pitchFamily="34" charset="0"/>
                <a:ea typeface="Courier New" pitchFamily="34" charset="-122"/>
                <a:cs typeface="Courier New" pitchFamily="34" charset="-120"/>
              </a:rPr>
              <a:t>TEST METRICS</a:t>
            </a:r>
            <a:endParaRPr lang="en-US" sz="1500" dirty="0"/>
          </a:p>
        </p:txBody>
      </p:sp>
      <p:sp>
        <p:nvSpPr>
          <p:cNvPr id="4" name="Text 2"/>
          <p:cNvSpPr/>
          <p:nvPr/>
        </p:nvSpPr>
        <p:spPr>
          <a:xfrm>
            <a:off x="1143000" y="1209675"/>
            <a:ext cx="3767328" cy="1068288"/>
          </a:xfrm>
          <a:prstGeom prst="rect">
            <a:avLst/>
          </a:prstGeom>
          <a:noFill/>
          <a:ln/>
        </p:spPr>
        <p:txBody>
          <a:bodyPr wrap="square" lIns="25400" tIns="25400" rIns="25400" bIns="25400" rtlCol="0" anchor="t">
            <a:normAutofit/>
          </a:bodyPr>
          <a:lstStyle/>
          <a:p>
            <a:pPr algn="l" indent="0" marL="0">
              <a:lnSpc>
                <a:spcPct val="104000"/>
              </a:lnSpc>
              <a:buNone/>
            </a:pPr>
            <a:r>
              <a:rPr lang="en-US" sz="3900" b="1" spc="-75" kern="0" dirty="0">
                <a:solidFill>
                  <a:srgbClr val="1C2530"/>
                </a:solidFill>
                <a:latin typeface="Arial" pitchFamily="34" charset="0"/>
                <a:ea typeface="Arial" pitchFamily="34" charset="-122"/>
                <a:cs typeface="Arial" pitchFamily="34" charset="-120"/>
              </a:rPr>
              <a:t>Tests &amp; Coverage</a:t>
            </a:r>
            <a:endParaRPr lang="en-US" sz="3900" dirty="0"/>
          </a:p>
        </p:txBody>
      </p:sp>
      <p:sp>
        <p:nvSpPr>
          <p:cNvPr id="5" name="Text 3"/>
          <p:cNvSpPr/>
          <p:nvPr/>
        </p:nvSpPr>
        <p:spPr>
          <a:xfrm>
            <a:off x="1143000" y="2449413"/>
            <a:ext cx="3767328" cy="1118146"/>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5A6675"/>
                </a:solidFill>
                <a:latin typeface="Arial" pitchFamily="34" charset="0"/>
                <a:ea typeface="Arial" pitchFamily="34" charset="-122"/>
                <a:cs typeface="Arial" pitchFamily="34" charset="-120"/>
              </a:rPr>
              <a:t>How much of the codebase is tested — without running the suite.</a:t>
            </a:r>
            <a:endParaRPr lang="en-US" sz="2025" dirty="0"/>
          </a:p>
        </p:txBody>
      </p:sp>
      <p:sp>
        <p:nvSpPr>
          <p:cNvPr id="6" name="Text 4"/>
          <p:cNvSpPr/>
          <p:nvPr/>
        </p:nvSpPr>
        <p:spPr>
          <a:xfrm>
            <a:off x="1143000" y="3872359"/>
            <a:ext cx="225921" cy="1004590"/>
          </a:xfrm>
          <a:prstGeom prst="rect">
            <a:avLst/>
          </a:prstGeom>
          <a:noFill/>
          <a:ln/>
        </p:spPr>
        <p:txBody>
          <a:bodyPr wrap="square" lIns="25400" tIns="25400" rIns="25400" bIns="25400" rtlCol="0" anchor="t">
            <a:normAutofit/>
          </a:bodyPr>
          <a:lstStyle/>
          <a:p>
            <a:pPr algn="l" indent="0" marL="0">
              <a:lnSpc>
                <a:spcPct val="100000"/>
              </a:lnSpc>
              <a:buNone/>
            </a:pPr>
            <a:r>
              <a:rPr lang="en-US" sz="1950" dirty="0">
                <a:solidFill>
                  <a:srgbClr val="C2541F"/>
                </a:solidFill>
                <a:latin typeface="Arial" pitchFamily="34" charset="0"/>
                <a:ea typeface="Arial" pitchFamily="34" charset="-122"/>
                <a:cs typeface="Arial" pitchFamily="34" charset="-120"/>
              </a:rPr>
              <a:t>●</a:t>
            </a:r>
            <a:endParaRPr lang="en-US" sz="1950" dirty="0"/>
          </a:p>
        </p:txBody>
      </p:sp>
      <p:sp>
        <p:nvSpPr>
          <p:cNvPr id="7" name="Text 5"/>
          <p:cNvSpPr/>
          <p:nvPr/>
        </p:nvSpPr>
        <p:spPr>
          <a:xfrm>
            <a:off x="1464171" y="3872359"/>
            <a:ext cx="3670072"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1C2530"/>
                </a:solidFill>
                <a:latin typeface="Arial" pitchFamily="34" charset="0"/>
                <a:ea typeface="Arial" pitchFamily="34" charset="-122"/>
                <a:cs typeface="Arial" pitchFamily="34" charset="-120"/>
              </a:rPr>
              <a:t>Test Detection</a:t>
            </a:r>
            <a:endParaRPr lang="en-US" sz="1950" dirty="0"/>
          </a:p>
        </p:txBody>
      </p:sp>
      <p:sp>
        <p:nvSpPr>
          <p:cNvPr id="8" name="Text 6"/>
          <p:cNvSpPr/>
          <p:nvPr/>
        </p:nvSpPr>
        <p:spPr>
          <a:xfrm>
            <a:off x="1464171" y="4234309"/>
            <a:ext cx="3436522" cy="642640"/>
          </a:xfrm>
          <a:prstGeom prst="rect">
            <a:avLst/>
          </a:prstGeom>
          <a:noFill/>
          <a:ln/>
        </p:spPr>
        <p:txBody>
          <a:bodyPr wrap="square" lIns="25400" tIns="25400" rIns="25400" bIns="25400" rtlCol="0" anchor="t">
            <a:normAutofit/>
          </a:bodyPr>
          <a:lstStyle/>
          <a:p>
            <a:pPr algn="l" indent="0" marL="0">
              <a:lnSpc>
                <a:spcPct val="138000"/>
              </a:lnSpc>
              <a:buNone/>
            </a:pPr>
            <a:r>
              <a:rPr lang="en-US" sz="1725" dirty="0">
                <a:solidFill>
                  <a:srgbClr val="5A6675"/>
                </a:solidFill>
                <a:latin typeface="Arial" pitchFamily="34" charset="0"/>
                <a:ea typeface="Arial" pitchFamily="34" charset="-122"/>
                <a:cs typeface="Arial" pitchFamily="34" charset="-120"/>
              </a:rPr>
              <a:t>Test functions &amp; suites found across 60 languages.</a:t>
            </a:r>
            <a:endParaRPr lang="en-US" sz="1725" dirty="0"/>
          </a:p>
        </p:txBody>
      </p:sp>
      <p:sp>
        <p:nvSpPr>
          <p:cNvPr id="9" name="Text 7"/>
          <p:cNvSpPr/>
          <p:nvPr/>
        </p:nvSpPr>
        <p:spPr>
          <a:xfrm>
            <a:off x="1143000" y="5067449"/>
            <a:ext cx="225921" cy="1004590"/>
          </a:xfrm>
          <a:prstGeom prst="rect">
            <a:avLst/>
          </a:prstGeom>
          <a:noFill/>
          <a:ln/>
        </p:spPr>
        <p:txBody>
          <a:bodyPr wrap="square" lIns="25400" tIns="25400" rIns="25400" bIns="25400" rtlCol="0" anchor="t">
            <a:normAutofit/>
          </a:bodyPr>
          <a:lstStyle/>
          <a:p>
            <a:pPr algn="l" indent="0" marL="0">
              <a:lnSpc>
                <a:spcPct val="100000"/>
              </a:lnSpc>
              <a:buNone/>
            </a:pPr>
            <a:r>
              <a:rPr lang="en-US" sz="1950" dirty="0">
                <a:solidFill>
                  <a:srgbClr val="C2541F"/>
                </a:solidFill>
                <a:latin typeface="Arial" pitchFamily="34" charset="0"/>
                <a:ea typeface="Arial" pitchFamily="34" charset="-122"/>
                <a:cs typeface="Arial" pitchFamily="34" charset="-120"/>
              </a:rPr>
              <a:t>●</a:t>
            </a:r>
            <a:endParaRPr lang="en-US" sz="1950" dirty="0"/>
          </a:p>
        </p:txBody>
      </p:sp>
      <p:sp>
        <p:nvSpPr>
          <p:cNvPr id="10" name="Text 8"/>
          <p:cNvSpPr/>
          <p:nvPr/>
        </p:nvSpPr>
        <p:spPr>
          <a:xfrm>
            <a:off x="1464171" y="5067449"/>
            <a:ext cx="3670072"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1C2530"/>
                </a:solidFill>
                <a:latin typeface="Arial" pitchFamily="34" charset="0"/>
                <a:ea typeface="Arial" pitchFamily="34" charset="-122"/>
                <a:cs typeface="Arial" pitchFamily="34" charset="-120"/>
              </a:rPr>
              <a:t>Test-to-Code Density</a:t>
            </a:r>
            <a:endParaRPr lang="en-US" sz="1950" dirty="0"/>
          </a:p>
        </p:txBody>
      </p:sp>
      <p:sp>
        <p:nvSpPr>
          <p:cNvPr id="11" name="Text 9"/>
          <p:cNvSpPr/>
          <p:nvPr/>
        </p:nvSpPr>
        <p:spPr>
          <a:xfrm>
            <a:off x="1464171" y="5429399"/>
            <a:ext cx="3436522" cy="642640"/>
          </a:xfrm>
          <a:prstGeom prst="rect">
            <a:avLst/>
          </a:prstGeom>
          <a:noFill/>
          <a:ln/>
        </p:spPr>
        <p:txBody>
          <a:bodyPr wrap="square" lIns="25400" tIns="25400" rIns="25400" bIns="25400" rtlCol="0" anchor="t">
            <a:normAutofit/>
          </a:bodyPr>
          <a:lstStyle/>
          <a:p>
            <a:pPr algn="l" indent="0" marL="0">
              <a:lnSpc>
                <a:spcPct val="138000"/>
              </a:lnSpc>
              <a:buNone/>
            </a:pPr>
            <a:r>
              <a:rPr lang="en-US" sz="1725" dirty="0">
                <a:solidFill>
                  <a:srgbClr val="5A6675"/>
                </a:solidFill>
                <a:latin typeface="Arial" pitchFamily="34" charset="0"/>
                <a:ea typeface="Arial" pitchFamily="34" charset="-122"/>
                <a:cs typeface="Arial" pitchFamily="34" charset="-120"/>
              </a:rPr>
              <a:t>Tests per 1K SLOC, plus your most-tested language.</a:t>
            </a:r>
            <a:endParaRPr lang="en-US" sz="1725" dirty="0"/>
          </a:p>
        </p:txBody>
      </p:sp>
      <p:sp>
        <p:nvSpPr>
          <p:cNvPr id="12" name="Text 10"/>
          <p:cNvSpPr/>
          <p:nvPr/>
        </p:nvSpPr>
        <p:spPr>
          <a:xfrm>
            <a:off x="1143000" y="6262539"/>
            <a:ext cx="225921" cy="1004590"/>
          </a:xfrm>
          <a:prstGeom prst="rect">
            <a:avLst/>
          </a:prstGeom>
          <a:noFill/>
          <a:ln/>
        </p:spPr>
        <p:txBody>
          <a:bodyPr wrap="square" lIns="25400" tIns="25400" rIns="25400" bIns="25400" rtlCol="0" anchor="t">
            <a:normAutofit/>
          </a:bodyPr>
          <a:lstStyle/>
          <a:p>
            <a:pPr algn="l" indent="0" marL="0">
              <a:lnSpc>
                <a:spcPct val="100000"/>
              </a:lnSpc>
              <a:buNone/>
            </a:pPr>
            <a:r>
              <a:rPr lang="en-US" sz="1950" dirty="0">
                <a:solidFill>
                  <a:srgbClr val="C2541F"/>
                </a:solidFill>
                <a:latin typeface="Arial" pitchFamily="34" charset="0"/>
                <a:ea typeface="Arial" pitchFamily="34" charset="-122"/>
                <a:cs typeface="Arial" pitchFamily="34" charset="-120"/>
              </a:rPr>
              <a:t>●</a:t>
            </a:r>
            <a:endParaRPr lang="en-US" sz="1950" dirty="0"/>
          </a:p>
        </p:txBody>
      </p:sp>
      <p:sp>
        <p:nvSpPr>
          <p:cNvPr id="13" name="Text 11"/>
          <p:cNvSpPr/>
          <p:nvPr/>
        </p:nvSpPr>
        <p:spPr>
          <a:xfrm>
            <a:off x="1464171" y="6262539"/>
            <a:ext cx="3670072"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1C2530"/>
                </a:solidFill>
                <a:latin typeface="Arial" pitchFamily="34" charset="0"/>
                <a:ea typeface="Arial" pitchFamily="34" charset="-122"/>
                <a:cs typeface="Arial" pitchFamily="34" charset="-120"/>
              </a:rPr>
              <a:t>Coverage Import</a:t>
            </a:r>
            <a:endParaRPr lang="en-US" sz="1950" dirty="0"/>
          </a:p>
        </p:txBody>
      </p:sp>
      <p:sp>
        <p:nvSpPr>
          <p:cNvPr id="14" name="Text 12"/>
          <p:cNvSpPr/>
          <p:nvPr/>
        </p:nvSpPr>
        <p:spPr>
          <a:xfrm>
            <a:off x="1464171" y="6624489"/>
            <a:ext cx="3436522" cy="642640"/>
          </a:xfrm>
          <a:prstGeom prst="rect">
            <a:avLst/>
          </a:prstGeom>
          <a:noFill/>
          <a:ln/>
        </p:spPr>
        <p:txBody>
          <a:bodyPr wrap="square" lIns="25400" tIns="25400" rIns="25400" bIns="25400" rtlCol="0" anchor="t">
            <a:normAutofit/>
          </a:bodyPr>
          <a:lstStyle/>
          <a:p>
            <a:pPr algn="l" indent="0" marL="0">
              <a:lnSpc>
                <a:spcPct val="138000"/>
              </a:lnSpc>
              <a:buNone/>
            </a:pPr>
            <a:r>
              <a:rPr lang="en-US" sz="1725" dirty="0">
                <a:solidFill>
                  <a:srgbClr val="5A6675"/>
                </a:solidFill>
                <a:latin typeface="Arial" pitchFamily="34" charset="0"/>
                <a:ea typeface="Arial" pitchFamily="34" charset="-122"/>
                <a:cs typeface="Arial" pitchFamily="34" charset="-120"/>
              </a:rPr>
              <a:t>Feed LCOV, Cobertura, JaCoCo, coverage.py or Istanbul.</a:t>
            </a:r>
            <a:endParaRPr lang="en-US" sz="1725" dirty="0"/>
          </a:p>
        </p:txBody>
      </p:sp>
      <p:sp>
        <p:nvSpPr>
          <p:cNvPr id="15" name="Shape 13"/>
          <p:cNvSpPr/>
          <p:nvPr/>
        </p:nvSpPr>
        <p:spPr>
          <a:xfrm>
            <a:off x="5334000" y="1420564"/>
            <a:ext cx="12287250" cy="7017097"/>
          </a:xfrm>
          <a:prstGeom prst="roundRect">
            <a:avLst>
              <a:gd name="adj" fmla="val 1900"/>
            </a:avLst>
          </a:prstGeom>
          <a:solidFill>
            <a:srgbClr val="FFFFFF"/>
          </a:solidFill>
          <a:ln w="9525">
            <a:solidFill>
              <a:srgbClr val="D9CDBB"/>
            </a:solidFill>
            <a:prstDash val="solid"/>
          </a:ln>
          <a:effectLst>
            <a:outerShdw sx="100000" sy="100000" kx="0" ky="0" algn="bl" rotWithShape="0" blurRad="476250" dist="190500" dir="5400000">
              <a:srgbClr val="1C2530">
                <a:alpha val="13000"/>
              </a:srgbClr>
            </a:outerShdw>
          </a:effectLst>
        </p:spPr>
      </p:sp>
      <p:pic>
        <p:nvPicPr>
          <p:cNvPr id="16" name="Image 0" descr="preencoded.png">    </p:cNvPr>
          <p:cNvPicPr>
            <a:picLocks noChangeAspect="1"/>
          </p:cNvPicPr>
          <p:nvPr/>
        </p:nvPicPr>
        <p:blipFill>
          <a:blip r:embed="rId1"/>
          <a:stretch>
            <a:fillRect/>
          </a:stretch>
        </p:blipFill>
        <p:spPr>
          <a:xfrm>
            <a:off x="5457825" y="1544389"/>
            <a:ext cx="12039600" cy="6769447"/>
          </a:xfrm>
          <a:prstGeom prst="rect">
            <a:avLst/>
          </a:prstGeom>
        </p:spPr>
      </p:pic>
      <p:sp>
        <p:nvSpPr>
          <p:cNvPr id="17" name="Text 14"/>
          <p:cNvSpPr/>
          <p:nvPr/>
        </p:nvSpPr>
        <p:spPr>
          <a:xfrm>
            <a:off x="4719638" y="8609112"/>
            <a:ext cx="13515975" cy="295275"/>
          </a:xfrm>
          <a:prstGeom prst="rect">
            <a:avLst/>
          </a:prstGeom>
          <a:noFill/>
          <a:ln/>
        </p:spPr>
        <p:txBody>
          <a:bodyPr wrap="square" lIns="25400" tIns="25400" rIns="25400" bIns="25400" rtlCol="0" anchor="t">
            <a:normAutofit/>
          </a:bodyPr>
          <a:lstStyle/>
          <a:p>
            <a:pPr algn="ctr" indent="0" marL="0">
              <a:buNone/>
            </a:pPr>
            <a:r>
              <a:rPr lang="en-US" sz="1500" dirty="0">
                <a:solidFill>
                  <a:srgbClr val="8A93A0"/>
                </a:solidFill>
                <a:latin typeface="Courier New" pitchFamily="34" charset="0"/>
                <a:ea typeface="Courier New" pitchFamily="34" charset="-122"/>
                <a:cs typeface="Courier New" pitchFamily="34" charset="-120"/>
              </a:rPr>
              <a:t>127.0.0.1:4317 — Test Metrics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43000" y="914400"/>
            <a:ext cx="323850" cy="28575"/>
          </a:xfrm>
          <a:prstGeom prst="rect">
            <a:avLst/>
          </a:prstGeom>
          <a:solidFill>
            <a:srgbClr val="C2541F"/>
          </a:solidFill>
          <a:ln/>
        </p:spPr>
      </p:sp>
      <p:sp>
        <p:nvSpPr>
          <p:cNvPr id="3" name="Text 1"/>
          <p:cNvSpPr/>
          <p:nvPr/>
        </p:nvSpPr>
        <p:spPr>
          <a:xfrm>
            <a:off x="1600200" y="800100"/>
            <a:ext cx="2043113" cy="295275"/>
          </a:xfrm>
          <a:prstGeom prst="rect">
            <a:avLst/>
          </a:prstGeom>
          <a:noFill/>
          <a:ln/>
        </p:spPr>
        <p:txBody>
          <a:bodyPr wrap="square" lIns="25400" tIns="25400" rIns="25400" bIns="25400" rtlCol="0" anchor="t">
            <a:normAutofit/>
          </a:bodyPr>
          <a:lstStyle/>
          <a:p>
            <a:pPr algn="l" indent="0" marL="0">
              <a:buNone/>
            </a:pPr>
            <a:r>
              <a:rPr lang="en-US" sz="1500" spc="225" kern="0" dirty="0">
                <a:solidFill>
                  <a:srgbClr val="C2541F"/>
                </a:solidFill>
                <a:latin typeface="Courier New" pitchFamily="34" charset="0"/>
                <a:ea typeface="Courier New" pitchFamily="34" charset="-122"/>
                <a:cs typeface="Courier New" pitchFamily="34" charset="-120"/>
              </a:rPr>
              <a:t>COMPARE SCANS</a:t>
            </a:r>
            <a:endParaRPr lang="en-US" sz="1500" dirty="0"/>
          </a:p>
        </p:txBody>
      </p:sp>
      <p:sp>
        <p:nvSpPr>
          <p:cNvPr id="4" name="Text 2"/>
          <p:cNvSpPr/>
          <p:nvPr/>
        </p:nvSpPr>
        <p:spPr>
          <a:xfrm>
            <a:off x="1143000" y="1209675"/>
            <a:ext cx="3767328" cy="1068288"/>
          </a:xfrm>
          <a:prstGeom prst="rect">
            <a:avLst/>
          </a:prstGeom>
          <a:noFill/>
          <a:ln/>
        </p:spPr>
        <p:txBody>
          <a:bodyPr wrap="square" lIns="25400" tIns="25400" rIns="25400" bIns="25400" rtlCol="0" anchor="t">
            <a:normAutofit/>
          </a:bodyPr>
          <a:lstStyle/>
          <a:p>
            <a:pPr algn="l" indent="0" marL="0">
              <a:lnSpc>
                <a:spcPct val="104000"/>
              </a:lnSpc>
              <a:buNone/>
            </a:pPr>
            <a:r>
              <a:rPr lang="en-US" sz="3900" b="1" spc="-75" kern="0" dirty="0">
                <a:solidFill>
                  <a:srgbClr val="1C2530"/>
                </a:solidFill>
                <a:latin typeface="Arial" pitchFamily="34" charset="0"/>
                <a:ea typeface="Arial" pitchFamily="34" charset="-122"/>
                <a:cs typeface="Arial" pitchFamily="34" charset="-120"/>
              </a:rPr>
              <a:t>Comparing Two Scans</a:t>
            </a:r>
            <a:endParaRPr lang="en-US" sz="3900" dirty="0"/>
          </a:p>
        </p:txBody>
      </p:sp>
      <p:sp>
        <p:nvSpPr>
          <p:cNvPr id="5" name="Text 3"/>
          <p:cNvSpPr/>
          <p:nvPr/>
        </p:nvSpPr>
        <p:spPr>
          <a:xfrm>
            <a:off x="1143000" y="2449413"/>
            <a:ext cx="3767328" cy="1118146"/>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5A6675"/>
                </a:solidFill>
                <a:latin typeface="Arial" pitchFamily="34" charset="0"/>
                <a:ea typeface="Arial" pitchFamily="34" charset="-122"/>
                <a:cs typeface="Arial" pitchFamily="34" charset="-120"/>
              </a:rPr>
              <a:t>Baseline vs current — exactly what changed, and by how much.</a:t>
            </a:r>
            <a:endParaRPr lang="en-US" sz="2025" dirty="0"/>
          </a:p>
        </p:txBody>
      </p:sp>
      <p:sp>
        <p:nvSpPr>
          <p:cNvPr id="6" name="Text 4"/>
          <p:cNvSpPr/>
          <p:nvPr/>
        </p:nvSpPr>
        <p:spPr>
          <a:xfrm>
            <a:off x="1143000" y="3872359"/>
            <a:ext cx="225921" cy="1004590"/>
          </a:xfrm>
          <a:prstGeom prst="rect">
            <a:avLst/>
          </a:prstGeom>
          <a:noFill/>
          <a:ln/>
        </p:spPr>
        <p:txBody>
          <a:bodyPr wrap="square" lIns="25400" tIns="25400" rIns="25400" bIns="25400" rtlCol="0" anchor="t">
            <a:normAutofit/>
          </a:bodyPr>
          <a:lstStyle/>
          <a:p>
            <a:pPr algn="l" indent="0" marL="0">
              <a:lnSpc>
                <a:spcPct val="100000"/>
              </a:lnSpc>
              <a:buNone/>
            </a:pPr>
            <a:r>
              <a:rPr lang="en-US" sz="1950" dirty="0">
                <a:solidFill>
                  <a:srgbClr val="C2541F"/>
                </a:solidFill>
                <a:latin typeface="Arial" pitchFamily="34" charset="0"/>
                <a:ea typeface="Arial" pitchFamily="34" charset="-122"/>
                <a:cs typeface="Arial" pitchFamily="34" charset="-120"/>
              </a:rPr>
              <a:t>●</a:t>
            </a:r>
            <a:endParaRPr lang="en-US" sz="1950" dirty="0"/>
          </a:p>
        </p:txBody>
      </p:sp>
      <p:sp>
        <p:nvSpPr>
          <p:cNvPr id="7" name="Text 5"/>
          <p:cNvSpPr/>
          <p:nvPr/>
        </p:nvSpPr>
        <p:spPr>
          <a:xfrm>
            <a:off x="1464171" y="3872359"/>
            <a:ext cx="3670072"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1C2530"/>
                </a:solidFill>
                <a:latin typeface="Arial" pitchFamily="34" charset="0"/>
                <a:ea typeface="Arial" pitchFamily="34" charset="-122"/>
                <a:cs typeface="Arial" pitchFamily="34" charset="-120"/>
              </a:rPr>
              <a:t>Line &amp; File Deltas</a:t>
            </a:r>
            <a:endParaRPr lang="en-US" sz="1950" dirty="0"/>
          </a:p>
        </p:txBody>
      </p:sp>
      <p:sp>
        <p:nvSpPr>
          <p:cNvPr id="8" name="Text 6"/>
          <p:cNvSpPr/>
          <p:nvPr/>
        </p:nvSpPr>
        <p:spPr>
          <a:xfrm>
            <a:off x="1464171" y="4234309"/>
            <a:ext cx="3436522" cy="642640"/>
          </a:xfrm>
          <a:prstGeom prst="rect">
            <a:avLst/>
          </a:prstGeom>
          <a:noFill/>
          <a:ln/>
        </p:spPr>
        <p:txBody>
          <a:bodyPr wrap="square" lIns="25400" tIns="25400" rIns="25400" bIns="25400" rtlCol="0" anchor="t">
            <a:normAutofit/>
          </a:bodyPr>
          <a:lstStyle/>
          <a:p>
            <a:pPr algn="l" indent="0" marL="0">
              <a:lnSpc>
                <a:spcPct val="138000"/>
              </a:lnSpc>
              <a:buNone/>
            </a:pPr>
            <a:r>
              <a:rPr lang="en-US" sz="1725" dirty="0">
                <a:solidFill>
                  <a:srgbClr val="5A6675"/>
                </a:solidFill>
                <a:latin typeface="Arial" pitchFamily="34" charset="0"/>
                <a:ea typeface="Arial" pitchFamily="34" charset="-122"/>
                <a:cs typeface="Arial" pitchFamily="34" charset="-120"/>
              </a:rPr>
              <a:t>Added, removed, modified — with percentages.</a:t>
            </a:r>
            <a:endParaRPr lang="en-US" sz="1725" dirty="0"/>
          </a:p>
        </p:txBody>
      </p:sp>
      <p:sp>
        <p:nvSpPr>
          <p:cNvPr id="9" name="Text 7"/>
          <p:cNvSpPr/>
          <p:nvPr/>
        </p:nvSpPr>
        <p:spPr>
          <a:xfrm>
            <a:off x="1143000" y="5067449"/>
            <a:ext cx="225921" cy="1004590"/>
          </a:xfrm>
          <a:prstGeom prst="rect">
            <a:avLst/>
          </a:prstGeom>
          <a:noFill/>
          <a:ln/>
        </p:spPr>
        <p:txBody>
          <a:bodyPr wrap="square" lIns="25400" tIns="25400" rIns="25400" bIns="25400" rtlCol="0" anchor="t">
            <a:normAutofit/>
          </a:bodyPr>
          <a:lstStyle/>
          <a:p>
            <a:pPr algn="l" indent="0" marL="0">
              <a:lnSpc>
                <a:spcPct val="100000"/>
              </a:lnSpc>
              <a:buNone/>
            </a:pPr>
            <a:r>
              <a:rPr lang="en-US" sz="1950" dirty="0">
                <a:solidFill>
                  <a:srgbClr val="C2541F"/>
                </a:solidFill>
                <a:latin typeface="Arial" pitchFamily="34" charset="0"/>
                <a:ea typeface="Arial" pitchFamily="34" charset="-122"/>
                <a:cs typeface="Arial" pitchFamily="34" charset="-120"/>
              </a:rPr>
              <a:t>●</a:t>
            </a:r>
            <a:endParaRPr lang="en-US" sz="1950" dirty="0"/>
          </a:p>
        </p:txBody>
      </p:sp>
      <p:sp>
        <p:nvSpPr>
          <p:cNvPr id="10" name="Text 8"/>
          <p:cNvSpPr/>
          <p:nvPr/>
        </p:nvSpPr>
        <p:spPr>
          <a:xfrm>
            <a:off x="1464171" y="5067449"/>
            <a:ext cx="3670072"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1C2530"/>
                </a:solidFill>
                <a:latin typeface="Arial" pitchFamily="34" charset="0"/>
                <a:ea typeface="Arial" pitchFamily="34" charset="-122"/>
                <a:cs typeface="Arial" pitchFamily="34" charset="-120"/>
              </a:rPr>
              <a:t>Churn Rate</a:t>
            </a:r>
            <a:endParaRPr lang="en-US" sz="1950" dirty="0"/>
          </a:p>
        </p:txBody>
      </p:sp>
      <p:sp>
        <p:nvSpPr>
          <p:cNvPr id="11" name="Text 9"/>
          <p:cNvSpPr/>
          <p:nvPr/>
        </p:nvSpPr>
        <p:spPr>
          <a:xfrm>
            <a:off x="1464171" y="5429399"/>
            <a:ext cx="3436522" cy="642640"/>
          </a:xfrm>
          <a:prstGeom prst="rect">
            <a:avLst/>
          </a:prstGeom>
          <a:noFill/>
          <a:ln/>
        </p:spPr>
        <p:txBody>
          <a:bodyPr wrap="square" lIns="25400" tIns="25400" rIns="25400" bIns="25400" rtlCol="0" anchor="t">
            <a:normAutofit/>
          </a:bodyPr>
          <a:lstStyle/>
          <a:p>
            <a:pPr algn="l" indent="0" marL="0">
              <a:lnSpc>
                <a:spcPct val="138000"/>
              </a:lnSpc>
              <a:buNone/>
            </a:pPr>
            <a:r>
              <a:rPr lang="en-US" sz="1725" dirty="0">
                <a:solidFill>
                  <a:srgbClr val="5A6675"/>
                </a:solidFill>
                <a:latin typeface="Arial" pitchFamily="34" charset="0"/>
                <a:ea typeface="Arial" pitchFamily="34" charset="-122"/>
                <a:cs typeface="Arial" pitchFamily="34" charset="-120"/>
              </a:rPr>
              <a:t>Development velocity between the two snapshots.</a:t>
            </a:r>
            <a:endParaRPr lang="en-US" sz="1725" dirty="0"/>
          </a:p>
        </p:txBody>
      </p:sp>
      <p:sp>
        <p:nvSpPr>
          <p:cNvPr id="12" name="Text 10"/>
          <p:cNvSpPr/>
          <p:nvPr/>
        </p:nvSpPr>
        <p:spPr>
          <a:xfrm>
            <a:off x="1143000" y="6262539"/>
            <a:ext cx="225921" cy="1004590"/>
          </a:xfrm>
          <a:prstGeom prst="rect">
            <a:avLst/>
          </a:prstGeom>
          <a:noFill/>
          <a:ln/>
        </p:spPr>
        <p:txBody>
          <a:bodyPr wrap="square" lIns="25400" tIns="25400" rIns="25400" bIns="25400" rtlCol="0" anchor="t">
            <a:normAutofit/>
          </a:bodyPr>
          <a:lstStyle/>
          <a:p>
            <a:pPr algn="l" indent="0" marL="0">
              <a:lnSpc>
                <a:spcPct val="100000"/>
              </a:lnSpc>
              <a:buNone/>
            </a:pPr>
            <a:r>
              <a:rPr lang="en-US" sz="1950" dirty="0">
                <a:solidFill>
                  <a:srgbClr val="C2541F"/>
                </a:solidFill>
                <a:latin typeface="Arial" pitchFamily="34" charset="0"/>
                <a:ea typeface="Arial" pitchFamily="34" charset="-122"/>
                <a:cs typeface="Arial" pitchFamily="34" charset="-120"/>
              </a:rPr>
              <a:t>●</a:t>
            </a:r>
            <a:endParaRPr lang="en-US" sz="1950" dirty="0"/>
          </a:p>
        </p:txBody>
      </p:sp>
      <p:sp>
        <p:nvSpPr>
          <p:cNvPr id="13" name="Text 11"/>
          <p:cNvSpPr/>
          <p:nvPr/>
        </p:nvSpPr>
        <p:spPr>
          <a:xfrm>
            <a:off x="1464171" y="6262539"/>
            <a:ext cx="3670072"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1C2530"/>
                </a:solidFill>
                <a:latin typeface="Arial" pitchFamily="34" charset="0"/>
                <a:ea typeface="Arial" pitchFamily="34" charset="-122"/>
                <a:cs typeface="Arial" pitchFamily="34" charset="-120"/>
              </a:rPr>
              <a:t>Per-Language Delta</a:t>
            </a:r>
            <a:endParaRPr lang="en-US" sz="1950" dirty="0"/>
          </a:p>
        </p:txBody>
      </p:sp>
      <p:sp>
        <p:nvSpPr>
          <p:cNvPr id="14" name="Text 12"/>
          <p:cNvSpPr/>
          <p:nvPr/>
        </p:nvSpPr>
        <p:spPr>
          <a:xfrm>
            <a:off x="1464171" y="6624489"/>
            <a:ext cx="3436522" cy="642640"/>
          </a:xfrm>
          <a:prstGeom prst="rect">
            <a:avLst/>
          </a:prstGeom>
          <a:noFill/>
          <a:ln/>
        </p:spPr>
        <p:txBody>
          <a:bodyPr wrap="square" lIns="25400" tIns="25400" rIns="25400" bIns="25400" rtlCol="0" anchor="t">
            <a:normAutofit/>
          </a:bodyPr>
          <a:lstStyle/>
          <a:p>
            <a:pPr algn="l" indent="0" marL="0">
              <a:lnSpc>
                <a:spcPct val="138000"/>
              </a:lnSpc>
              <a:buNone/>
            </a:pPr>
            <a:r>
              <a:rPr lang="en-US" sz="1725" dirty="0">
                <a:solidFill>
                  <a:srgbClr val="5A6675"/>
                </a:solidFill>
                <a:latin typeface="Arial" pitchFamily="34" charset="0"/>
                <a:ea typeface="Arial" pitchFamily="34" charset="-122"/>
                <a:cs typeface="Arial" pitchFamily="34" charset="-120"/>
              </a:rPr>
              <a:t>See which languages grew or shrank at a glance.</a:t>
            </a:r>
            <a:endParaRPr lang="en-US" sz="1725" dirty="0"/>
          </a:p>
        </p:txBody>
      </p:sp>
      <p:sp>
        <p:nvSpPr>
          <p:cNvPr id="15" name="Text 13"/>
          <p:cNvSpPr/>
          <p:nvPr/>
        </p:nvSpPr>
        <p:spPr>
          <a:xfrm>
            <a:off x="1143000" y="8734425"/>
            <a:ext cx="3767328" cy="86677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8A93A0"/>
                </a:solidFill>
                <a:latin typeface="Courier New" pitchFamily="34" charset="0"/>
                <a:ea typeface="Courier New" pitchFamily="34" charset="-122"/>
                <a:cs typeface="Courier New" pitchFamily="34" charset="-120"/>
              </a:rPr>
              <a:t>Useful for: sprint-over-sprint change, or what a vendor delivered.</a:t>
            </a:r>
            <a:endParaRPr lang="en-US" sz="1500" dirty="0"/>
          </a:p>
        </p:txBody>
      </p:sp>
      <p:sp>
        <p:nvSpPr>
          <p:cNvPr id="16" name="Shape 14"/>
          <p:cNvSpPr/>
          <p:nvPr/>
        </p:nvSpPr>
        <p:spPr>
          <a:xfrm>
            <a:off x="5334000" y="891480"/>
            <a:ext cx="12287250" cy="8075265"/>
          </a:xfrm>
          <a:prstGeom prst="roundRect">
            <a:avLst>
              <a:gd name="adj" fmla="val 1651"/>
            </a:avLst>
          </a:prstGeom>
          <a:solidFill>
            <a:srgbClr val="FFFFFF"/>
          </a:solidFill>
          <a:ln w="9525">
            <a:solidFill>
              <a:srgbClr val="D9CDBB"/>
            </a:solidFill>
            <a:prstDash val="solid"/>
          </a:ln>
          <a:effectLst>
            <a:outerShdw sx="100000" sy="100000" kx="0" ky="0" algn="bl" rotWithShape="0" blurRad="476250" dist="190500" dir="5400000">
              <a:srgbClr val="1C2530">
                <a:alpha val="13000"/>
              </a:srgbClr>
            </a:outerShdw>
          </a:effectLst>
        </p:spPr>
      </p:sp>
      <p:pic>
        <p:nvPicPr>
          <p:cNvPr id="17" name="Image 0" descr="preencoded.png">    </p:cNvPr>
          <p:cNvPicPr>
            <a:picLocks noChangeAspect="1"/>
          </p:cNvPicPr>
          <p:nvPr/>
        </p:nvPicPr>
        <p:blipFill>
          <a:blip r:embed="rId1"/>
          <a:stretch>
            <a:fillRect/>
          </a:stretch>
        </p:blipFill>
        <p:spPr>
          <a:xfrm>
            <a:off x="5457825" y="1015305"/>
            <a:ext cx="12039600" cy="7827615"/>
          </a:xfrm>
          <a:prstGeom prst="rect">
            <a:avLst/>
          </a:prstGeom>
        </p:spPr>
      </p:pic>
      <p:sp>
        <p:nvSpPr>
          <p:cNvPr id="18" name="Text 15"/>
          <p:cNvSpPr/>
          <p:nvPr/>
        </p:nvSpPr>
        <p:spPr>
          <a:xfrm>
            <a:off x="4719638" y="9138196"/>
            <a:ext cx="13515975" cy="295275"/>
          </a:xfrm>
          <a:prstGeom prst="rect">
            <a:avLst/>
          </a:prstGeom>
          <a:noFill/>
          <a:ln/>
        </p:spPr>
        <p:txBody>
          <a:bodyPr wrap="square" lIns="25400" tIns="25400" rIns="25400" bIns="25400" rtlCol="0" anchor="t">
            <a:normAutofit/>
          </a:bodyPr>
          <a:lstStyle/>
          <a:p>
            <a:pPr algn="ctr" indent="0" marL="0">
              <a:buNone/>
            </a:pPr>
            <a:r>
              <a:rPr lang="en-US" sz="1500" dirty="0">
                <a:solidFill>
                  <a:srgbClr val="8A93A0"/>
                </a:solidFill>
                <a:latin typeface="Courier New" pitchFamily="34" charset="0"/>
                <a:ea typeface="Courier New" pitchFamily="34" charset="-122"/>
                <a:cs typeface="Courier New" pitchFamily="34" charset="-120"/>
              </a:rPr>
              <a:t>127.0.0.1:4317 — Scan Delta</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1143000" y="914400"/>
            <a:ext cx="323850" cy="28575"/>
          </a:xfrm>
          <a:prstGeom prst="rect">
            <a:avLst/>
          </a:prstGeom>
          <a:solidFill>
            <a:srgbClr val="C2541F"/>
          </a:solidFill>
          <a:ln/>
        </p:spPr>
      </p:sp>
      <p:sp>
        <p:nvSpPr>
          <p:cNvPr id="3" name="Text 1"/>
          <p:cNvSpPr/>
          <p:nvPr/>
        </p:nvSpPr>
        <p:spPr>
          <a:xfrm>
            <a:off x="1600200" y="800100"/>
            <a:ext cx="2043113" cy="295275"/>
          </a:xfrm>
          <a:prstGeom prst="rect">
            <a:avLst/>
          </a:prstGeom>
          <a:noFill/>
          <a:ln/>
        </p:spPr>
        <p:txBody>
          <a:bodyPr wrap="square" lIns="25400" tIns="25400" rIns="25400" bIns="25400" rtlCol="0" anchor="t">
            <a:normAutofit/>
          </a:bodyPr>
          <a:lstStyle/>
          <a:p>
            <a:pPr algn="l" indent="0" marL="0">
              <a:buNone/>
            </a:pPr>
            <a:r>
              <a:rPr lang="en-US" sz="1500" spc="225" kern="0" dirty="0">
                <a:solidFill>
                  <a:srgbClr val="C2541F"/>
                </a:solidFill>
                <a:latin typeface="Courier New" pitchFamily="34" charset="0"/>
                <a:ea typeface="Courier New" pitchFamily="34" charset="-122"/>
                <a:cs typeface="Courier New" pitchFamily="34" charset="-120"/>
              </a:rPr>
              <a:t>TREND REPORTS</a:t>
            </a:r>
            <a:endParaRPr lang="en-US" sz="1500" dirty="0"/>
          </a:p>
        </p:txBody>
      </p:sp>
      <p:sp>
        <p:nvSpPr>
          <p:cNvPr id="4" name="Text 2"/>
          <p:cNvSpPr/>
          <p:nvPr/>
        </p:nvSpPr>
        <p:spPr>
          <a:xfrm>
            <a:off x="1143000" y="1209675"/>
            <a:ext cx="3767328" cy="1068288"/>
          </a:xfrm>
          <a:prstGeom prst="rect">
            <a:avLst/>
          </a:prstGeom>
          <a:noFill/>
          <a:ln/>
        </p:spPr>
        <p:txBody>
          <a:bodyPr wrap="square" lIns="25400" tIns="25400" rIns="25400" bIns="25400" rtlCol="0" anchor="t">
            <a:normAutofit/>
          </a:bodyPr>
          <a:lstStyle/>
          <a:p>
            <a:pPr algn="l" indent="0" marL="0">
              <a:lnSpc>
                <a:spcPct val="104000"/>
              </a:lnSpc>
              <a:buNone/>
            </a:pPr>
            <a:r>
              <a:rPr lang="en-US" sz="3900" b="1" spc="-75" kern="0" dirty="0">
                <a:solidFill>
                  <a:srgbClr val="1C2530"/>
                </a:solidFill>
                <a:latin typeface="Arial" pitchFamily="34" charset="0"/>
                <a:ea typeface="Arial" pitchFamily="34" charset="-122"/>
                <a:cs typeface="Arial" pitchFamily="34" charset="-120"/>
              </a:rPr>
              <a:t>Trends Over Time</a:t>
            </a:r>
            <a:endParaRPr lang="en-US" sz="3900" dirty="0"/>
          </a:p>
        </p:txBody>
      </p:sp>
      <p:sp>
        <p:nvSpPr>
          <p:cNvPr id="5" name="Text 3"/>
          <p:cNvSpPr/>
          <p:nvPr/>
        </p:nvSpPr>
        <p:spPr>
          <a:xfrm>
            <a:off x="1143000" y="2449413"/>
            <a:ext cx="3767328" cy="1118146"/>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5A6675"/>
                </a:solidFill>
                <a:latin typeface="Arial" pitchFamily="34" charset="0"/>
                <a:ea typeface="Arial" pitchFamily="34" charset="-122"/>
                <a:cs typeface="Arial" pitchFamily="34" charset="-120"/>
              </a:rPr>
              <a:t>Plot any metric across every saved scan — by time or by commit.</a:t>
            </a:r>
            <a:endParaRPr lang="en-US" sz="2025" dirty="0"/>
          </a:p>
        </p:txBody>
      </p:sp>
      <p:sp>
        <p:nvSpPr>
          <p:cNvPr id="6" name="Text 4"/>
          <p:cNvSpPr/>
          <p:nvPr/>
        </p:nvSpPr>
        <p:spPr>
          <a:xfrm>
            <a:off x="1143000" y="3872359"/>
            <a:ext cx="225921" cy="1004590"/>
          </a:xfrm>
          <a:prstGeom prst="rect">
            <a:avLst/>
          </a:prstGeom>
          <a:noFill/>
          <a:ln/>
        </p:spPr>
        <p:txBody>
          <a:bodyPr wrap="square" lIns="25400" tIns="25400" rIns="25400" bIns="25400" rtlCol="0" anchor="t">
            <a:normAutofit/>
          </a:bodyPr>
          <a:lstStyle/>
          <a:p>
            <a:pPr algn="l" indent="0" marL="0">
              <a:lnSpc>
                <a:spcPct val="100000"/>
              </a:lnSpc>
              <a:buNone/>
            </a:pPr>
            <a:r>
              <a:rPr lang="en-US" sz="1950" dirty="0">
                <a:solidFill>
                  <a:srgbClr val="C2541F"/>
                </a:solidFill>
                <a:latin typeface="Arial" pitchFamily="34" charset="0"/>
                <a:ea typeface="Arial" pitchFamily="34" charset="-122"/>
                <a:cs typeface="Arial" pitchFamily="34" charset="-120"/>
              </a:rPr>
              <a:t>●</a:t>
            </a:r>
            <a:endParaRPr lang="en-US" sz="1950" dirty="0"/>
          </a:p>
        </p:txBody>
      </p:sp>
      <p:sp>
        <p:nvSpPr>
          <p:cNvPr id="7" name="Text 5"/>
          <p:cNvSpPr/>
          <p:nvPr/>
        </p:nvSpPr>
        <p:spPr>
          <a:xfrm>
            <a:off x="1464171" y="3872359"/>
            <a:ext cx="3670072"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1C2530"/>
                </a:solidFill>
                <a:latin typeface="Arial" pitchFamily="34" charset="0"/>
                <a:ea typeface="Arial" pitchFamily="34" charset="-122"/>
                <a:cs typeface="Arial" pitchFamily="34" charset="-120"/>
              </a:rPr>
              <a:t>Pick Your Metric</a:t>
            </a:r>
            <a:endParaRPr lang="en-US" sz="1950" dirty="0"/>
          </a:p>
        </p:txBody>
      </p:sp>
      <p:sp>
        <p:nvSpPr>
          <p:cNvPr id="8" name="Text 6"/>
          <p:cNvSpPr/>
          <p:nvPr/>
        </p:nvSpPr>
        <p:spPr>
          <a:xfrm>
            <a:off x="1464171" y="4234309"/>
            <a:ext cx="3436522" cy="642640"/>
          </a:xfrm>
          <a:prstGeom prst="rect">
            <a:avLst/>
          </a:prstGeom>
          <a:noFill/>
          <a:ln/>
        </p:spPr>
        <p:txBody>
          <a:bodyPr wrap="square" lIns="25400" tIns="25400" rIns="25400" bIns="25400" rtlCol="0" anchor="t">
            <a:normAutofit/>
          </a:bodyPr>
          <a:lstStyle/>
          <a:p>
            <a:pPr algn="l" indent="0" marL="0">
              <a:lnSpc>
                <a:spcPct val="138000"/>
              </a:lnSpc>
              <a:buNone/>
            </a:pPr>
            <a:r>
              <a:rPr lang="en-US" sz="1725" dirty="0">
                <a:solidFill>
                  <a:srgbClr val="5A6675"/>
                </a:solidFill>
                <a:latin typeface="Arial" pitchFamily="34" charset="0"/>
                <a:ea typeface="Arial" pitchFamily="34" charset="-122"/>
                <a:cs typeface="Arial" pitchFamily="34" charset="-120"/>
              </a:rPr>
              <a:t>Code lines, comments, blanks — per project root.</a:t>
            </a:r>
            <a:endParaRPr lang="en-US" sz="1725" dirty="0"/>
          </a:p>
        </p:txBody>
      </p:sp>
      <p:sp>
        <p:nvSpPr>
          <p:cNvPr id="9" name="Text 7"/>
          <p:cNvSpPr/>
          <p:nvPr/>
        </p:nvSpPr>
        <p:spPr>
          <a:xfrm>
            <a:off x="1143000" y="5067449"/>
            <a:ext cx="225921" cy="1004590"/>
          </a:xfrm>
          <a:prstGeom prst="rect">
            <a:avLst/>
          </a:prstGeom>
          <a:noFill/>
          <a:ln/>
        </p:spPr>
        <p:txBody>
          <a:bodyPr wrap="square" lIns="25400" tIns="25400" rIns="25400" bIns="25400" rtlCol="0" anchor="t">
            <a:normAutofit/>
          </a:bodyPr>
          <a:lstStyle/>
          <a:p>
            <a:pPr algn="l" indent="0" marL="0">
              <a:lnSpc>
                <a:spcPct val="100000"/>
              </a:lnSpc>
              <a:buNone/>
            </a:pPr>
            <a:r>
              <a:rPr lang="en-US" sz="1950" dirty="0">
                <a:solidFill>
                  <a:srgbClr val="C2541F"/>
                </a:solidFill>
                <a:latin typeface="Arial" pitchFamily="34" charset="0"/>
                <a:ea typeface="Arial" pitchFamily="34" charset="-122"/>
                <a:cs typeface="Arial" pitchFamily="34" charset="-120"/>
              </a:rPr>
              <a:t>●</a:t>
            </a:r>
            <a:endParaRPr lang="en-US" sz="1950" dirty="0"/>
          </a:p>
        </p:txBody>
      </p:sp>
      <p:sp>
        <p:nvSpPr>
          <p:cNvPr id="10" name="Text 8"/>
          <p:cNvSpPr/>
          <p:nvPr/>
        </p:nvSpPr>
        <p:spPr>
          <a:xfrm>
            <a:off x="1464171" y="5067449"/>
            <a:ext cx="3670072"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1C2530"/>
                </a:solidFill>
                <a:latin typeface="Arial" pitchFamily="34" charset="0"/>
                <a:ea typeface="Arial" pitchFamily="34" charset="-122"/>
                <a:cs typeface="Arial" pitchFamily="34" charset="-120"/>
              </a:rPr>
              <a:t>Spot Regressions</a:t>
            </a:r>
            <a:endParaRPr lang="en-US" sz="1950" dirty="0"/>
          </a:p>
        </p:txBody>
      </p:sp>
      <p:sp>
        <p:nvSpPr>
          <p:cNvPr id="11" name="Text 9"/>
          <p:cNvSpPr/>
          <p:nvPr/>
        </p:nvSpPr>
        <p:spPr>
          <a:xfrm>
            <a:off x="1464171" y="5429399"/>
            <a:ext cx="3436522" cy="642640"/>
          </a:xfrm>
          <a:prstGeom prst="rect">
            <a:avLst/>
          </a:prstGeom>
          <a:noFill/>
          <a:ln/>
        </p:spPr>
        <p:txBody>
          <a:bodyPr wrap="square" lIns="25400" tIns="25400" rIns="25400" bIns="25400" rtlCol="0" anchor="t">
            <a:normAutofit/>
          </a:bodyPr>
          <a:lstStyle/>
          <a:p>
            <a:pPr algn="l" indent="0" marL="0">
              <a:lnSpc>
                <a:spcPct val="138000"/>
              </a:lnSpc>
              <a:buNone/>
            </a:pPr>
            <a:r>
              <a:rPr lang="en-US" sz="1725" dirty="0">
                <a:solidFill>
                  <a:srgbClr val="5A6675"/>
                </a:solidFill>
                <a:latin typeface="Arial" pitchFamily="34" charset="0"/>
                <a:ea typeface="Arial" pitchFamily="34" charset="-122"/>
                <a:cs typeface="Arial" pitchFamily="34" charset="-120"/>
              </a:rPr>
              <a:t>See a refactor land, or a sudden jump, instantly.</a:t>
            </a:r>
            <a:endParaRPr lang="en-US" sz="1725" dirty="0"/>
          </a:p>
        </p:txBody>
      </p:sp>
      <p:sp>
        <p:nvSpPr>
          <p:cNvPr id="12" name="Text 10"/>
          <p:cNvSpPr/>
          <p:nvPr/>
        </p:nvSpPr>
        <p:spPr>
          <a:xfrm>
            <a:off x="1143000" y="6262539"/>
            <a:ext cx="225921" cy="1004590"/>
          </a:xfrm>
          <a:prstGeom prst="rect">
            <a:avLst/>
          </a:prstGeom>
          <a:noFill/>
          <a:ln/>
        </p:spPr>
        <p:txBody>
          <a:bodyPr wrap="square" lIns="25400" tIns="25400" rIns="25400" bIns="25400" rtlCol="0" anchor="t">
            <a:normAutofit/>
          </a:bodyPr>
          <a:lstStyle/>
          <a:p>
            <a:pPr algn="l" indent="0" marL="0">
              <a:lnSpc>
                <a:spcPct val="100000"/>
              </a:lnSpc>
              <a:buNone/>
            </a:pPr>
            <a:r>
              <a:rPr lang="en-US" sz="1950" dirty="0">
                <a:solidFill>
                  <a:srgbClr val="C2541F"/>
                </a:solidFill>
                <a:latin typeface="Arial" pitchFamily="34" charset="0"/>
                <a:ea typeface="Arial" pitchFamily="34" charset="-122"/>
                <a:cs typeface="Arial" pitchFamily="34" charset="-120"/>
              </a:rPr>
              <a:t>●</a:t>
            </a:r>
            <a:endParaRPr lang="en-US" sz="1950" dirty="0"/>
          </a:p>
        </p:txBody>
      </p:sp>
      <p:sp>
        <p:nvSpPr>
          <p:cNvPr id="13" name="Text 11"/>
          <p:cNvSpPr/>
          <p:nvPr/>
        </p:nvSpPr>
        <p:spPr>
          <a:xfrm>
            <a:off x="1464171" y="6262539"/>
            <a:ext cx="3670072"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1C2530"/>
                </a:solidFill>
                <a:latin typeface="Arial" pitchFamily="34" charset="0"/>
                <a:ea typeface="Arial" pitchFamily="34" charset="-122"/>
                <a:cs typeface="Arial" pitchFamily="34" charset="-120"/>
              </a:rPr>
              <a:t>Drill In</a:t>
            </a:r>
            <a:endParaRPr lang="en-US" sz="1950" dirty="0"/>
          </a:p>
        </p:txBody>
      </p:sp>
      <p:sp>
        <p:nvSpPr>
          <p:cNvPr id="14" name="Text 12"/>
          <p:cNvSpPr/>
          <p:nvPr/>
        </p:nvSpPr>
        <p:spPr>
          <a:xfrm>
            <a:off x="1464171" y="6624489"/>
            <a:ext cx="3436522" cy="642640"/>
          </a:xfrm>
          <a:prstGeom prst="rect">
            <a:avLst/>
          </a:prstGeom>
          <a:noFill/>
          <a:ln/>
        </p:spPr>
        <p:txBody>
          <a:bodyPr wrap="square" lIns="25400" tIns="25400" rIns="25400" bIns="25400" rtlCol="0" anchor="t">
            <a:normAutofit/>
          </a:bodyPr>
          <a:lstStyle/>
          <a:p>
            <a:pPr algn="l" indent="0" marL="0">
              <a:lnSpc>
                <a:spcPct val="138000"/>
              </a:lnSpc>
              <a:buNone/>
            </a:pPr>
            <a:r>
              <a:rPr lang="en-US" sz="1725" dirty="0">
                <a:solidFill>
                  <a:srgbClr val="5A6675"/>
                </a:solidFill>
                <a:latin typeface="Arial" pitchFamily="34" charset="0"/>
                <a:ea typeface="Arial" pitchFamily="34" charset="-122"/>
                <a:cs typeface="Arial" pitchFamily="34" charset="-120"/>
              </a:rPr>
              <a:t>Click any point to open its full underlying report.</a:t>
            </a:r>
            <a:endParaRPr lang="en-US" sz="1725" dirty="0"/>
          </a:p>
        </p:txBody>
      </p:sp>
      <p:sp>
        <p:nvSpPr>
          <p:cNvPr id="15" name="Shape 13"/>
          <p:cNvSpPr/>
          <p:nvPr/>
        </p:nvSpPr>
        <p:spPr>
          <a:xfrm>
            <a:off x="5334000" y="1417737"/>
            <a:ext cx="12287250" cy="7022753"/>
          </a:xfrm>
          <a:prstGeom prst="roundRect">
            <a:avLst>
              <a:gd name="adj" fmla="val 1899"/>
            </a:avLst>
          </a:prstGeom>
          <a:solidFill>
            <a:srgbClr val="FFFFFF"/>
          </a:solidFill>
          <a:ln w="9525">
            <a:solidFill>
              <a:srgbClr val="D9CDBB"/>
            </a:solidFill>
            <a:prstDash val="solid"/>
          </a:ln>
          <a:effectLst>
            <a:outerShdw sx="100000" sy="100000" kx="0" ky="0" algn="bl" rotWithShape="0" blurRad="476250" dist="190500" dir="5400000">
              <a:srgbClr val="1C2530">
                <a:alpha val="13000"/>
              </a:srgbClr>
            </a:outerShdw>
          </a:effectLst>
        </p:spPr>
      </p:sp>
      <p:pic>
        <p:nvPicPr>
          <p:cNvPr id="16" name="Image 0" descr="preencoded.png">    </p:cNvPr>
          <p:cNvPicPr>
            <a:picLocks noChangeAspect="1"/>
          </p:cNvPicPr>
          <p:nvPr/>
        </p:nvPicPr>
        <p:blipFill>
          <a:blip r:embed="rId1"/>
          <a:stretch>
            <a:fillRect/>
          </a:stretch>
        </p:blipFill>
        <p:spPr>
          <a:xfrm>
            <a:off x="5457825" y="1541562"/>
            <a:ext cx="12039600" cy="6775103"/>
          </a:xfrm>
          <a:prstGeom prst="rect">
            <a:avLst/>
          </a:prstGeom>
        </p:spPr>
      </p:pic>
      <p:sp>
        <p:nvSpPr>
          <p:cNvPr id="17" name="Text 14"/>
          <p:cNvSpPr/>
          <p:nvPr/>
        </p:nvSpPr>
        <p:spPr>
          <a:xfrm>
            <a:off x="4719638" y="8611939"/>
            <a:ext cx="13515975" cy="295275"/>
          </a:xfrm>
          <a:prstGeom prst="rect">
            <a:avLst/>
          </a:prstGeom>
          <a:noFill/>
          <a:ln/>
        </p:spPr>
        <p:txBody>
          <a:bodyPr wrap="square" lIns="25400" tIns="25400" rIns="25400" bIns="25400" rtlCol="0" anchor="t">
            <a:normAutofit/>
          </a:bodyPr>
          <a:lstStyle/>
          <a:p>
            <a:pPr algn="ctr" indent="0" marL="0">
              <a:buNone/>
            </a:pPr>
            <a:r>
              <a:rPr lang="en-US" sz="1500" dirty="0">
                <a:solidFill>
                  <a:srgbClr val="8A93A0"/>
                </a:solidFill>
                <a:latin typeface="Courier New" pitchFamily="34" charset="0"/>
                <a:ea typeface="Courier New" pitchFamily="34" charset="-122"/>
                <a:cs typeface="Courier New" pitchFamily="34" charset="-120"/>
              </a:rPr>
              <a:t>127.0.0.1:4317 — Trend Reports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43000" y="952500"/>
            <a:ext cx="323850" cy="28575"/>
          </a:xfrm>
          <a:prstGeom prst="rect">
            <a:avLst/>
          </a:prstGeom>
          <a:solidFill>
            <a:srgbClr val="C2541F"/>
          </a:solidFill>
          <a:ln/>
        </p:spPr>
      </p:sp>
      <p:sp>
        <p:nvSpPr>
          <p:cNvPr id="3" name="Text 1"/>
          <p:cNvSpPr/>
          <p:nvPr/>
        </p:nvSpPr>
        <p:spPr>
          <a:xfrm>
            <a:off x="1600200" y="838200"/>
            <a:ext cx="2200275" cy="295275"/>
          </a:xfrm>
          <a:prstGeom prst="rect">
            <a:avLst/>
          </a:prstGeom>
          <a:noFill/>
          <a:ln/>
        </p:spPr>
        <p:txBody>
          <a:bodyPr wrap="square" lIns="25400" tIns="25400" rIns="25400" bIns="25400" rtlCol="0" anchor="t">
            <a:normAutofit/>
          </a:bodyPr>
          <a:lstStyle/>
          <a:p>
            <a:pPr algn="l" indent="0" marL="0">
              <a:buNone/>
            </a:pPr>
            <a:r>
              <a:rPr lang="en-US" sz="1500" spc="225" kern="0" dirty="0">
                <a:solidFill>
                  <a:srgbClr val="C2541F"/>
                </a:solidFill>
                <a:latin typeface="Courier New" pitchFamily="34" charset="0"/>
                <a:ea typeface="Courier New" pitchFamily="34" charset="-122"/>
                <a:cs typeface="Courier New" pitchFamily="34" charset="-120"/>
              </a:rPr>
              <a:t>EXPORT &amp; SHARE</a:t>
            </a:r>
            <a:endParaRPr lang="en-US" sz="1500" dirty="0"/>
          </a:p>
        </p:txBody>
      </p:sp>
      <p:sp>
        <p:nvSpPr>
          <p:cNvPr id="4" name="Text 2"/>
          <p:cNvSpPr/>
          <p:nvPr/>
        </p:nvSpPr>
        <p:spPr>
          <a:xfrm>
            <a:off x="1143000" y="1247775"/>
            <a:ext cx="17602200" cy="714375"/>
          </a:xfrm>
          <a:prstGeom prst="rect">
            <a:avLst/>
          </a:prstGeom>
          <a:noFill/>
          <a:ln/>
        </p:spPr>
        <p:txBody>
          <a:bodyPr wrap="square" lIns="25400" tIns="25400" rIns="25400" bIns="25400" rtlCol="0" anchor="t">
            <a:normAutofit/>
          </a:bodyPr>
          <a:lstStyle/>
          <a:p>
            <a:pPr algn="l" indent="0" marL="0">
              <a:buNone/>
            </a:pPr>
            <a:r>
              <a:rPr lang="en-US" sz="4650" b="1" spc="-75" kern="0" dirty="0">
                <a:solidFill>
                  <a:srgbClr val="1C2530"/>
                </a:solidFill>
                <a:latin typeface="Arial" pitchFamily="34" charset="0"/>
                <a:ea typeface="Arial" pitchFamily="34" charset="-122"/>
                <a:cs typeface="Arial" pitchFamily="34" charset="-120"/>
              </a:rPr>
              <a:t>Exporting &amp; Sharing</a:t>
            </a:r>
            <a:endParaRPr lang="en-US" sz="4650" dirty="0"/>
          </a:p>
        </p:txBody>
      </p:sp>
      <p:sp>
        <p:nvSpPr>
          <p:cNvPr id="5" name="Text 3"/>
          <p:cNvSpPr/>
          <p:nvPr/>
        </p:nvSpPr>
        <p:spPr>
          <a:xfrm>
            <a:off x="1143000" y="2057400"/>
            <a:ext cx="13620750" cy="424755"/>
          </a:xfrm>
          <a:prstGeom prst="rect">
            <a:avLst/>
          </a:prstGeom>
          <a:noFill/>
          <a:ln/>
        </p:spPr>
        <p:txBody>
          <a:bodyPr wrap="square" lIns="25400" tIns="25400" rIns="25400" bIns="25400" rtlCol="0" anchor="t">
            <a:normAutofit/>
          </a:bodyPr>
          <a:lstStyle/>
          <a:p>
            <a:pPr algn="l" indent="0" marL="0">
              <a:lnSpc>
                <a:spcPct val="140000"/>
              </a:lnSpc>
              <a:buNone/>
            </a:pPr>
            <a:r>
              <a:rPr lang="en-US" sz="2175" dirty="0">
                <a:solidFill>
                  <a:srgbClr val="5A6675"/>
                </a:solidFill>
                <a:latin typeface="Arial" pitchFamily="34" charset="0"/>
                <a:ea typeface="Arial" pitchFamily="34" charset="-122"/>
                <a:cs typeface="Arial" pitchFamily="34" charset="-120"/>
              </a:rPr>
              <a:t>Turn any scan into something you can hand off — a document, a spreadsheet, or a live badge.</a:t>
            </a:r>
            <a:endParaRPr lang="en-US" sz="2175" dirty="0"/>
          </a:p>
        </p:txBody>
      </p:sp>
      <p:sp>
        <p:nvSpPr>
          <p:cNvPr id="6" name="Shape 4"/>
          <p:cNvSpPr/>
          <p:nvPr/>
        </p:nvSpPr>
        <p:spPr>
          <a:xfrm>
            <a:off x="1143000" y="2882205"/>
            <a:ext cx="3829050" cy="2222897"/>
          </a:xfrm>
          <a:prstGeom prst="roundRect">
            <a:avLst>
              <a:gd name="adj" fmla="val 6856"/>
            </a:avLst>
          </a:prstGeom>
          <a:solidFill>
            <a:srgbClr val="F4F6F8"/>
          </a:solidFill>
          <a:ln w="9525">
            <a:solidFill>
              <a:srgbClr val="E3E8ED"/>
            </a:solidFill>
            <a:prstDash val="solid"/>
          </a:ln>
        </p:spPr>
      </p:sp>
      <p:sp>
        <p:nvSpPr>
          <p:cNvPr id="7" name="Text 5"/>
          <p:cNvSpPr/>
          <p:nvPr/>
        </p:nvSpPr>
        <p:spPr>
          <a:xfrm>
            <a:off x="1438275" y="3234630"/>
            <a:ext cx="3562350" cy="314325"/>
          </a:xfrm>
          <a:prstGeom prst="rect">
            <a:avLst/>
          </a:prstGeom>
          <a:noFill/>
          <a:ln/>
        </p:spPr>
        <p:txBody>
          <a:bodyPr wrap="square" lIns="25400" tIns="25400" rIns="25400" bIns="25400" rtlCol="0" anchor="t">
            <a:normAutofit/>
          </a:bodyPr>
          <a:lstStyle/>
          <a:p>
            <a:pPr algn="l" indent="0" marL="0">
              <a:buNone/>
            </a:pPr>
            <a:r>
              <a:rPr lang="en-US" sz="1650" dirty="0">
                <a:solidFill>
                  <a:srgbClr val="C2541F"/>
                </a:solidFill>
                <a:latin typeface="Courier New" pitchFamily="34" charset="0"/>
                <a:ea typeface="Courier New" pitchFamily="34" charset="-122"/>
                <a:cs typeface="Courier New" pitchFamily="34" charset="-120"/>
              </a:rPr>
              <a:t>.html</a:t>
            </a:r>
            <a:endParaRPr lang="en-US" sz="1650" dirty="0"/>
          </a:p>
        </p:txBody>
      </p:sp>
      <p:sp>
        <p:nvSpPr>
          <p:cNvPr id="8" name="Text 6"/>
          <p:cNvSpPr/>
          <p:nvPr/>
        </p:nvSpPr>
        <p:spPr>
          <a:xfrm>
            <a:off x="1438275" y="3682305"/>
            <a:ext cx="3562350"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1C2530"/>
                </a:solidFill>
                <a:latin typeface="Arial" pitchFamily="34" charset="0"/>
                <a:ea typeface="Arial" pitchFamily="34" charset="-122"/>
                <a:cs typeface="Arial" pitchFamily="34" charset="-120"/>
              </a:rPr>
              <a:t>HTML Report</a:t>
            </a:r>
            <a:endParaRPr lang="en-US" sz="2100" dirty="0"/>
          </a:p>
        </p:txBody>
      </p:sp>
      <p:sp>
        <p:nvSpPr>
          <p:cNvPr id="9" name="Text 7"/>
          <p:cNvSpPr/>
          <p:nvPr/>
        </p:nvSpPr>
        <p:spPr>
          <a:xfrm>
            <a:off x="1438275" y="4139505"/>
            <a:ext cx="3335655" cy="651272"/>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5A6675"/>
                </a:solidFill>
                <a:latin typeface="Arial" pitchFamily="34" charset="0"/>
                <a:ea typeface="Arial" pitchFamily="34" charset="-122"/>
                <a:cs typeface="Arial" pitchFamily="34" charset="-120"/>
              </a:rPr>
              <a:t>Full interactive report with charts.</a:t>
            </a:r>
            <a:endParaRPr lang="en-US" sz="1725" dirty="0"/>
          </a:p>
        </p:txBody>
      </p:sp>
      <p:sp>
        <p:nvSpPr>
          <p:cNvPr id="10" name="Shape 8"/>
          <p:cNvSpPr/>
          <p:nvPr/>
        </p:nvSpPr>
        <p:spPr>
          <a:xfrm>
            <a:off x="5200650" y="2882205"/>
            <a:ext cx="3829050" cy="2222897"/>
          </a:xfrm>
          <a:prstGeom prst="roundRect">
            <a:avLst>
              <a:gd name="adj" fmla="val 6856"/>
            </a:avLst>
          </a:prstGeom>
          <a:solidFill>
            <a:srgbClr val="F4F6F8"/>
          </a:solidFill>
          <a:ln w="9525">
            <a:solidFill>
              <a:srgbClr val="E3E8ED"/>
            </a:solidFill>
            <a:prstDash val="solid"/>
          </a:ln>
        </p:spPr>
      </p:sp>
      <p:sp>
        <p:nvSpPr>
          <p:cNvPr id="11" name="Text 9"/>
          <p:cNvSpPr/>
          <p:nvPr/>
        </p:nvSpPr>
        <p:spPr>
          <a:xfrm>
            <a:off x="5495925" y="3234630"/>
            <a:ext cx="3562350" cy="314325"/>
          </a:xfrm>
          <a:prstGeom prst="rect">
            <a:avLst/>
          </a:prstGeom>
          <a:noFill/>
          <a:ln/>
        </p:spPr>
        <p:txBody>
          <a:bodyPr wrap="square" lIns="25400" tIns="25400" rIns="25400" bIns="25400" rtlCol="0" anchor="t">
            <a:normAutofit/>
          </a:bodyPr>
          <a:lstStyle/>
          <a:p>
            <a:pPr algn="l" indent="0" marL="0">
              <a:buNone/>
            </a:pPr>
            <a:r>
              <a:rPr lang="en-US" sz="1650" dirty="0">
                <a:solidFill>
                  <a:srgbClr val="C2541F"/>
                </a:solidFill>
                <a:latin typeface="Courier New" pitchFamily="34" charset="0"/>
                <a:ea typeface="Courier New" pitchFamily="34" charset="-122"/>
                <a:cs typeface="Courier New" pitchFamily="34" charset="-120"/>
              </a:rPr>
              <a:t>.pdf</a:t>
            </a:r>
            <a:endParaRPr lang="en-US" sz="1650" dirty="0"/>
          </a:p>
        </p:txBody>
      </p:sp>
      <p:sp>
        <p:nvSpPr>
          <p:cNvPr id="12" name="Text 10"/>
          <p:cNvSpPr/>
          <p:nvPr/>
        </p:nvSpPr>
        <p:spPr>
          <a:xfrm>
            <a:off x="5495925" y="3682305"/>
            <a:ext cx="3562350"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1C2530"/>
                </a:solidFill>
                <a:latin typeface="Arial" pitchFamily="34" charset="0"/>
                <a:ea typeface="Arial" pitchFamily="34" charset="-122"/>
                <a:cs typeface="Arial" pitchFamily="34" charset="-120"/>
              </a:rPr>
              <a:t>PDF</a:t>
            </a:r>
            <a:endParaRPr lang="en-US" sz="2100" dirty="0"/>
          </a:p>
        </p:txBody>
      </p:sp>
      <p:sp>
        <p:nvSpPr>
          <p:cNvPr id="13" name="Text 11"/>
          <p:cNvSpPr/>
          <p:nvPr/>
        </p:nvSpPr>
        <p:spPr>
          <a:xfrm>
            <a:off x="5495925" y="4139505"/>
            <a:ext cx="3335655" cy="651272"/>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5A6675"/>
                </a:solidFill>
                <a:latin typeface="Arial" pitchFamily="34" charset="0"/>
                <a:ea typeface="Arial" pitchFamily="34" charset="-122"/>
                <a:cs typeface="Arial" pitchFamily="34" charset="-120"/>
              </a:rPr>
              <a:t>Print-ready — ideal to email or attach.</a:t>
            </a:r>
            <a:endParaRPr lang="en-US" sz="1725" dirty="0"/>
          </a:p>
        </p:txBody>
      </p:sp>
      <p:sp>
        <p:nvSpPr>
          <p:cNvPr id="14" name="Shape 12"/>
          <p:cNvSpPr/>
          <p:nvPr/>
        </p:nvSpPr>
        <p:spPr>
          <a:xfrm>
            <a:off x="9258300" y="2882205"/>
            <a:ext cx="3829050" cy="2222897"/>
          </a:xfrm>
          <a:prstGeom prst="roundRect">
            <a:avLst>
              <a:gd name="adj" fmla="val 6856"/>
            </a:avLst>
          </a:prstGeom>
          <a:solidFill>
            <a:srgbClr val="F4F6F8"/>
          </a:solidFill>
          <a:ln w="9525">
            <a:solidFill>
              <a:srgbClr val="E3E8ED"/>
            </a:solidFill>
            <a:prstDash val="solid"/>
          </a:ln>
        </p:spPr>
      </p:sp>
      <p:sp>
        <p:nvSpPr>
          <p:cNvPr id="15" name="Text 13"/>
          <p:cNvSpPr/>
          <p:nvPr/>
        </p:nvSpPr>
        <p:spPr>
          <a:xfrm>
            <a:off x="9553575" y="3234630"/>
            <a:ext cx="3562350" cy="314325"/>
          </a:xfrm>
          <a:prstGeom prst="rect">
            <a:avLst/>
          </a:prstGeom>
          <a:noFill/>
          <a:ln/>
        </p:spPr>
        <p:txBody>
          <a:bodyPr wrap="square" lIns="25400" tIns="25400" rIns="25400" bIns="25400" rtlCol="0" anchor="t">
            <a:normAutofit/>
          </a:bodyPr>
          <a:lstStyle/>
          <a:p>
            <a:pPr algn="l" indent="0" marL="0">
              <a:buNone/>
            </a:pPr>
            <a:r>
              <a:rPr lang="en-US" sz="1650" dirty="0">
                <a:solidFill>
                  <a:srgbClr val="C2541F"/>
                </a:solidFill>
                <a:latin typeface="Courier New" pitchFamily="34" charset="0"/>
                <a:ea typeface="Courier New" pitchFamily="34" charset="-122"/>
                <a:cs typeface="Courier New" pitchFamily="34" charset="-120"/>
              </a:rPr>
              <a:t>.csv</a:t>
            </a:r>
            <a:endParaRPr lang="en-US" sz="1650" dirty="0"/>
          </a:p>
        </p:txBody>
      </p:sp>
      <p:sp>
        <p:nvSpPr>
          <p:cNvPr id="16" name="Text 14"/>
          <p:cNvSpPr/>
          <p:nvPr/>
        </p:nvSpPr>
        <p:spPr>
          <a:xfrm>
            <a:off x="9553575" y="3682305"/>
            <a:ext cx="3562350"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1C2530"/>
                </a:solidFill>
                <a:latin typeface="Arial" pitchFamily="34" charset="0"/>
                <a:ea typeface="Arial" pitchFamily="34" charset="-122"/>
                <a:cs typeface="Arial" pitchFamily="34" charset="-120"/>
              </a:rPr>
              <a:t>CSV</a:t>
            </a:r>
            <a:endParaRPr lang="en-US" sz="2100" dirty="0"/>
          </a:p>
        </p:txBody>
      </p:sp>
      <p:sp>
        <p:nvSpPr>
          <p:cNvPr id="17" name="Text 15"/>
          <p:cNvSpPr/>
          <p:nvPr/>
        </p:nvSpPr>
        <p:spPr>
          <a:xfrm>
            <a:off x="9553575" y="4139505"/>
            <a:ext cx="3562350" cy="344686"/>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5A6675"/>
                </a:solidFill>
                <a:latin typeface="Arial" pitchFamily="34" charset="0"/>
                <a:ea typeface="Arial" pitchFamily="34" charset="-122"/>
                <a:cs typeface="Arial" pitchFamily="34" charset="-120"/>
              </a:rPr>
              <a:t>Raw rows for your own analysis.</a:t>
            </a:r>
            <a:endParaRPr lang="en-US" sz="1725" dirty="0"/>
          </a:p>
        </p:txBody>
      </p:sp>
      <p:sp>
        <p:nvSpPr>
          <p:cNvPr id="18" name="Shape 16"/>
          <p:cNvSpPr/>
          <p:nvPr/>
        </p:nvSpPr>
        <p:spPr>
          <a:xfrm>
            <a:off x="13315950" y="2882205"/>
            <a:ext cx="3829050" cy="2222897"/>
          </a:xfrm>
          <a:prstGeom prst="roundRect">
            <a:avLst>
              <a:gd name="adj" fmla="val 6856"/>
            </a:avLst>
          </a:prstGeom>
          <a:solidFill>
            <a:srgbClr val="F4F6F8"/>
          </a:solidFill>
          <a:ln w="9525">
            <a:solidFill>
              <a:srgbClr val="E3E8ED"/>
            </a:solidFill>
            <a:prstDash val="solid"/>
          </a:ln>
        </p:spPr>
      </p:sp>
      <p:sp>
        <p:nvSpPr>
          <p:cNvPr id="19" name="Text 17"/>
          <p:cNvSpPr/>
          <p:nvPr/>
        </p:nvSpPr>
        <p:spPr>
          <a:xfrm>
            <a:off x="13611225" y="3234630"/>
            <a:ext cx="3562350" cy="314325"/>
          </a:xfrm>
          <a:prstGeom prst="rect">
            <a:avLst/>
          </a:prstGeom>
          <a:noFill/>
          <a:ln/>
        </p:spPr>
        <p:txBody>
          <a:bodyPr wrap="square" lIns="25400" tIns="25400" rIns="25400" bIns="25400" rtlCol="0" anchor="t">
            <a:normAutofit/>
          </a:bodyPr>
          <a:lstStyle/>
          <a:p>
            <a:pPr algn="l" indent="0" marL="0">
              <a:buNone/>
            </a:pPr>
            <a:r>
              <a:rPr lang="en-US" sz="1650" dirty="0">
                <a:solidFill>
                  <a:srgbClr val="C2541F"/>
                </a:solidFill>
                <a:latin typeface="Courier New" pitchFamily="34" charset="0"/>
                <a:ea typeface="Courier New" pitchFamily="34" charset="-122"/>
                <a:cs typeface="Courier New" pitchFamily="34" charset="-120"/>
              </a:rPr>
              <a:t>.xlsx</a:t>
            </a:r>
            <a:endParaRPr lang="en-US" sz="1650" dirty="0"/>
          </a:p>
        </p:txBody>
      </p:sp>
      <p:sp>
        <p:nvSpPr>
          <p:cNvPr id="20" name="Text 18"/>
          <p:cNvSpPr/>
          <p:nvPr/>
        </p:nvSpPr>
        <p:spPr>
          <a:xfrm>
            <a:off x="13611225" y="3682305"/>
            <a:ext cx="3562350" cy="381000"/>
          </a:xfrm>
          <a:prstGeom prst="rect">
            <a:avLst/>
          </a:prstGeom>
          <a:noFill/>
          <a:ln/>
        </p:spPr>
        <p:txBody>
          <a:bodyPr wrap="square" lIns="25400" tIns="25400" rIns="25400" bIns="25400" rtlCol="0" anchor="t">
            <a:normAutofit/>
          </a:bodyPr>
          <a:lstStyle/>
          <a:p>
            <a:pPr algn="l" indent="0" marL="0">
              <a:buNone/>
            </a:pPr>
            <a:r>
              <a:rPr lang="en-US" sz="2100" b="1" dirty="0">
                <a:solidFill>
                  <a:srgbClr val="1C2530"/>
                </a:solidFill>
                <a:latin typeface="Arial" pitchFamily="34" charset="0"/>
                <a:ea typeface="Arial" pitchFamily="34" charset="-122"/>
                <a:cs typeface="Arial" pitchFamily="34" charset="-120"/>
              </a:rPr>
              <a:t>Excel</a:t>
            </a:r>
            <a:endParaRPr lang="en-US" sz="2100" dirty="0"/>
          </a:p>
        </p:txBody>
      </p:sp>
      <p:sp>
        <p:nvSpPr>
          <p:cNvPr id="21" name="Text 19"/>
          <p:cNvSpPr/>
          <p:nvPr/>
        </p:nvSpPr>
        <p:spPr>
          <a:xfrm>
            <a:off x="13611225" y="4139505"/>
            <a:ext cx="3335655" cy="651272"/>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5A6675"/>
                </a:solidFill>
                <a:latin typeface="Arial" pitchFamily="34" charset="0"/>
                <a:ea typeface="Arial" pitchFamily="34" charset="-122"/>
                <a:cs typeface="Arial" pitchFamily="34" charset="-120"/>
              </a:rPr>
              <a:t>Four-sheet workbook, ready to pivot.</a:t>
            </a:r>
            <a:endParaRPr lang="en-US" sz="1725" dirty="0"/>
          </a:p>
        </p:txBody>
      </p:sp>
      <p:sp>
        <p:nvSpPr>
          <p:cNvPr id="22" name="Shape 20"/>
          <p:cNvSpPr/>
          <p:nvPr/>
        </p:nvSpPr>
        <p:spPr>
          <a:xfrm>
            <a:off x="1143000" y="5409902"/>
            <a:ext cx="7877175" cy="1343025"/>
          </a:xfrm>
          <a:prstGeom prst="roundRect">
            <a:avLst>
              <a:gd name="adj" fmla="val 11348"/>
            </a:avLst>
          </a:prstGeom>
          <a:solidFill>
            <a:srgbClr val="1C2530"/>
          </a:solidFill>
          <a:ln/>
        </p:spPr>
      </p:sp>
      <p:sp>
        <p:nvSpPr>
          <p:cNvPr id="23" name="Text 21"/>
          <p:cNvSpPr/>
          <p:nvPr/>
        </p:nvSpPr>
        <p:spPr>
          <a:xfrm>
            <a:off x="1504950" y="5714702"/>
            <a:ext cx="7868603" cy="2952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8FD08F"/>
                </a:solidFill>
                <a:latin typeface="Courier New" pitchFamily="34" charset="0"/>
                <a:ea typeface="Courier New" pitchFamily="34" charset="-122"/>
                <a:cs typeface="Courier New" pitchFamily="34" charset="-120"/>
              </a:rPr>
              <a:t>FOR ENGINEERS</a:t>
            </a:r>
            <a:endParaRPr lang="en-US" sz="1500" dirty="0"/>
          </a:p>
        </p:txBody>
      </p:sp>
      <p:sp>
        <p:nvSpPr>
          <p:cNvPr id="24" name="Text 22"/>
          <p:cNvSpPr/>
          <p:nvPr/>
        </p:nvSpPr>
        <p:spPr>
          <a:xfrm>
            <a:off x="1504950" y="6086177"/>
            <a:ext cx="7868603" cy="381000"/>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E7EBF0"/>
                </a:solidFill>
                <a:latin typeface="Arial" pitchFamily="34" charset="0"/>
                <a:ea typeface="Arial" pitchFamily="34" charset="-122"/>
                <a:cs typeface="Arial" pitchFamily="34" charset="-120"/>
              </a:rPr>
              <a:t>Live </a:t>
            </a:r>
            <a:pPr algn="l" indent="0" marL="0">
              <a:lnSpc>
                <a:spcPct val="140000"/>
              </a:lnSpc>
              <a:buNone/>
            </a:pPr>
            <a:r>
              <a:rPr lang="en-US" sz="1875" b="1" dirty="0">
                <a:solidFill>
                  <a:srgbClr val="FFFFFF"/>
                </a:solidFill>
                <a:latin typeface="Arial" pitchFamily="34" charset="0"/>
                <a:ea typeface="Arial" pitchFamily="34" charset="-122"/>
                <a:cs typeface="Arial" pitchFamily="34" charset="-120"/>
              </a:rPr>
              <a:t>SVG badge </a:t>
            </a:r>
            <a:pPr algn="l" indent="0" marL="0">
              <a:lnSpc>
                <a:spcPct val="140000"/>
              </a:lnSpc>
              <a:buNone/>
            </a:pPr>
            <a:r>
              <a:rPr lang="en-US" sz="1875" dirty="0">
                <a:solidFill>
                  <a:srgbClr val="E7EBF0"/>
                </a:solidFill>
                <a:latin typeface="Arial" pitchFamily="34" charset="0"/>
                <a:ea typeface="Arial" pitchFamily="34" charset="-122"/>
                <a:cs typeface="Arial" pitchFamily="34" charset="-120"/>
              </a:rPr>
              <a:t>&amp; </a:t>
            </a:r>
            <a:pPr algn="l" indent="0" marL="0">
              <a:lnSpc>
                <a:spcPct val="140000"/>
              </a:lnSpc>
              <a:buNone/>
            </a:pPr>
            <a:r>
              <a:rPr lang="en-US" sz="1875" b="1" dirty="0">
                <a:solidFill>
                  <a:srgbClr val="FFFFFF"/>
                </a:solidFill>
                <a:latin typeface="Arial" pitchFamily="34" charset="0"/>
                <a:ea typeface="Arial" pitchFamily="34" charset="-122"/>
                <a:cs typeface="Arial" pitchFamily="34" charset="-120"/>
              </a:rPr>
              <a:t>JSON metrics API </a:t>
            </a:r>
            <a:pPr algn="l" indent="0" marL="0">
              <a:lnSpc>
                <a:spcPct val="140000"/>
              </a:lnSpc>
              <a:buNone/>
            </a:pPr>
            <a:r>
              <a:rPr lang="en-US" sz="1875" dirty="0">
                <a:solidFill>
                  <a:srgbClr val="E7EBF0"/>
                </a:solidFill>
                <a:latin typeface="Arial" pitchFamily="34" charset="0"/>
                <a:ea typeface="Arial" pitchFamily="34" charset="-122"/>
                <a:cs typeface="Arial" pitchFamily="34" charset="-120"/>
              </a:rPr>
              <a:t>for dashboards and CI gates.</a:t>
            </a:r>
            <a:endParaRPr lang="en-US" sz="1875" dirty="0"/>
          </a:p>
        </p:txBody>
      </p:sp>
      <p:sp>
        <p:nvSpPr>
          <p:cNvPr id="25" name="Shape 23"/>
          <p:cNvSpPr/>
          <p:nvPr/>
        </p:nvSpPr>
        <p:spPr>
          <a:xfrm>
            <a:off x="9248775" y="5409902"/>
            <a:ext cx="7896225" cy="1343025"/>
          </a:xfrm>
          <a:prstGeom prst="roundRect">
            <a:avLst>
              <a:gd name="adj" fmla="val 11348"/>
            </a:avLst>
          </a:prstGeom>
          <a:solidFill>
            <a:srgbClr val="FBEEE4"/>
          </a:solidFill>
          <a:ln w="9525">
            <a:solidFill>
              <a:srgbClr val="EFD9C5"/>
            </a:solidFill>
            <a:prstDash val="solid"/>
          </a:ln>
        </p:spPr>
      </p:sp>
      <p:sp>
        <p:nvSpPr>
          <p:cNvPr id="26" name="Text 24"/>
          <p:cNvSpPr/>
          <p:nvPr/>
        </p:nvSpPr>
        <p:spPr>
          <a:xfrm>
            <a:off x="9620250" y="5724227"/>
            <a:ext cx="7868603" cy="295275"/>
          </a:xfrm>
          <a:prstGeom prst="rect">
            <a:avLst/>
          </a:prstGeom>
          <a:noFill/>
          <a:ln/>
        </p:spPr>
        <p:txBody>
          <a:bodyPr wrap="square" lIns="25400" tIns="25400" rIns="25400" bIns="25400" rtlCol="0" anchor="t">
            <a:normAutofit/>
          </a:bodyPr>
          <a:lstStyle/>
          <a:p>
            <a:pPr algn="l" indent="0" marL="0">
              <a:buNone/>
            </a:pPr>
            <a:r>
              <a:rPr lang="en-US" sz="1500" spc="150" kern="0" dirty="0">
                <a:solidFill>
                  <a:srgbClr val="C2541F"/>
                </a:solidFill>
                <a:latin typeface="Courier New" pitchFamily="34" charset="0"/>
                <a:ea typeface="Courier New" pitchFamily="34" charset="-122"/>
                <a:cs typeface="Courier New" pitchFamily="34" charset="-120"/>
              </a:rPr>
              <a:t>FOR BUSINESS USERS</a:t>
            </a:r>
            <a:endParaRPr lang="en-US" sz="1500" dirty="0"/>
          </a:p>
        </p:txBody>
      </p:sp>
      <p:sp>
        <p:nvSpPr>
          <p:cNvPr id="27" name="Text 25"/>
          <p:cNvSpPr/>
          <p:nvPr/>
        </p:nvSpPr>
        <p:spPr>
          <a:xfrm>
            <a:off x="9620250" y="6095702"/>
            <a:ext cx="7868603" cy="381000"/>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5A4434"/>
                </a:solidFill>
                <a:latin typeface="Arial" pitchFamily="34" charset="0"/>
                <a:ea typeface="Arial" pitchFamily="34" charset="-122"/>
                <a:cs typeface="Arial" pitchFamily="34" charset="-120"/>
              </a:rPr>
              <a:t>Grab the </a:t>
            </a:r>
            <a:pPr algn="l" indent="0" marL="0">
              <a:lnSpc>
                <a:spcPct val="140000"/>
              </a:lnSpc>
              <a:buNone/>
            </a:pPr>
            <a:r>
              <a:rPr lang="en-US" sz="1875" b="1" dirty="0">
                <a:solidFill>
                  <a:srgbClr val="1C2530"/>
                </a:solidFill>
                <a:latin typeface="Arial" pitchFamily="34" charset="0"/>
                <a:ea typeface="Arial" pitchFamily="34" charset="-122"/>
                <a:cs typeface="Arial" pitchFamily="34" charset="-120"/>
              </a:rPr>
              <a:t>PDF </a:t>
            </a:r>
            <a:pPr algn="l" indent="0" marL="0">
              <a:lnSpc>
                <a:spcPct val="140000"/>
              </a:lnSpc>
              <a:buNone/>
            </a:pPr>
            <a:r>
              <a:rPr lang="en-US" sz="1875" dirty="0">
                <a:solidFill>
                  <a:srgbClr val="5A4434"/>
                </a:solidFill>
                <a:latin typeface="Arial" pitchFamily="34" charset="0"/>
                <a:ea typeface="Arial" pitchFamily="34" charset="-122"/>
                <a:cs typeface="Arial" pitchFamily="34" charset="-120"/>
              </a:rPr>
              <a:t>— attach it to a status update or stakeholder review.</a:t>
            </a:r>
            <a:endParaRPr lang="en-US" sz="18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C2530"/>
        </a:solidFill>
      </p:bgPr>
    </p:bg>
    <p:spTree>
      <p:nvGrpSpPr>
        <p:cNvPr id="1" name=""/>
        <p:cNvGrpSpPr/>
        <p:nvPr/>
      </p:nvGrpSpPr>
      <p:grpSpPr>
        <a:xfrm>
          <a:off x="0" y="0"/>
          <a:ext cx="0" cy="0"/>
          <a:chOff x="0" y="0"/>
          <a:chExt cx="0" cy="0"/>
        </a:xfrm>
      </p:grpSpPr>
      <p:sp>
        <p:nvSpPr>
          <p:cNvPr id="2" name="Shape 0"/>
          <p:cNvSpPr/>
          <p:nvPr/>
        </p:nvSpPr>
        <p:spPr>
          <a:xfrm>
            <a:off x="1143000" y="952500"/>
            <a:ext cx="323850" cy="28575"/>
          </a:xfrm>
          <a:prstGeom prst="rect">
            <a:avLst/>
          </a:prstGeom>
          <a:solidFill>
            <a:srgbClr val="D2691E"/>
          </a:solidFill>
          <a:ln/>
        </p:spPr>
      </p:sp>
      <p:sp>
        <p:nvSpPr>
          <p:cNvPr id="3" name="Text 1"/>
          <p:cNvSpPr/>
          <p:nvPr/>
        </p:nvSpPr>
        <p:spPr>
          <a:xfrm>
            <a:off x="1600200" y="838200"/>
            <a:ext cx="790575" cy="295275"/>
          </a:xfrm>
          <a:prstGeom prst="rect">
            <a:avLst/>
          </a:prstGeom>
          <a:noFill/>
          <a:ln/>
        </p:spPr>
        <p:txBody>
          <a:bodyPr wrap="square" lIns="25400" tIns="25400" rIns="25400" bIns="25400" rtlCol="0" anchor="t">
            <a:normAutofit/>
          </a:bodyPr>
          <a:lstStyle/>
          <a:p>
            <a:pPr algn="l" indent="0" marL="0">
              <a:buNone/>
            </a:pPr>
            <a:r>
              <a:rPr lang="en-US" sz="1500" spc="225" kern="0" dirty="0">
                <a:solidFill>
                  <a:srgbClr val="EF9A52"/>
                </a:solidFill>
                <a:latin typeface="Courier New" pitchFamily="34" charset="0"/>
                <a:ea typeface="Courier New" pitchFamily="34" charset="-122"/>
                <a:cs typeface="Courier New" pitchFamily="34" charset="-120"/>
              </a:rPr>
              <a:t>RECAP</a:t>
            </a:r>
            <a:endParaRPr lang="en-US" sz="1500" dirty="0"/>
          </a:p>
        </p:txBody>
      </p:sp>
      <p:sp>
        <p:nvSpPr>
          <p:cNvPr id="4" name="Text 2"/>
          <p:cNvSpPr/>
          <p:nvPr/>
        </p:nvSpPr>
        <p:spPr>
          <a:xfrm>
            <a:off x="1143000" y="1247775"/>
            <a:ext cx="17602200" cy="742950"/>
          </a:xfrm>
          <a:prstGeom prst="rect">
            <a:avLst/>
          </a:prstGeom>
          <a:noFill/>
          <a:ln/>
        </p:spPr>
        <p:txBody>
          <a:bodyPr wrap="square" lIns="25400" tIns="25400" rIns="25400" bIns="25400" rtlCol="0" anchor="t">
            <a:normAutofit/>
          </a:bodyPr>
          <a:lstStyle/>
          <a:p>
            <a:pPr algn="l" indent="0" marL="0">
              <a:buNone/>
            </a:pPr>
            <a:r>
              <a:rPr lang="en-US" sz="4800" b="1" spc="-75" kern="0" dirty="0">
                <a:solidFill>
                  <a:srgbClr val="FFFFFF"/>
                </a:solidFill>
                <a:latin typeface="Arial" pitchFamily="34" charset="0"/>
                <a:ea typeface="Arial" pitchFamily="34" charset="-122"/>
                <a:cs typeface="Arial" pitchFamily="34" charset="-120"/>
              </a:rPr>
              <a:t>Quick Reference</a:t>
            </a:r>
            <a:endParaRPr lang="en-US" sz="4800" dirty="0"/>
          </a:p>
        </p:txBody>
      </p:sp>
      <p:sp>
        <p:nvSpPr>
          <p:cNvPr id="5" name="Shape 3"/>
          <p:cNvSpPr/>
          <p:nvPr/>
        </p:nvSpPr>
        <p:spPr>
          <a:xfrm>
            <a:off x="1143000" y="2390775"/>
            <a:ext cx="7667625" cy="9525"/>
          </a:xfrm>
          <a:prstGeom prst="rect">
            <a:avLst/>
          </a:prstGeom>
          <a:solidFill>
            <a:srgbClr val="FFFFFF">
              <a:alpha val="14000"/>
            </a:srgbClr>
          </a:solidFill>
          <a:ln/>
        </p:spPr>
      </p:sp>
      <p:sp>
        <p:nvSpPr>
          <p:cNvPr id="6" name="Text 4"/>
          <p:cNvSpPr/>
          <p:nvPr/>
        </p:nvSpPr>
        <p:spPr>
          <a:xfrm>
            <a:off x="1143000" y="2628900"/>
            <a:ext cx="876300" cy="314325"/>
          </a:xfrm>
          <a:prstGeom prst="rect">
            <a:avLst/>
          </a:prstGeom>
          <a:noFill/>
          <a:ln/>
        </p:spPr>
        <p:txBody>
          <a:bodyPr wrap="none" lIns="25400" tIns="25400" rIns="25400" bIns="25400" rtlCol="0" anchor="t">
            <a:normAutofit/>
          </a:bodyPr>
          <a:lstStyle/>
          <a:p>
            <a:pPr algn="l" indent="0" marL="0">
              <a:buNone/>
            </a:pPr>
            <a:r>
              <a:rPr lang="en-US" sz="1650" dirty="0">
                <a:solidFill>
                  <a:srgbClr val="EF9A52"/>
                </a:solidFill>
                <a:latin typeface="Courier New" pitchFamily="34" charset="0"/>
                <a:ea typeface="Courier New" pitchFamily="34" charset="-122"/>
                <a:cs typeface="Courier New" pitchFamily="34" charset="-120"/>
              </a:rPr>
              <a:t>OPEN</a:t>
            </a:r>
            <a:endParaRPr lang="en-US" sz="1650" dirty="0"/>
          </a:p>
        </p:txBody>
      </p:sp>
      <p:sp>
        <p:nvSpPr>
          <p:cNvPr id="7" name="Text 5"/>
          <p:cNvSpPr/>
          <p:nvPr/>
        </p:nvSpPr>
        <p:spPr>
          <a:xfrm>
            <a:off x="2152650" y="2628900"/>
            <a:ext cx="6643062" cy="394246"/>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D4DAE1"/>
                </a:solidFill>
                <a:latin typeface="Arial" pitchFamily="34" charset="0"/>
                <a:ea typeface="Arial" pitchFamily="34" charset="-122"/>
                <a:cs typeface="Arial" pitchFamily="34" charset="-120"/>
              </a:rPr>
              <a:t>Browse to </a:t>
            </a:r>
            <a:pPr algn="l" indent="0" marL="0">
              <a:lnSpc>
                <a:spcPct val="140000"/>
              </a:lnSpc>
              <a:buNone/>
            </a:pPr>
            <a:r>
              <a:rPr lang="en-US" sz="1950" b="1" dirty="0">
                <a:solidFill>
                  <a:srgbClr val="FFFFFF"/>
                </a:solidFill>
                <a:latin typeface="Arial" pitchFamily="34" charset="0"/>
                <a:ea typeface="Arial" pitchFamily="34" charset="-122"/>
                <a:cs typeface="Arial" pitchFamily="34" charset="-120"/>
              </a:rPr>
              <a:t>127.0.0.1:4317 </a:t>
            </a:r>
            <a:pPr algn="l" indent="0" marL="0">
              <a:lnSpc>
                <a:spcPct val="140000"/>
              </a:lnSpc>
              <a:buNone/>
            </a:pPr>
            <a:r>
              <a:rPr lang="en-US" sz="1950" dirty="0">
                <a:solidFill>
                  <a:srgbClr val="D4DAE1"/>
                </a:solidFill>
                <a:latin typeface="Arial" pitchFamily="34" charset="0"/>
                <a:ea typeface="Arial" pitchFamily="34" charset="-122"/>
                <a:cs typeface="Arial" pitchFamily="34" charset="-120"/>
              </a:rPr>
              <a:t>— the app is already serving.</a:t>
            </a:r>
            <a:endParaRPr lang="en-US" sz="1950" dirty="0"/>
          </a:p>
        </p:txBody>
      </p:sp>
      <p:sp>
        <p:nvSpPr>
          <p:cNvPr id="8" name="Shape 6"/>
          <p:cNvSpPr/>
          <p:nvPr/>
        </p:nvSpPr>
        <p:spPr>
          <a:xfrm>
            <a:off x="9477375" y="2390775"/>
            <a:ext cx="7667625" cy="9525"/>
          </a:xfrm>
          <a:prstGeom prst="rect">
            <a:avLst/>
          </a:prstGeom>
          <a:solidFill>
            <a:srgbClr val="FFFFFF">
              <a:alpha val="14000"/>
            </a:srgbClr>
          </a:solidFill>
          <a:ln/>
        </p:spPr>
      </p:sp>
      <p:sp>
        <p:nvSpPr>
          <p:cNvPr id="9" name="Text 7"/>
          <p:cNvSpPr/>
          <p:nvPr/>
        </p:nvSpPr>
        <p:spPr>
          <a:xfrm>
            <a:off x="9477375" y="2628900"/>
            <a:ext cx="835372" cy="314325"/>
          </a:xfrm>
          <a:prstGeom prst="rect">
            <a:avLst/>
          </a:prstGeom>
          <a:noFill/>
          <a:ln/>
        </p:spPr>
        <p:txBody>
          <a:bodyPr wrap="none" lIns="25400" tIns="25400" rIns="25400" bIns="25400" rtlCol="0" anchor="t">
            <a:normAutofit/>
          </a:bodyPr>
          <a:lstStyle/>
          <a:p>
            <a:pPr algn="l" indent="0" marL="0">
              <a:buNone/>
            </a:pPr>
            <a:r>
              <a:rPr lang="en-US" sz="1650" dirty="0">
                <a:solidFill>
                  <a:srgbClr val="EF9A52"/>
                </a:solidFill>
                <a:latin typeface="Courier New" pitchFamily="34" charset="0"/>
                <a:ea typeface="Courier New" pitchFamily="34" charset="-122"/>
                <a:cs typeface="Courier New" pitchFamily="34" charset="-120"/>
              </a:rPr>
              <a:t>NAV</a:t>
            </a:r>
            <a:endParaRPr lang="en-US" sz="1650" dirty="0"/>
          </a:p>
        </p:txBody>
      </p:sp>
      <p:sp>
        <p:nvSpPr>
          <p:cNvPr id="10" name="Text 8"/>
          <p:cNvSpPr/>
          <p:nvPr/>
        </p:nvSpPr>
        <p:spPr>
          <a:xfrm>
            <a:off x="10446097" y="2628900"/>
            <a:ext cx="6899870"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D4DAE1"/>
                </a:solidFill>
                <a:latin typeface="Arial" pitchFamily="34" charset="0"/>
                <a:ea typeface="Arial" pitchFamily="34" charset="-122"/>
                <a:cs typeface="Arial" pitchFamily="34" charset="-120"/>
              </a:rPr>
              <a:t>Home, View Reports, Compare Scans, Test Metrics, Git Browser.</a:t>
            </a:r>
            <a:endParaRPr lang="en-US" sz="1950" dirty="0"/>
          </a:p>
        </p:txBody>
      </p:sp>
      <p:sp>
        <p:nvSpPr>
          <p:cNvPr id="11" name="Shape 9"/>
          <p:cNvSpPr/>
          <p:nvPr/>
        </p:nvSpPr>
        <p:spPr>
          <a:xfrm>
            <a:off x="1143000" y="4600575"/>
            <a:ext cx="7667625" cy="9525"/>
          </a:xfrm>
          <a:prstGeom prst="rect">
            <a:avLst/>
          </a:prstGeom>
          <a:solidFill>
            <a:srgbClr val="FFFFFF">
              <a:alpha val="14000"/>
            </a:srgbClr>
          </a:solidFill>
          <a:ln/>
        </p:spPr>
      </p:sp>
      <p:sp>
        <p:nvSpPr>
          <p:cNvPr id="12" name="Text 10"/>
          <p:cNvSpPr/>
          <p:nvPr/>
        </p:nvSpPr>
        <p:spPr>
          <a:xfrm>
            <a:off x="1143000" y="4838700"/>
            <a:ext cx="862310" cy="314325"/>
          </a:xfrm>
          <a:prstGeom prst="rect">
            <a:avLst/>
          </a:prstGeom>
          <a:noFill/>
          <a:ln/>
        </p:spPr>
        <p:txBody>
          <a:bodyPr wrap="none" lIns="25400" tIns="25400" rIns="25400" bIns="25400" rtlCol="0" anchor="t">
            <a:normAutofit/>
          </a:bodyPr>
          <a:lstStyle/>
          <a:p>
            <a:pPr algn="l" indent="0" marL="0">
              <a:buNone/>
            </a:pPr>
            <a:r>
              <a:rPr lang="en-US" sz="1650" dirty="0">
                <a:solidFill>
                  <a:srgbClr val="EF9A52"/>
                </a:solidFill>
                <a:latin typeface="Courier New" pitchFamily="34" charset="0"/>
                <a:ea typeface="Courier New" pitchFamily="34" charset="-122"/>
                <a:cs typeface="Courier New" pitchFamily="34" charset="-120"/>
              </a:rPr>
              <a:t>SCAN</a:t>
            </a:r>
            <a:endParaRPr lang="en-US" sz="1650" dirty="0"/>
          </a:p>
        </p:txBody>
      </p:sp>
      <p:sp>
        <p:nvSpPr>
          <p:cNvPr id="13" name="Text 11"/>
          <p:cNvSpPr/>
          <p:nvPr/>
        </p:nvSpPr>
        <p:spPr>
          <a:xfrm>
            <a:off x="2138660" y="4838700"/>
            <a:ext cx="6872124" cy="740866"/>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FFFFFF"/>
                </a:solidFill>
                <a:latin typeface="Arial" pitchFamily="34" charset="0"/>
                <a:ea typeface="Arial" pitchFamily="34" charset="-122"/>
                <a:cs typeface="Arial" pitchFamily="34" charset="-120"/>
              </a:rPr>
              <a:t>Start scanning </a:t>
            </a:r>
            <a:pPr algn="l" indent="0" marL="0">
              <a:lnSpc>
                <a:spcPct val="140000"/>
              </a:lnSpc>
              <a:buNone/>
            </a:pPr>
            <a:r>
              <a:rPr lang="en-US" sz="1950" dirty="0">
                <a:solidFill>
                  <a:srgbClr val="D4DAE1"/>
                </a:solidFill>
                <a:latin typeface="Arial" pitchFamily="34" charset="0"/>
                <a:ea typeface="Arial" pitchFamily="34" charset="-122"/>
                <a:cs typeface="Arial" pitchFamily="34" charset="-120"/>
              </a:rPr>
              <a:t>for the guided flow, or </a:t>
            </a:r>
            <a:pPr algn="l" indent="0" marL="0">
              <a:lnSpc>
                <a:spcPct val="140000"/>
              </a:lnSpc>
              <a:buNone/>
            </a:pPr>
            <a:r>
              <a:rPr lang="en-US" sz="1950" b="1" dirty="0">
                <a:solidFill>
                  <a:srgbClr val="FFFFFF"/>
                </a:solidFill>
                <a:latin typeface="Arial" pitchFamily="34" charset="0"/>
                <a:ea typeface="Arial" pitchFamily="34" charset="-122"/>
                <a:cs typeface="Arial" pitchFamily="34" charset="-120"/>
              </a:rPr>
              <a:t>Quick Scan </a:t>
            </a:r>
            <a:pPr algn="l" indent="0" marL="0">
              <a:lnSpc>
                <a:spcPct val="140000"/>
              </a:lnSpc>
              <a:buNone/>
            </a:pPr>
            <a:r>
              <a:rPr lang="en-US" sz="1950" dirty="0">
                <a:solidFill>
                  <a:srgbClr val="D4DAE1"/>
                </a:solidFill>
                <a:latin typeface="Arial" pitchFamily="34" charset="0"/>
                <a:ea typeface="Arial" pitchFamily="34" charset="-122"/>
                <a:cs typeface="Arial" pitchFamily="34" charset="-120"/>
              </a:rPr>
              <a:t>for defaults.</a:t>
            </a:r>
            <a:endParaRPr lang="en-US" sz="1950" dirty="0"/>
          </a:p>
        </p:txBody>
      </p:sp>
      <p:sp>
        <p:nvSpPr>
          <p:cNvPr id="14" name="Shape 12"/>
          <p:cNvSpPr/>
          <p:nvPr/>
        </p:nvSpPr>
        <p:spPr>
          <a:xfrm>
            <a:off x="9477375" y="4600575"/>
            <a:ext cx="7667625" cy="9525"/>
          </a:xfrm>
          <a:prstGeom prst="rect">
            <a:avLst/>
          </a:prstGeom>
          <a:solidFill>
            <a:srgbClr val="FFFFFF">
              <a:alpha val="14000"/>
            </a:srgbClr>
          </a:solidFill>
          <a:ln/>
        </p:spPr>
      </p:sp>
      <p:sp>
        <p:nvSpPr>
          <p:cNvPr id="15" name="Text 13"/>
          <p:cNvSpPr/>
          <p:nvPr/>
        </p:nvSpPr>
        <p:spPr>
          <a:xfrm>
            <a:off x="9477375" y="4838700"/>
            <a:ext cx="857845" cy="314325"/>
          </a:xfrm>
          <a:prstGeom prst="rect">
            <a:avLst/>
          </a:prstGeom>
          <a:noFill/>
          <a:ln/>
        </p:spPr>
        <p:txBody>
          <a:bodyPr wrap="none" lIns="25400" tIns="25400" rIns="25400" bIns="25400" rtlCol="0" anchor="t">
            <a:normAutofit/>
          </a:bodyPr>
          <a:lstStyle/>
          <a:p>
            <a:pPr algn="l" indent="0" marL="0">
              <a:buNone/>
            </a:pPr>
            <a:r>
              <a:rPr lang="en-US" sz="1650" dirty="0">
                <a:solidFill>
                  <a:srgbClr val="EF9A52"/>
                </a:solidFill>
                <a:latin typeface="Courier New" pitchFamily="34" charset="0"/>
                <a:ea typeface="Courier New" pitchFamily="34" charset="-122"/>
                <a:cs typeface="Courier New" pitchFamily="34" charset="-120"/>
              </a:rPr>
              <a:t>DEV</a:t>
            </a:r>
            <a:endParaRPr lang="en-US" sz="1650" dirty="0"/>
          </a:p>
        </p:txBody>
      </p:sp>
      <p:sp>
        <p:nvSpPr>
          <p:cNvPr id="16" name="Text 14"/>
          <p:cNvSpPr/>
          <p:nvPr/>
        </p:nvSpPr>
        <p:spPr>
          <a:xfrm>
            <a:off x="10468570" y="4838700"/>
            <a:ext cx="6876723"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D4DAE1"/>
                </a:solidFill>
                <a:latin typeface="Arial" pitchFamily="34" charset="0"/>
                <a:ea typeface="Arial" pitchFamily="34" charset="-122"/>
                <a:cs typeface="Arial" pitchFamily="34" charset="-120"/>
              </a:rPr>
              <a:t>Tune counting rules, read hotspots, export plain output for CI.</a:t>
            </a:r>
            <a:endParaRPr lang="en-US" sz="1950" dirty="0"/>
          </a:p>
        </p:txBody>
      </p:sp>
      <p:sp>
        <p:nvSpPr>
          <p:cNvPr id="17" name="Shape 15"/>
          <p:cNvSpPr/>
          <p:nvPr/>
        </p:nvSpPr>
        <p:spPr>
          <a:xfrm>
            <a:off x="1143000" y="6819900"/>
            <a:ext cx="7667625" cy="9525"/>
          </a:xfrm>
          <a:prstGeom prst="rect">
            <a:avLst/>
          </a:prstGeom>
          <a:solidFill>
            <a:srgbClr val="FFFFFF">
              <a:alpha val="14000"/>
            </a:srgbClr>
          </a:solidFill>
          <a:ln/>
        </p:spPr>
      </p:sp>
      <p:sp>
        <p:nvSpPr>
          <p:cNvPr id="18" name="Text 16"/>
          <p:cNvSpPr/>
          <p:nvPr/>
        </p:nvSpPr>
        <p:spPr>
          <a:xfrm>
            <a:off x="1143000" y="7058025"/>
            <a:ext cx="832545" cy="314325"/>
          </a:xfrm>
          <a:prstGeom prst="rect">
            <a:avLst/>
          </a:prstGeom>
          <a:noFill/>
          <a:ln/>
        </p:spPr>
        <p:txBody>
          <a:bodyPr wrap="none" lIns="25400" tIns="25400" rIns="25400" bIns="25400" rtlCol="0" anchor="t">
            <a:normAutofit/>
          </a:bodyPr>
          <a:lstStyle/>
          <a:p>
            <a:pPr algn="l" indent="0" marL="0">
              <a:buNone/>
            </a:pPr>
            <a:r>
              <a:rPr lang="en-US" sz="1650" dirty="0">
                <a:solidFill>
                  <a:srgbClr val="EF9A52"/>
                </a:solidFill>
                <a:latin typeface="Courier New" pitchFamily="34" charset="0"/>
                <a:ea typeface="Courier New" pitchFamily="34" charset="-122"/>
                <a:cs typeface="Courier New" pitchFamily="34" charset="-120"/>
              </a:rPr>
              <a:t>BIZ</a:t>
            </a:r>
            <a:endParaRPr lang="en-US" sz="1650" dirty="0"/>
          </a:p>
        </p:txBody>
      </p:sp>
      <p:sp>
        <p:nvSpPr>
          <p:cNvPr id="19" name="Text 17"/>
          <p:cNvSpPr/>
          <p:nvPr/>
        </p:nvSpPr>
        <p:spPr>
          <a:xfrm>
            <a:off x="2108895" y="7058025"/>
            <a:ext cx="6902782"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D4DAE1"/>
                </a:solidFill>
                <a:latin typeface="Arial" pitchFamily="34" charset="0"/>
                <a:ea typeface="Arial" pitchFamily="34" charset="-122"/>
                <a:cs typeface="Arial" pitchFamily="34" charset="-120"/>
              </a:rPr>
              <a:t>Point or use Git Browser → Quick Scan → export a PDF to share.</a:t>
            </a:r>
            <a:endParaRPr lang="en-US" sz="1950" dirty="0"/>
          </a:p>
        </p:txBody>
      </p:sp>
      <p:sp>
        <p:nvSpPr>
          <p:cNvPr id="20" name="Shape 18"/>
          <p:cNvSpPr/>
          <p:nvPr/>
        </p:nvSpPr>
        <p:spPr>
          <a:xfrm>
            <a:off x="9477375" y="6819900"/>
            <a:ext cx="7667625" cy="9525"/>
          </a:xfrm>
          <a:prstGeom prst="rect">
            <a:avLst/>
          </a:prstGeom>
          <a:solidFill>
            <a:srgbClr val="FFFFFF">
              <a:alpha val="14000"/>
            </a:srgbClr>
          </a:solidFill>
          <a:ln/>
        </p:spPr>
      </p:sp>
      <p:sp>
        <p:nvSpPr>
          <p:cNvPr id="21" name="Text 19"/>
          <p:cNvSpPr/>
          <p:nvPr/>
        </p:nvSpPr>
        <p:spPr>
          <a:xfrm>
            <a:off x="9477375" y="7058025"/>
            <a:ext cx="851892" cy="314325"/>
          </a:xfrm>
          <a:prstGeom prst="rect">
            <a:avLst/>
          </a:prstGeom>
          <a:noFill/>
          <a:ln/>
        </p:spPr>
        <p:txBody>
          <a:bodyPr wrap="none" lIns="25400" tIns="25400" rIns="25400" bIns="25400" rtlCol="0" anchor="t">
            <a:normAutofit/>
          </a:bodyPr>
          <a:lstStyle/>
          <a:p>
            <a:pPr algn="l" indent="0" marL="0">
              <a:buNone/>
            </a:pPr>
            <a:r>
              <a:rPr lang="en-US" sz="1650" dirty="0">
                <a:solidFill>
                  <a:srgbClr val="EF9A52"/>
                </a:solidFill>
                <a:latin typeface="Courier New" pitchFamily="34" charset="0"/>
                <a:ea typeface="Courier New" pitchFamily="34" charset="-122"/>
                <a:cs typeface="Courier New" pitchFamily="34" charset="-120"/>
              </a:rPr>
              <a:t>SHARE</a:t>
            </a:r>
            <a:endParaRPr lang="en-US" sz="1650" dirty="0"/>
          </a:p>
        </p:txBody>
      </p:sp>
      <p:sp>
        <p:nvSpPr>
          <p:cNvPr id="22" name="Text 20"/>
          <p:cNvSpPr/>
          <p:nvPr/>
        </p:nvSpPr>
        <p:spPr>
          <a:xfrm>
            <a:off x="10462617" y="7058025"/>
            <a:ext cx="6882854"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D4DAE1"/>
                </a:solidFill>
                <a:latin typeface="Arial" pitchFamily="34" charset="0"/>
                <a:ea typeface="Arial" pitchFamily="34" charset="-122"/>
                <a:cs typeface="Arial" pitchFamily="34" charset="-120"/>
              </a:rPr>
              <a:t>Export HTML / PDF / CSV / Excel, or watch the trend over time.</a:t>
            </a:r>
            <a:endParaRPr lang="en-US" sz="1950" dirty="0"/>
          </a:p>
        </p:txBody>
      </p:sp>
      <p:sp>
        <p:nvSpPr>
          <p:cNvPr id="23" name="Shape 21"/>
          <p:cNvSpPr/>
          <p:nvPr/>
        </p:nvSpPr>
        <p:spPr>
          <a:xfrm>
            <a:off x="1143000" y="9144000"/>
            <a:ext cx="381000" cy="381000"/>
          </a:xfrm>
          <a:prstGeom prst="roundRect">
            <a:avLst>
              <a:gd name="adj" fmla="val 25000"/>
            </a:avLst>
          </a:prstGeom>
          <a:gradFill rotWithShape="1">
            <a:gsLst>
              <a:gs pos="0">
                <a:srgbClr val="B4480F">
                  <a:alpha val="100000"/>
                </a:srgbClr>
              </a:gs>
              <a:gs pos="100000">
                <a:srgbClr val="D2691E">
                  <a:alpha val="100000"/>
                </a:srgbClr>
              </a:gs>
            </a:gsLst>
            <a:lin ang="2700000" scaled="0"/>
          </a:gradFill>
          <a:ln/>
        </p:spPr>
      </p:sp>
      <p:sp>
        <p:nvSpPr>
          <p:cNvPr id="24" name="Text 22"/>
          <p:cNvSpPr/>
          <p:nvPr/>
        </p:nvSpPr>
        <p:spPr>
          <a:xfrm>
            <a:off x="1104900" y="9144000"/>
            <a:ext cx="457200" cy="419100"/>
          </a:xfrm>
          <a:prstGeom prst="rect">
            <a:avLst/>
          </a:prstGeom>
          <a:noFill/>
          <a:ln/>
        </p:spPr>
        <p:txBody>
          <a:bodyPr wrap="square" lIns="25400" tIns="25400" rIns="25400" bIns="25400" rtlCol="0" anchor="ctr">
            <a:normAutofit/>
          </a:bodyPr>
          <a:lstStyle/>
          <a:p>
            <a:pPr algn="ctr" indent="0" marL="0">
              <a:buNone/>
            </a:pPr>
            <a:r>
              <a:rPr lang="en-US" sz="1275" dirty="0">
                <a:solidFill>
                  <a:srgbClr val="FFFFFF"/>
                </a:solidFill>
                <a:latin typeface="Courier New" pitchFamily="34" charset="0"/>
                <a:ea typeface="Courier New" pitchFamily="34" charset="-122"/>
                <a:cs typeface="Courier New" pitchFamily="34" charset="-120"/>
              </a:rPr>
              <a:t>&lt;/&gt;</a:t>
            </a:r>
            <a:endParaRPr lang="en-US" sz="1275" dirty="0"/>
          </a:p>
        </p:txBody>
      </p:sp>
      <p:sp>
        <p:nvSpPr>
          <p:cNvPr id="25" name="Text 23"/>
          <p:cNvSpPr/>
          <p:nvPr/>
        </p:nvSpPr>
        <p:spPr>
          <a:xfrm>
            <a:off x="1676400" y="9196388"/>
            <a:ext cx="7053486" cy="314325"/>
          </a:xfrm>
          <a:prstGeom prst="rect">
            <a:avLst/>
          </a:prstGeom>
          <a:noFill/>
          <a:ln/>
        </p:spPr>
        <p:txBody>
          <a:bodyPr wrap="square" lIns="25400" tIns="25400" rIns="25400" bIns="25400" rtlCol="0" anchor="t">
            <a:normAutofit/>
          </a:bodyPr>
          <a:lstStyle/>
          <a:p>
            <a:pPr algn="l" indent="0" marL="0">
              <a:buNone/>
            </a:pPr>
            <a:r>
              <a:rPr lang="en-US" sz="1650" dirty="0">
                <a:solidFill>
                  <a:srgbClr val="8A93A0"/>
                </a:solidFill>
                <a:latin typeface="Courier New" pitchFamily="34" charset="0"/>
                <a:ea typeface="Courier New" pitchFamily="34" charset="-122"/>
                <a:cs typeface="Courier New" pitchFamily="34" charset="-120"/>
              </a:rPr>
              <a:t>OxideSLOC — local code analysis, no setup required.</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2026-06-29T02:49:18Z</dcterms:created>
  <dcterms:modified xsi:type="dcterms:W3CDTF">2026-06-29T02:49:18Z</dcterms:modified>
</cp:coreProperties>
</file>